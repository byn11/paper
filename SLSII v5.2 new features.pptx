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96" r:id="rId4"/>
  </p:sldMasterIdLst>
  <p:notesMasterIdLst>
    <p:notesMasterId r:id="rId38"/>
  </p:notesMasterIdLst>
  <p:handoutMasterIdLst>
    <p:handoutMasterId r:id="rId39"/>
  </p:handoutMasterIdLst>
  <p:sldIdLst>
    <p:sldId id="341" r:id="rId5"/>
    <p:sldId id="635" r:id="rId6"/>
    <p:sldId id="650" r:id="rId7"/>
    <p:sldId id="625" r:id="rId8"/>
    <p:sldId id="627" r:id="rId9"/>
    <p:sldId id="636" r:id="rId10"/>
    <p:sldId id="633" r:id="rId11"/>
    <p:sldId id="637" r:id="rId12"/>
    <p:sldId id="623" r:id="rId13"/>
    <p:sldId id="641" r:id="rId14"/>
    <p:sldId id="626" r:id="rId15"/>
    <p:sldId id="640" r:id="rId16"/>
    <p:sldId id="607" r:id="rId17"/>
    <p:sldId id="591" r:id="rId18"/>
    <p:sldId id="638" r:id="rId19"/>
    <p:sldId id="609" r:id="rId20"/>
    <p:sldId id="642" r:id="rId21"/>
    <p:sldId id="582" r:id="rId22"/>
    <p:sldId id="639" r:id="rId23"/>
    <p:sldId id="601" r:id="rId24"/>
    <p:sldId id="598" r:id="rId25"/>
    <p:sldId id="632" r:id="rId26"/>
    <p:sldId id="629" r:id="rId27"/>
    <p:sldId id="576" r:id="rId28"/>
    <p:sldId id="621" r:id="rId29"/>
    <p:sldId id="585" r:id="rId30"/>
    <p:sldId id="628" r:id="rId31"/>
    <p:sldId id="617" r:id="rId32"/>
    <p:sldId id="631" r:id="rId33"/>
    <p:sldId id="643" r:id="rId34"/>
    <p:sldId id="644" r:id="rId35"/>
    <p:sldId id="345" r:id="rId36"/>
    <p:sldId id="346" r:id="rId3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448" userDrawn="1">
          <p15:clr>
            <a:srgbClr val="A4A3A4"/>
          </p15:clr>
        </p15:guide>
        <p15:guide id="2" pos="2268" userDrawn="1">
          <p15:clr>
            <a:srgbClr val="A4A3A4"/>
          </p15:clr>
        </p15:guide>
        <p15:guide id="3"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646"/>
    <a:srgbClr val="7B7B7B"/>
    <a:srgbClr val="C3C3C3"/>
    <a:srgbClr val="5F5F5F"/>
    <a:srgbClr val="041E42"/>
    <a:srgbClr val="D5EAE9"/>
    <a:srgbClr val="707070"/>
    <a:srgbClr val="009CDE"/>
    <a:srgbClr val="D9D9D9"/>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9A1916-7DEC-4FA6-8E18-961E5F226373}" v="46" dt="2026-07-24T07:26:08.666"/>
    <p1510:client id="{C125520D-2CEE-447A-8E26-B3DB0202B18C}" v="104" dt="2026-07-24T07:59:16.879"/>
  </p1510:revLst>
</p1510:revInfo>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75727" autoAdjust="0"/>
  </p:normalViewPr>
  <p:slideViewPr>
    <p:cSldViewPr snapToGrid="0">
      <p:cViewPr varScale="1">
        <p:scale>
          <a:sx n="64" d="100"/>
          <a:sy n="64" d="100"/>
        </p:scale>
        <p:origin x="1891" y="72"/>
      </p:cViewPr>
      <p:guideLst>
        <p:guide pos="2448"/>
        <p:guide pos="2268"/>
        <p:guide orient="horz" pos="2160"/>
      </p:guideLst>
    </p:cSldViewPr>
  </p:slideViewPr>
  <p:outlineViewPr>
    <p:cViewPr>
      <p:scale>
        <a:sx n="33" d="100"/>
        <a:sy n="33" d="100"/>
      </p:scale>
      <p:origin x="0" y="0"/>
    </p:cViewPr>
  </p:outlineViewPr>
  <p:notesTextViewPr>
    <p:cViewPr>
      <p:scale>
        <a:sx n="3" d="2"/>
        <a:sy n="3" d="2"/>
      </p:scale>
      <p:origin x="0" y="0"/>
    </p:cViewPr>
  </p:notesTextViewPr>
  <p:notesViewPr>
    <p:cSldViewPr snapToGrid="0" showGuides="1">
      <p:cViewPr varScale="1">
        <p:scale>
          <a:sx n="86" d="100"/>
          <a:sy n="86" d="100"/>
        </p:scale>
        <p:origin x="2870" y="3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ngnan Bing" userId="776b6d27-eb06-42d5-96f5-ac63807e2770" providerId="ADAL" clId="{BDED61D7-36C0-4C31-99CF-5AB6DACD53B0}"/>
    <pc:docChg chg="modSld">
      <pc:chgData name="Yingnan Bing" userId="776b6d27-eb06-42d5-96f5-ac63807e2770" providerId="ADAL" clId="{BDED61D7-36C0-4C31-99CF-5AB6DACD53B0}" dt="2026-07-24T07:26:08.666" v="45" actId="20577"/>
      <pc:docMkLst>
        <pc:docMk/>
      </pc:docMkLst>
      <pc:sldChg chg="modNotesTx">
        <pc:chgData name="Yingnan Bing" userId="776b6d27-eb06-42d5-96f5-ac63807e2770" providerId="ADAL" clId="{BDED61D7-36C0-4C31-99CF-5AB6DACD53B0}" dt="2026-07-24T07:26:08.666" v="45" actId="20577"/>
        <pc:sldMkLst>
          <pc:docMk/>
          <pc:sldMk cId="476913256" sldId="623"/>
        </pc:sldMkLst>
      </pc:sldChg>
      <pc:sldChg chg="modNotesTx">
        <pc:chgData name="Yingnan Bing" userId="776b6d27-eb06-42d5-96f5-ac63807e2770" providerId="ADAL" clId="{BDED61D7-36C0-4C31-99CF-5AB6DACD53B0}" dt="2026-07-24T07:24:15.297" v="25" actId="20577"/>
        <pc:sldMkLst>
          <pc:docMk/>
          <pc:sldMk cId="2456714682" sldId="63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938" y="1"/>
            <a:ext cx="3037840" cy="466435"/>
          </a:xfrm>
          <a:prstGeom prst="rect">
            <a:avLst/>
          </a:prstGeom>
        </p:spPr>
        <p:txBody>
          <a:bodyPr vert="horz" lIns="91440" tIns="45720" rIns="91440" bIns="45720" rtlCol="0"/>
          <a:lstStyle>
            <a:lvl1pPr algn="r">
              <a:defRPr sz="1200"/>
            </a:lvl1pPr>
          </a:lstStyle>
          <a:p>
            <a:fld id="{6668A5CF-57C8-4201-A20C-52C6C5A89B4A}" type="datetimeFigureOut">
              <a:rPr lang="en-US" smtClean="0"/>
              <a:t>7/27/2026</a:t>
            </a:fld>
            <a:endParaRPr lang="en-US"/>
          </a:p>
        </p:txBody>
      </p:sp>
      <p:sp>
        <p:nvSpPr>
          <p:cNvPr id="4" name="Footer Placeholder 3"/>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756DE067-D0A7-451C-9028-DAD9FAEA1C5D}" type="slidenum">
              <a:rPr lang="en-US" smtClean="0"/>
              <a:t>‹#›</a:t>
            </a:fld>
            <a:endParaRPr lang="en-US"/>
          </a:p>
        </p:txBody>
      </p:sp>
    </p:spTree>
    <p:extLst>
      <p:ext uri="{BB962C8B-B14F-4D97-AF65-F5344CB8AC3E}">
        <p14:creationId xmlns:p14="http://schemas.microsoft.com/office/powerpoint/2010/main" val="3898043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1"/>
            <a:ext cx="3037840" cy="466435"/>
          </a:xfrm>
          <a:prstGeom prst="rect">
            <a:avLst/>
          </a:prstGeom>
        </p:spPr>
        <p:txBody>
          <a:bodyPr vert="horz" lIns="91440" tIns="45720" rIns="91440" bIns="45720" rtlCol="0"/>
          <a:lstStyle>
            <a:lvl1pPr algn="r">
              <a:defRPr sz="1200"/>
            </a:lvl1pPr>
          </a:lstStyle>
          <a:p>
            <a:fld id="{86D1E8D2-941F-47C6-9F69-15FB4958F7D2}" type="datetimeFigureOut">
              <a:rPr lang="en-US" smtClean="0"/>
              <a:t>7/27/2026</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8"/>
            <a:ext cx="3037840" cy="466434"/>
          </a:xfrm>
          <a:prstGeom prst="rect">
            <a:avLst/>
          </a:prstGeom>
        </p:spPr>
        <p:txBody>
          <a:bodyPr vert="horz" lIns="91440" tIns="45720" rIns="91440" bIns="45720" rtlCol="0" anchor="b"/>
          <a:lstStyle>
            <a:lvl1pPr algn="r">
              <a:defRPr sz="1200"/>
            </a:lvl1pPr>
          </a:lstStyle>
          <a:p>
            <a:fld id="{B1AE3BB8-2B66-4C64-BE3E-84BDA3488222}" type="slidenum">
              <a:rPr lang="en-US" smtClean="0"/>
              <a:t>‹#›</a:t>
            </a:fld>
            <a:endParaRPr lang="en-US"/>
          </a:p>
        </p:txBody>
      </p:sp>
    </p:spTree>
    <p:extLst>
      <p:ext uri="{BB962C8B-B14F-4D97-AF65-F5344CB8AC3E}">
        <p14:creationId xmlns:p14="http://schemas.microsoft.com/office/powerpoint/2010/main" val="2947405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D9431-72C6-F428-3C17-028E50FB84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44C5FCD-6FFE-2DFF-AC60-6A730E12A76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496679-650E-10E8-44A4-7A46D6636CB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59B9D8D-6FC5-9B91-9F46-015F31E67C64}"/>
              </a:ext>
            </a:extLst>
          </p:cNvPr>
          <p:cNvSpPr>
            <a:spLocks noGrp="1"/>
          </p:cNvSpPr>
          <p:nvPr>
            <p:ph type="sldNum" sz="quarter" idx="5"/>
          </p:nvPr>
        </p:nvSpPr>
        <p:spPr/>
        <p:txBody>
          <a:bodyPr/>
          <a:lstStyle/>
          <a:p>
            <a:fld id="{09480E5D-39F6-4F21-9D62-24BE8E9E0E37}" type="slidenum">
              <a:rPr kumimoji="1" lang="ja-JP" altLang="en-US" smtClean="0"/>
              <a:t>2</a:t>
            </a:fld>
            <a:endParaRPr kumimoji="1" lang="ja-JP" altLang="en-US"/>
          </a:p>
        </p:txBody>
      </p:sp>
    </p:spTree>
    <p:extLst>
      <p:ext uri="{BB962C8B-B14F-4D97-AF65-F5344CB8AC3E}">
        <p14:creationId xmlns:p14="http://schemas.microsoft.com/office/powerpoint/2010/main" val="788995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ACE8B-DF58-F6FB-6C5B-E03124135E8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F64B95-EED4-95FE-3859-9F6F1E93F1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324730-83A3-DE06-50EF-B56C6FDCCC2E}"/>
              </a:ext>
            </a:extLst>
          </p:cNvPr>
          <p:cNvSpPr>
            <a:spLocks noGrp="1"/>
          </p:cNvSpPr>
          <p:nvPr>
            <p:ph type="body" idx="1"/>
          </p:nvPr>
        </p:nvSpPr>
        <p:spPr/>
        <p:txBody>
          <a:bodyPr/>
          <a:lstStyle/>
          <a:p>
            <a:r>
              <a:rPr kumimoji="1" lang="zh-CN" altLang="en-US" dirty="0"/>
              <a:t>第一个 </a:t>
            </a:r>
            <a:r>
              <a:rPr kumimoji="1" lang="en-US" altLang="zh-CN" dirty="0"/>
              <a:t>Powder XRD</a:t>
            </a:r>
            <a:r>
              <a:rPr kumimoji="1" lang="zh-CN" altLang="en-US" dirty="0"/>
              <a:t>的峰偏移校正，在对图谱进行</a:t>
            </a:r>
            <a:r>
              <a:rPr lang="en-US" altLang="ja-JP" sz="1200" dirty="0">
                <a:solidFill>
                  <a:schemeClr val="tx2"/>
                </a:solidFill>
                <a:latin typeface="+mn-ea"/>
              </a:rPr>
              <a:t>Rietveld</a:t>
            </a:r>
            <a:r>
              <a:rPr lang="zh-CN" altLang="en-US" sz="1200" dirty="0">
                <a:solidFill>
                  <a:schemeClr val="tx2"/>
                </a:solidFill>
                <a:latin typeface="+mn-ea"/>
              </a:rPr>
              <a:t>分析中，软件会对</a:t>
            </a:r>
            <a:r>
              <a:rPr lang="en-US" altLang="zh-CN" sz="1200" dirty="0">
                <a:solidFill>
                  <a:schemeClr val="tx2"/>
                </a:solidFill>
                <a:latin typeface="+mn-ea"/>
              </a:rPr>
              <a:t>XRD</a:t>
            </a:r>
            <a:r>
              <a:rPr lang="zh-CN" altLang="en-US" sz="1200" dirty="0">
                <a:solidFill>
                  <a:schemeClr val="tx2"/>
                </a:solidFill>
                <a:latin typeface="+mn-ea"/>
              </a:rPr>
              <a:t>图谱进行拟合，在这个过程中，有关</a:t>
            </a:r>
            <a:r>
              <a:rPr lang="en-US" altLang="zh-CN" sz="1200" dirty="0">
                <a:solidFill>
                  <a:schemeClr val="tx2"/>
                </a:solidFill>
                <a:latin typeface="+mn-ea"/>
              </a:rPr>
              <a:t>2theta</a:t>
            </a:r>
            <a:r>
              <a:rPr lang="zh-CN" altLang="en-US" sz="1200" dirty="0">
                <a:solidFill>
                  <a:schemeClr val="tx2"/>
                </a:solidFill>
                <a:latin typeface="+mn-ea"/>
              </a:rPr>
              <a:t>角度偏移的函数的参数会被拟合出来。我们基于这个拟合的参数拟合的结果，提供了一个校正功能，点击这个按钮后，软件会根据拟合出来的角度偏移函数的参数，对图谱进行反向修正，从而去除峰位偏移的影响，变成没有峰偏移图谱的样子。这个功能，这个按钮只会在读入多个图谱的时候才能显示，读入单个图谱的时候，按钮是不会出现的。</a:t>
            </a:r>
            <a:br>
              <a:rPr lang="en-US" altLang="zh-CN" sz="1200" dirty="0">
                <a:solidFill>
                  <a:schemeClr val="tx2"/>
                </a:solidFill>
                <a:latin typeface="+mn-ea"/>
              </a:rPr>
            </a:br>
            <a:r>
              <a:rPr lang="en-US" altLang="zh-CN" sz="1200" dirty="0">
                <a:solidFill>
                  <a:schemeClr val="tx2"/>
                </a:solidFill>
                <a:latin typeface="+mn-ea"/>
              </a:rPr>
              <a:t>Q1</a:t>
            </a:r>
            <a:r>
              <a:rPr lang="zh-CN" altLang="en-US" sz="1200" dirty="0">
                <a:solidFill>
                  <a:schemeClr val="tx2"/>
                </a:solidFill>
                <a:latin typeface="+mn-ea"/>
              </a:rPr>
              <a:t>这个按钮在什么时候能显示？ 在多个图谱的</a:t>
            </a:r>
            <a:r>
              <a:rPr lang="en-US" altLang="zh-CN" sz="1200" dirty="0">
                <a:solidFill>
                  <a:schemeClr val="tx2"/>
                </a:solidFill>
                <a:latin typeface="+mn-ea"/>
              </a:rPr>
              <a:t>WPPF </a:t>
            </a:r>
            <a:r>
              <a:rPr lang="en-US" altLang="zh-CN" sz="1200" dirty="0" err="1">
                <a:solidFill>
                  <a:schemeClr val="tx2"/>
                </a:solidFill>
                <a:latin typeface="+mn-ea"/>
              </a:rPr>
              <a:t>WPPF</a:t>
            </a:r>
            <a:r>
              <a:rPr lang="en-US" altLang="zh-CN" sz="1200" dirty="0">
                <a:solidFill>
                  <a:schemeClr val="tx2"/>
                </a:solidFill>
                <a:latin typeface="+mn-ea"/>
              </a:rPr>
              <a:t> for multiple data</a:t>
            </a:r>
            <a:r>
              <a:rPr lang="zh-CN" altLang="en-US" sz="1200" dirty="0">
                <a:solidFill>
                  <a:schemeClr val="tx2"/>
                </a:solidFill>
                <a:latin typeface="+mn-ea"/>
              </a:rPr>
              <a:t>里 读入多个数据之后 点击</a:t>
            </a:r>
            <a:r>
              <a:rPr lang="en-US" altLang="zh-CN" sz="1200" dirty="0">
                <a:solidFill>
                  <a:schemeClr val="tx2"/>
                </a:solidFill>
                <a:latin typeface="+mn-ea"/>
              </a:rPr>
              <a:t>all</a:t>
            </a:r>
            <a:br>
              <a:rPr lang="en-US" altLang="zh-CN" sz="1200" dirty="0">
                <a:solidFill>
                  <a:schemeClr val="tx2"/>
                </a:solidFill>
                <a:latin typeface="+mn-ea"/>
              </a:rPr>
            </a:br>
            <a:r>
              <a:rPr lang="en-US" altLang="zh-CN" sz="1200" dirty="0">
                <a:solidFill>
                  <a:schemeClr val="tx2"/>
                </a:solidFill>
                <a:latin typeface="+mn-ea"/>
              </a:rPr>
              <a:t>Q2 </a:t>
            </a:r>
            <a:r>
              <a:rPr lang="en-US" altLang="zh-CN" sz="1200" dirty="0" err="1">
                <a:solidFill>
                  <a:schemeClr val="tx2"/>
                </a:solidFill>
                <a:latin typeface="+mn-ea"/>
              </a:rPr>
              <a:t>peakshift</a:t>
            </a:r>
            <a:r>
              <a:rPr lang="zh-CN" altLang="en-US" sz="1200" dirty="0">
                <a:solidFill>
                  <a:schemeClr val="tx2"/>
                </a:solidFill>
                <a:latin typeface="+mn-ea"/>
              </a:rPr>
              <a:t>函数分别是什么意思？怎么拟合的 分为三个函数分别是装置函数 三角函数 多项式 其中装置函数是模拟仪器的误差带来的峰偏移 具有物理意义 思想类似于</a:t>
            </a:r>
            <a:r>
              <a:rPr lang="en-US" altLang="zh-CN" sz="1200" dirty="0">
                <a:solidFill>
                  <a:schemeClr val="tx2"/>
                </a:solidFill>
                <a:latin typeface="+mn-ea"/>
              </a:rPr>
              <a:t>FP</a:t>
            </a:r>
            <a:r>
              <a:rPr lang="zh-CN" altLang="en-US" sz="1200" dirty="0">
                <a:solidFill>
                  <a:schemeClr val="tx2"/>
                </a:solidFill>
                <a:latin typeface="+mn-ea"/>
              </a:rPr>
              <a:t>法 三角函数和多项式就是数学上的拟合。</a:t>
            </a:r>
            <a:endParaRPr lang="en-US" altLang="zh-CN" sz="1200" dirty="0">
              <a:solidFill>
                <a:schemeClr val="tx2"/>
              </a:solidFill>
              <a:latin typeface="+mn-ea"/>
            </a:endParaRPr>
          </a:p>
          <a:p>
            <a:r>
              <a:rPr lang="zh-CN" altLang="en-US" sz="1200" dirty="0">
                <a:solidFill>
                  <a:schemeClr val="tx2"/>
                </a:solidFill>
                <a:latin typeface="+mn-ea"/>
              </a:rPr>
              <a:t>用</a:t>
            </a:r>
            <a:r>
              <a:rPr lang="en-US" altLang="zh-CN" sz="1200" dirty="0" err="1">
                <a:solidFill>
                  <a:schemeClr val="tx2"/>
                </a:solidFill>
                <a:latin typeface="+mn-ea"/>
              </a:rPr>
              <a:t>reivled</a:t>
            </a:r>
            <a:r>
              <a:rPr lang="zh-CN" altLang="en-US" sz="1200" dirty="0">
                <a:solidFill>
                  <a:schemeClr val="tx2"/>
                </a:solidFill>
                <a:latin typeface="+mn-ea"/>
              </a:rPr>
              <a:t>拟合，不选择外部标准和内部标准，在设置中选择用峰偏移函数校正就可以拟合</a:t>
            </a:r>
            <a:endParaRPr lang="en-US" altLang="zh-CN" sz="1200" dirty="0">
              <a:solidFill>
                <a:schemeClr val="tx2"/>
              </a:solidFill>
              <a:latin typeface="+mn-ea"/>
            </a:endParaRPr>
          </a:p>
          <a:p>
            <a:r>
              <a:rPr lang="en-US" altLang="zh-CN" sz="1200" dirty="0">
                <a:solidFill>
                  <a:schemeClr val="tx2"/>
                </a:solidFill>
                <a:latin typeface="+mn-ea"/>
              </a:rPr>
              <a:t>Q3</a:t>
            </a:r>
            <a:r>
              <a:rPr lang="zh-CN" altLang="en-US" sz="1200" dirty="0">
                <a:solidFill>
                  <a:schemeClr val="tx2"/>
                </a:solidFill>
                <a:latin typeface="+mn-ea"/>
              </a:rPr>
              <a:t>插值算法的原理？不是一般的线性插值，通过选择周围的三个点做</a:t>
            </a:r>
            <a:r>
              <a:rPr lang="en-US" altLang="zh-CN" sz="1200" dirty="0">
                <a:solidFill>
                  <a:schemeClr val="tx2"/>
                </a:solidFill>
                <a:latin typeface="+mn-ea"/>
              </a:rPr>
              <a:t>2</a:t>
            </a:r>
            <a:r>
              <a:rPr lang="zh-CN" altLang="en-US" sz="1200" dirty="0">
                <a:solidFill>
                  <a:schemeClr val="tx2"/>
                </a:solidFill>
                <a:latin typeface="+mn-ea"/>
              </a:rPr>
              <a:t>次函数的拟合，然后进行插值 </a:t>
            </a:r>
            <a:br>
              <a:rPr lang="en-US" altLang="zh-CN" sz="1200" dirty="0">
                <a:solidFill>
                  <a:schemeClr val="tx2"/>
                </a:solidFill>
                <a:latin typeface="+mn-ea"/>
              </a:rPr>
            </a:br>
            <a:r>
              <a:rPr lang="en-US" altLang="zh-CN" sz="1200" dirty="0">
                <a:solidFill>
                  <a:schemeClr val="tx2"/>
                </a:solidFill>
                <a:latin typeface="+mn-ea"/>
              </a:rPr>
              <a:t>Q4 </a:t>
            </a:r>
            <a:r>
              <a:rPr lang="zh-CN" altLang="en-US" sz="1200" dirty="0">
                <a:solidFill>
                  <a:schemeClr val="tx2"/>
                </a:solidFill>
                <a:latin typeface="+mn-ea"/>
              </a:rPr>
              <a:t>在</a:t>
            </a:r>
            <a:r>
              <a:rPr lang="en-US" altLang="zh-CN" sz="1200" dirty="0">
                <a:solidFill>
                  <a:schemeClr val="tx2"/>
                </a:solidFill>
                <a:latin typeface="+mn-ea"/>
              </a:rPr>
              <a:t>WPPF</a:t>
            </a:r>
            <a:r>
              <a:rPr lang="zh-CN" altLang="en-US" sz="1200" dirty="0">
                <a:solidFill>
                  <a:schemeClr val="tx2"/>
                </a:solidFill>
                <a:latin typeface="+mn-ea"/>
              </a:rPr>
              <a:t>以外，</a:t>
            </a:r>
            <a:r>
              <a:rPr lang="en-US" altLang="zh-CN" sz="1200" dirty="0" err="1">
                <a:solidFill>
                  <a:schemeClr val="tx2"/>
                </a:solidFill>
                <a:latin typeface="+mn-ea"/>
              </a:rPr>
              <a:t>profilefitting</a:t>
            </a:r>
            <a:r>
              <a:rPr lang="zh-CN" altLang="en-US" sz="1200" dirty="0">
                <a:solidFill>
                  <a:schemeClr val="tx2"/>
                </a:solidFill>
                <a:latin typeface="+mn-ea"/>
              </a:rPr>
              <a:t>中 精密化后也出现了</a:t>
            </a:r>
            <a:r>
              <a:rPr lang="en-US" altLang="zh-CN" sz="1200" dirty="0" err="1">
                <a:solidFill>
                  <a:schemeClr val="tx2"/>
                </a:solidFill>
                <a:latin typeface="+mn-ea"/>
              </a:rPr>
              <a:t>peakshift</a:t>
            </a:r>
            <a:r>
              <a:rPr lang="zh-CN" altLang="en-US" sz="1200" dirty="0">
                <a:solidFill>
                  <a:schemeClr val="tx2"/>
                </a:solidFill>
                <a:latin typeface="+mn-ea"/>
              </a:rPr>
              <a:t>参数的变化 这里的原理是什么？</a:t>
            </a:r>
            <a:endParaRPr lang="en-US" altLang="zh-CN" sz="1200" dirty="0">
              <a:solidFill>
                <a:schemeClr val="tx2"/>
              </a:solidFill>
              <a:latin typeface="+mn-ea"/>
            </a:endParaRPr>
          </a:p>
          <a:p>
            <a:r>
              <a:rPr kumimoji="1" lang="zh-CN" altLang="en-US" dirty="0"/>
              <a:t>通过一个峰 看他是否存在高阶峰 如果存在，则做为一组</a:t>
            </a:r>
            <a:r>
              <a:rPr kumimoji="1" lang="en-US" altLang="zh-CN" dirty="0"/>
              <a:t>series</a:t>
            </a:r>
            <a:r>
              <a:rPr kumimoji="1" lang="zh-CN" altLang="en-US" dirty="0"/>
              <a:t>，每一组</a:t>
            </a:r>
            <a:r>
              <a:rPr kumimoji="1" lang="en-US" altLang="zh-CN" dirty="0"/>
              <a:t>series</a:t>
            </a:r>
            <a:r>
              <a:rPr kumimoji="1" lang="zh-CN" altLang="en-US" dirty="0"/>
              <a:t>至少有两个峰，如果找到</a:t>
            </a:r>
            <a:r>
              <a:rPr kumimoji="1" lang="en-US" altLang="zh-CN" dirty="0"/>
              <a:t>3</a:t>
            </a:r>
            <a:r>
              <a:rPr kumimoji="1" lang="zh-CN" altLang="en-US" dirty="0"/>
              <a:t>组以上的话，则要计算出偏差程序首先从已经识别出的衍射峰中寻找具有倍频关系的峰列，例如：</a:t>
            </a:r>
            <a:r>
              <a:rPr kumimoji="1" lang="en-US" altLang="zh-CN" dirty="0"/>
              <a:t>001002003004</a:t>
            </a:r>
            <a:r>
              <a:rPr kumimoji="1" lang="zh-CN" altLang="en-US" dirty="0"/>
              <a:t>这类峰位也是有关系。如果由于仪器零点误差或者角度偏移导致这种整数倍关系被破坏，程序会自动计算一个角度修正值，使这些峰重新尽可能满足理论倍频关系。</a:t>
            </a:r>
            <a:endParaRPr kumimoji="1" lang="ja-JP" altLang="en-US" dirty="0"/>
          </a:p>
        </p:txBody>
      </p:sp>
      <p:sp>
        <p:nvSpPr>
          <p:cNvPr id="4" name="スライド番号プレースホルダー 3">
            <a:extLst>
              <a:ext uri="{FF2B5EF4-FFF2-40B4-BE49-F238E27FC236}">
                <a16:creationId xmlns:a16="http://schemas.microsoft.com/office/drawing/2014/main" id="{977A9B21-EEA3-2808-D059-A8E45DB9870A}"/>
              </a:ext>
            </a:extLst>
          </p:cNvPr>
          <p:cNvSpPr>
            <a:spLocks noGrp="1"/>
          </p:cNvSpPr>
          <p:nvPr>
            <p:ph type="sldNum" sz="quarter" idx="5"/>
          </p:nvPr>
        </p:nvSpPr>
        <p:spPr/>
        <p:txBody>
          <a:bodyPr/>
          <a:lstStyle/>
          <a:p>
            <a:fld id="{09480E5D-39F6-4F21-9D62-24BE8E9E0E37}" type="slidenum">
              <a:rPr kumimoji="1" lang="ja-JP" altLang="en-US" smtClean="0"/>
              <a:t>5</a:t>
            </a:fld>
            <a:endParaRPr kumimoji="1" lang="ja-JP" altLang="en-US"/>
          </a:p>
        </p:txBody>
      </p:sp>
    </p:spTree>
    <p:extLst>
      <p:ext uri="{BB962C8B-B14F-4D97-AF65-F5344CB8AC3E}">
        <p14:creationId xmlns:p14="http://schemas.microsoft.com/office/powerpoint/2010/main" val="37452804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4319-A526-E5AC-9EA8-A12840A141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2FA354C-F489-F912-C4BA-BA522DE96F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9791020-E9F1-6498-F208-51F3CEBEA259}"/>
              </a:ext>
            </a:extLst>
          </p:cNvPr>
          <p:cNvSpPr>
            <a:spLocks noGrp="1"/>
          </p:cNvSpPr>
          <p:nvPr>
            <p:ph type="body" idx="1"/>
          </p:nvPr>
        </p:nvSpPr>
        <p:spPr/>
        <p:txBody>
          <a:bodyPr/>
          <a:lstStyle/>
          <a:p>
            <a:r>
              <a:rPr kumimoji="1" lang="en-US" altLang="zh-CN" dirty="0"/>
              <a:t>Powder XRD</a:t>
            </a:r>
            <a:r>
              <a:rPr kumimoji="1" lang="zh-CN" altLang="en-US" dirty="0"/>
              <a:t>的</a:t>
            </a:r>
            <a:r>
              <a:rPr lang="en-US" altLang="ja-JP" sz="1200" dirty="0">
                <a:latin typeface="+mj-ea"/>
              </a:rPr>
              <a:t>Register amorphous phase on finding amorphous peak</a:t>
            </a:r>
            <a:r>
              <a:rPr lang="ja-JP" altLang="en-US" sz="1200" dirty="0">
                <a:latin typeface="+mj-ea"/>
              </a:rPr>
              <a:t> </a:t>
            </a:r>
            <a:br>
              <a:rPr lang="en-US" altLang="ja-JP" sz="1200" dirty="0">
                <a:latin typeface="+mj-ea"/>
              </a:rPr>
            </a:br>
            <a:r>
              <a:rPr lang="zh-CN" altLang="en-US" sz="1200" dirty="0">
                <a:latin typeface="+mj-ea"/>
              </a:rPr>
              <a:t>就是说把</a:t>
            </a:r>
            <a:r>
              <a:rPr kumimoji="1" lang="zh-CN" altLang="en-US" dirty="0"/>
              <a:t>检测出非晶峰，直接自动把他归为非晶相 加了一个这样的设置。之前的话如果想设置一个非晶相，在峰列表里，选中相应的峰，然后再非晶相，现在就可以自动将这个非晶峰的晶相设置为非晶相。</a:t>
            </a:r>
            <a:endParaRPr kumimoji="1" lang="en-US" altLang="zh-CN" dirty="0"/>
          </a:p>
          <a:p>
            <a:r>
              <a:rPr kumimoji="1" lang="en-US" altLang="zh-CN" dirty="0"/>
              <a:t>Q1 </a:t>
            </a:r>
            <a:r>
              <a:rPr kumimoji="1" lang="zh-CN" altLang="en-US" dirty="0"/>
              <a:t>程序中如何判断是非晶相的？ 根据宽度和高度 来做为一个判断 有一个阈值</a:t>
            </a:r>
            <a:endParaRPr kumimoji="1" lang="en-US" altLang="zh-CN" dirty="0"/>
          </a:p>
          <a:p>
            <a:r>
              <a:rPr kumimoji="1" lang="en-US" altLang="zh-CN" dirty="0"/>
              <a:t>Q2 </a:t>
            </a:r>
            <a:r>
              <a:rPr kumimoji="1" lang="zh-CN" altLang="en-US" dirty="0"/>
              <a:t>非晶相的按钮是什么作用？ 将识别出来的非晶峰做为非晶峰看待还是做为背景看待的按钮，选中则看做非晶峰，取消选中则看做背景</a:t>
            </a:r>
            <a:endParaRPr kumimoji="1" lang="ja-JP" altLang="en-US" dirty="0"/>
          </a:p>
        </p:txBody>
      </p:sp>
      <p:sp>
        <p:nvSpPr>
          <p:cNvPr id="4" name="スライド番号プレースホルダー 3">
            <a:extLst>
              <a:ext uri="{FF2B5EF4-FFF2-40B4-BE49-F238E27FC236}">
                <a16:creationId xmlns:a16="http://schemas.microsoft.com/office/drawing/2014/main" id="{B185FCB8-D804-D201-D738-CEFD8A58A4A7}"/>
              </a:ext>
            </a:extLst>
          </p:cNvPr>
          <p:cNvSpPr>
            <a:spLocks noGrp="1"/>
          </p:cNvSpPr>
          <p:nvPr>
            <p:ph type="sldNum" sz="quarter" idx="5"/>
          </p:nvPr>
        </p:nvSpPr>
        <p:spPr/>
        <p:txBody>
          <a:bodyPr/>
          <a:lstStyle/>
          <a:p>
            <a:fld id="{09480E5D-39F6-4F21-9D62-24BE8E9E0E37}" type="slidenum">
              <a:rPr kumimoji="1" lang="ja-JP" altLang="en-US" smtClean="0"/>
              <a:t>7</a:t>
            </a:fld>
            <a:endParaRPr kumimoji="1" lang="ja-JP" altLang="en-US"/>
          </a:p>
        </p:txBody>
      </p:sp>
    </p:spTree>
    <p:extLst>
      <p:ext uri="{BB962C8B-B14F-4D97-AF65-F5344CB8AC3E}">
        <p14:creationId xmlns:p14="http://schemas.microsoft.com/office/powerpoint/2010/main" val="3889586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290D-209D-3A29-B7D6-140AC97DC9D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9F00E3A-06E2-5FDE-BDDD-47C48A0612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F3F81C-A9A9-8924-CA82-BB6CF1E2AA94}"/>
              </a:ext>
            </a:extLst>
          </p:cNvPr>
          <p:cNvSpPr>
            <a:spLocks noGrp="1"/>
          </p:cNvSpPr>
          <p:nvPr>
            <p:ph type="body" idx="1"/>
          </p:nvPr>
        </p:nvSpPr>
        <p:spPr/>
        <p:txBody>
          <a:bodyPr/>
          <a:lstStyle/>
          <a:p>
            <a:r>
              <a:rPr kumimoji="1" lang="en-US" altLang="zh-CN" err="1"/>
              <a:t>Datamanager</a:t>
            </a:r>
            <a:r>
              <a:rPr kumimoji="1" lang="zh-CN" altLang="en-US"/>
              <a:t>中的</a:t>
            </a:r>
            <a:r>
              <a:rPr kumimoji="1" lang="zh-CN" altLang="en-US" dirty="0"/>
              <a:t>相似度检测，看这些图谱和图谱之间的相似度检测，</a:t>
            </a:r>
            <a:endParaRPr kumimoji="1" lang="en-US" altLang="zh-CN" dirty="0"/>
          </a:p>
          <a:p>
            <a:r>
              <a:rPr kumimoji="1" lang="en-US" altLang="zh-CN" dirty="0"/>
              <a:t>Q1 </a:t>
            </a:r>
            <a:r>
              <a:rPr kumimoji="1" lang="zh-CN" altLang="en-US" dirty="0"/>
              <a:t>相似度是用什么判断的？</a:t>
            </a:r>
            <a:r>
              <a:rPr kumimoji="1" lang="en-US" altLang="zh-CN" dirty="0"/>
              <a:t>(</a:t>
            </a:r>
            <a:r>
              <a:rPr kumimoji="1" lang="en-US" altLang="zh-CN" dirty="0" err="1"/>
              <a:t>Pearson+Spearman</a:t>
            </a:r>
            <a:r>
              <a:rPr kumimoji="1" lang="en-US" altLang="zh-CN" dirty="0"/>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皮尔森相关系数，</a:t>
            </a:r>
            <a:r>
              <a:rPr kumimoji="1" lang="en-US" altLang="ja-JP" dirty="0"/>
              <a:t>Pearson</a:t>
            </a:r>
            <a:r>
              <a:rPr kumimoji="1" lang="zh-CN" altLang="en-US" dirty="0"/>
              <a:t>是数值变化趋势是否一致 完全一致为</a:t>
            </a:r>
            <a:r>
              <a:rPr kumimoji="1" lang="en-US" altLang="zh-CN" dirty="0"/>
              <a:t>1</a:t>
            </a:r>
            <a:r>
              <a:rPr kumimoji="1" lang="zh-CN" altLang="en-US" dirty="0"/>
              <a:t>，反过来为</a:t>
            </a:r>
            <a:r>
              <a:rPr kumimoji="1" lang="en-US" altLang="zh-CN" dirty="0"/>
              <a:t>-1 </a:t>
            </a:r>
            <a:r>
              <a:rPr lang="ja-JP" altLang="ja-JP" sz="1200" b="0" i="0" kern="1200" dirty="0">
                <a:solidFill>
                  <a:schemeClr val="tx1"/>
                </a:solidFill>
                <a:effectLst/>
                <a:latin typeface="+mn-lt"/>
                <a:ea typeface="+mn-ea"/>
                <a:cs typeface="+mn-cs"/>
              </a:rPr>
              <a:t>这两条曲线长得像不像？</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斯皮尔曼相关系数 </a:t>
            </a:r>
            <a:r>
              <a:rPr lang="ja-JP" altLang="ja-JP" sz="1200" b="0" i="0" kern="1200" dirty="0">
                <a:solidFill>
                  <a:schemeClr val="tx1"/>
                </a:solidFill>
                <a:effectLst/>
                <a:latin typeface="+mn-lt"/>
                <a:ea typeface="+mn-ea"/>
                <a:cs typeface="+mn-cs"/>
              </a:rPr>
              <a:t>Spearman</a:t>
            </a:r>
            <a:r>
              <a:rPr kumimoji="1" lang="zh-CN" altLang="en-US" sz="1200" b="0" i="0" kern="1200" dirty="0">
                <a:solidFill>
                  <a:schemeClr val="tx1"/>
                </a:solidFill>
                <a:effectLst/>
                <a:latin typeface="+mn-lt"/>
                <a:ea typeface="+mn-ea"/>
                <a:cs typeface="+mn-cs"/>
              </a:rPr>
              <a:t>是判断排序的，看他们排序大小是否一致。</a:t>
            </a:r>
            <a:r>
              <a:rPr lang="ja-JP" altLang="ja-JP" sz="1200" b="0" i="0" kern="1200" dirty="0">
                <a:solidFill>
                  <a:schemeClr val="tx1"/>
                </a:solidFill>
                <a:effectLst/>
                <a:latin typeface="+mn-lt"/>
                <a:ea typeface="+mn-ea"/>
                <a:cs typeface="+mn-cs"/>
              </a:rPr>
              <a:t>这些峰谁强谁弱的关系是否一致？</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不是用绝对的峰强，</a:t>
            </a:r>
            <a:r>
              <a:rPr lang="en-US" altLang="zh-CN" sz="1200" b="0" i="0" kern="1200" dirty="0">
                <a:solidFill>
                  <a:schemeClr val="tx1"/>
                </a:solidFill>
                <a:effectLst/>
                <a:latin typeface="+mn-lt"/>
                <a:ea typeface="+mn-ea"/>
                <a:cs typeface="+mn-cs"/>
              </a:rPr>
              <a:t>cos</a:t>
            </a:r>
            <a:r>
              <a:rPr lang="zh-CN" altLang="en-US" sz="1200" b="0" i="0" kern="1200" dirty="0">
                <a:solidFill>
                  <a:schemeClr val="tx1"/>
                </a:solidFill>
                <a:effectLst/>
                <a:latin typeface="+mn-lt"/>
                <a:ea typeface="+mn-ea"/>
                <a:cs typeface="+mn-cs"/>
              </a:rPr>
              <a:t>一致度 不是用这个的</a:t>
            </a:r>
            <a:endParaRPr lang="ja-JP" altLang="ja-JP" sz="1200" b="0" i="0" kern="1200" dirty="0">
              <a:solidFill>
                <a:schemeClr val="tx1"/>
              </a:solidFill>
              <a:effectLst/>
              <a:latin typeface="+mn-lt"/>
              <a:ea typeface="+mn-ea"/>
              <a:cs typeface="+mn-cs"/>
            </a:endParaRPr>
          </a:p>
        </p:txBody>
      </p:sp>
      <p:sp>
        <p:nvSpPr>
          <p:cNvPr id="4" name="スライド番号プレースホルダー 3">
            <a:extLst>
              <a:ext uri="{FF2B5EF4-FFF2-40B4-BE49-F238E27FC236}">
                <a16:creationId xmlns:a16="http://schemas.microsoft.com/office/drawing/2014/main" id="{7D4981EA-9915-D55B-F0A3-3F4171D23029}"/>
              </a:ext>
            </a:extLst>
          </p:cNvPr>
          <p:cNvSpPr>
            <a:spLocks noGrp="1"/>
          </p:cNvSpPr>
          <p:nvPr>
            <p:ph type="sldNum" sz="quarter" idx="5"/>
          </p:nvPr>
        </p:nvSpPr>
        <p:spPr/>
        <p:txBody>
          <a:bodyPr/>
          <a:lstStyle/>
          <a:p>
            <a:fld id="{09480E5D-39F6-4F21-9D62-24BE8E9E0E37}" type="slidenum">
              <a:rPr kumimoji="1" lang="ja-JP" altLang="en-US" smtClean="0"/>
              <a:t>9</a:t>
            </a:fld>
            <a:endParaRPr kumimoji="1" lang="ja-JP" altLang="en-US"/>
          </a:p>
        </p:txBody>
      </p:sp>
    </p:spTree>
    <p:extLst>
      <p:ext uri="{BB962C8B-B14F-4D97-AF65-F5344CB8AC3E}">
        <p14:creationId xmlns:p14="http://schemas.microsoft.com/office/powerpoint/2010/main" val="1865090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6F9DF-2F2E-FB8C-18AE-D6A71CF92D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F8EBA3-11C0-6A25-D315-1C0EDFFA78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01213DD-39D9-A75C-ADAE-2DF883B0FA4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这个功能和刚刚那个很像，刚刚那个是相似度 </a:t>
            </a:r>
            <a:r>
              <a:rPr lang="zh-CN" altLang="en-US" dirty="0"/>
              <a:t>判断的是图谱之间够不够像，</a:t>
            </a:r>
            <a:r>
              <a:rPr lang="ja-JP" altLang="ja-JP" dirty="0"/>
              <a:t>这个是</a:t>
            </a:r>
            <a:r>
              <a:rPr lang="zh-CN" altLang="en-US" dirty="0"/>
              <a:t>范围计算，是判断在特定</a:t>
            </a:r>
            <a:r>
              <a:rPr lang="ja-JP" altLang="ja-JP" dirty="0"/>
              <a:t>范围</a:t>
            </a:r>
            <a:r>
              <a:rPr lang="zh-CN" altLang="en-US" dirty="0"/>
              <a:t>内最高强度的峰的峰位是否接近。如果足够接近，也就是说峰位差在你设置的允许范围内，那么就算合格，反而就是不合格。</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合格与不合格以及峰位等信息，在这里可以固定的报告模板生成检测报告。</a:t>
            </a:r>
            <a:br>
              <a:rPr kumimoji="1" lang="en-US" altLang="zh-CN" dirty="0"/>
            </a:br>
            <a:r>
              <a:rPr kumimoji="1" lang="zh-CN" altLang="en-US" dirty="0"/>
              <a:t>为了能够实现检测的自动化，这个功能可以自动在</a:t>
            </a:r>
            <a:r>
              <a:rPr kumimoji="1" lang="en-US" altLang="zh-CN" dirty="0" err="1"/>
              <a:t>XRDMeasurement</a:t>
            </a:r>
            <a:r>
              <a:rPr kumimoji="1" lang="zh-CN" altLang="en-US" dirty="0"/>
              <a:t>的插件中运行，实现测试完样品后可以直接进行分析和查看分析结果。</a:t>
            </a:r>
            <a:endParaRPr kumimoji="1" lang="en-US" altLang="zh-CN" dirty="0"/>
          </a:p>
          <a:p>
            <a:r>
              <a:rPr kumimoji="1" lang="zh-CN" altLang="en-US" dirty="0"/>
              <a:t>这里</a:t>
            </a:r>
            <a:r>
              <a:rPr kumimoji="1" lang="en-US" altLang="zh-CN" dirty="0"/>
              <a:t>template</a:t>
            </a:r>
            <a:r>
              <a:rPr kumimoji="1" lang="zh-CN" altLang="en-US" dirty="0"/>
              <a:t>存了几个角度范围 在这几个角度范围中，去比较最大值的峰位差 如果有一个峰位差大于阈值 则不合格</a:t>
            </a:r>
            <a:endParaRPr kumimoji="1" lang="en-US" altLang="zh-CN" dirty="0"/>
          </a:p>
          <a:p>
            <a:br>
              <a:rPr kumimoji="1" lang="en-US" altLang="zh-CN" dirty="0"/>
            </a:br>
            <a:r>
              <a:rPr kumimoji="1" lang="en-US" altLang="zh-CN" dirty="0"/>
              <a:t>Q1</a:t>
            </a:r>
            <a:r>
              <a:rPr kumimoji="1" lang="zh-CN" altLang="en-US" dirty="0"/>
              <a:t>这里以什么为基准判断是否成功失败 ？ 只根据峰位，峰位的差超过设置的</a:t>
            </a:r>
            <a:r>
              <a:rPr kumimoji="1" lang="en-US" altLang="zh-CN" dirty="0"/>
              <a:t>Outlier criteria</a:t>
            </a:r>
          </a:p>
        </p:txBody>
      </p:sp>
      <p:sp>
        <p:nvSpPr>
          <p:cNvPr id="4" name="スライド番号プレースホルダー 3">
            <a:extLst>
              <a:ext uri="{FF2B5EF4-FFF2-40B4-BE49-F238E27FC236}">
                <a16:creationId xmlns:a16="http://schemas.microsoft.com/office/drawing/2014/main" id="{0B7B5894-C610-6DDC-56A5-08594BE4FC20}"/>
              </a:ext>
            </a:extLst>
          </p:cNvPr>
          <p:cNvSpPr>
            <a:spLocks noGrp="1"/>
          </p:cNvSpPr>
          <p:nvPr>
            <p:ph type="sldNum" sz="quarter" idx="5"/>
          </p:nvPr>
        </p:nvSpPr>
        <p:spPr/>
        <p:txBody>
          <a:bodyPr/>
          <a:lstStyle/>
          <a:p>
            <a:fld id="{09480E5D-39F6-4F21-9D62-24BE8E9E0E37}" type="slidenum">
              <a:rPr kumimoji="1" lang="ja-JP" altLang="en-US" smtClean="0"/>
              <a:t>11</a:t>
            </a:fld>
            <a:endParaRPr kumimoji="1" lang="ja-JP" altLang="en-US"/>
          </a:p>
        </p:txBody>
      </p:sp>
    </p:spTree>
    <p:extLst>
      <p:ext uri="{BB962C8B-B14F-4D97-AF65-F5344CB8AC3E}">
        <p14:creationId xmlns:p14="http://schemas.microsoft.com/office/powerpoint/2010/main" val="3833702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B1AE3BB8-2B66-4C64-BE3E-84BDA3488222}" type="slidenum">
              <a:rPr lang="en-US" smtClean="0"/>
              <a:t>12</a:t>
            </a:fld>
            <a:endParaRPr lang="en-US"/>
          </a:p>
        </p:txBody>
      </p:sp>
    </p:spTree>
    <p:extLst>
      <p:ext uri="{BB962C8B-B14F-4D97-AF65-F5344CB8AC3E}">
        <p14:creationId xmlns:p14="http://schemas.microsoft.com/office/powerpoint/2010/main" val="3843107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09480E5D-39F6-4F21-9D62-24BE8E9E0E37}" type="slidenum">
              <a:rPr kumimoji="1" lang="ja-JP" altLang="en-US" smtClean="0"/>
              <a:t>13</a:t>
            </a:fld>
            <a:endParaRPr kumimoji="1" lang="ja-JP" altLang="en-US"/>
          </a:p>
        </p:txBody>
      </p:sp>
    </p:spTree>
    <p:extLst>
      <p:ext uri="{BB962C8B-B14F-4D97-AF65-F5344CB8AC3E}">
        <p14:creationId xmlns:p14="http://schemas.microsoft.com/office/powerpoint/2010/main" val="207200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fontAlgn="t"/>
            <a:r>
              <a:rPr lang="ja-JP" altLang="ja-JP" sz="1200" b="1" i="0" kern="1200" dirty="0">
                <a:solidFill>
                  <a:schemeClr val="tx1"/>
                </a:solidFill>
                <a:effectLst/>
                <a:latin typeface="+mn-lt"/>
                <a:ea typeface="+mn-ea"/>
                <a:cs typeface="+mn-cs"/>
              </a:rPr>
              <a:t>1/d、2/d、3/d游标显示</a:t>
            </a:r>
          </a:p>
          <a:p>
            <a:pPr fontAlgn="t"/>
            <a:r>
              <a:rPr lang="ja-JP" altLang="ja-JP" sz="1200" b="0" i="0" kern="1200" dirty="0">
                <a:solidFill>
                  <a:schemeClr val="tx1"/>
                </a:solidFill>
                <a:effectLst/>
                <a:latin typeface="+mn-lt"/>
                <a:ea typeface="+mn-ea"/>
                <a:cs typeface="+mn-cs"/>
              </a:rPr>
              <a:t>选择一个基准衍射峰后，软件会根据该峰对应的 </a:t>
            </a:r>
            <a:r>
              <a:rPr lang="ja-JP" altLang="ja-JP" sz="1200" b="1" i="0" kern="1200" dirty="0">
                <a:solidFill>
                  <a:schemeClr val="tx1"/>
                </a:solidFill>
                <a:effectLst/>
                <a:latin typeface="+mn-lt"/>
                <a:ea typeface="+mn-ea"/>
                <a:cs typeface="+mn-cs"/>
              </a:rPr>
              <a:t>d间距（d-spacing）</a:t>
            </a:r>
            <a:r>
              <a:rPr lang="ja-JP" altLang="ja-JP" sz="1200" b="0" i="0" kern="1200" dirty="0">
                <a:solidFill>
                  <a:schemeClr val="tx1"/>
                </a:solidFill>
                <a:effectLst/>
                <a:latin typeface="+mn-lt"/>
                <a:ea typeface="+mn-ea"/>
                <a:cs typeface="+mn-cs"/>
              </a:rPr>
              <a:t> 自动计算其高阶反射位置，并在图谱上显示对应的游标。</a:t>
            </a:r>
          </a:p>
          <a:p>
            <a:pPr lvl="0" fontAlgn="t"/>
            <a:r>
              <a:rPr lang="ja-JP" altLang="ja-JP" sz="1200" b="0" i="0" kern="1200" dirty="0">
                <a:solidFill>
                  <a:schemeClr val="tx1"/>
                </a:solidFill>
                <a:effectLst/>
                <a:latin typeface="+mn-lt"/>
                <a:ea typeface="+mn-ea"/>
                <a:cs typeface="+mn-cs"/>
              </a:rPr>
              <a:t>粉色游标：一阶反射（1/d）</a:t>
            </a:r>
          </a:p>
          <a:p>
            <a:pPr lvl="0" fontAlgn="t"/>
            <a:r>
              <a:rPr lang="ja-JP" altLang="ja-JP" sz="1200" b="0" i="0" kern="1200" dirty="0">
                <a:solidFill>
                  <a:schemeClr val="tx1"/>
                </a:solidFill>
                <a:effectLst/>
                <a:latin typeface="+mn-lt"/>
                <a:ea typeface="+mn-ea"/>
                <a:cs typeface="+mn-cs"/>
              </a:rPr>
              <a:t>橙色游标：二阶反射（2/d）、三阶反射（3/d）、四阶反射（4/d）等高阶反射</a:t>
            </a:r>
          </a:p>
          <a:p>
            <a:endParaRPr kumimoji="1" lang="en-US" altLang="zh-CN" dirty="0"/>
          </a:p>
          <a:p>
            <a:r>
              <a:rPr kumimoji="1" lang="en-US" altLang="zh-CN" dirty="0"/>
              <a:t>1/d</a:t>
            </a:r>
            <a:r>
              <a:rPr kumimoji="1" lang="zh-CN" altLang="en-US" dirty="0"/>
              <a:t>，</a:t>
            </a:r>
            <a:r>
              <a:rPr kumimoji="1" lang="en-US" altLang="zh-CN" dirty="0"/>
              <a:t>2/d</a:t>
            </a:r>
            <a:r>
              <a:rPr kumimoji="1" lang="zh-CN" altLang="en-US" dirty="0"/>
              <a:t>，</a:t>
            </a:r>
            <a:r>
              <a:rPr kumimoji="1" lang="en-US" altLang="zh-CN" dirty="0"/>
              <a:t>3/d</a:t>
            </a:r>
            <a:r>
              <a:rPr kumimoji="1" lang="zh-CN" altLang="en-US" dirty="0"/>
              <a:t>游标的显示，在选定一个基准衍射峰后，系统会自动计算并显示对应的高阶衍射位置。粉色游标表示一阶反射（</a:t>
            </a:r>
            <a:r>
              <a:rPr kumimoji="1" lang="en-US" altLang="zh-CN" dirty="0"/>
              <a:t>1/d</a:t>
            </a:r>
            <a:r>
              <a:rPr kumimoji="1" lang="zh-CN" altLang="en-US" dirty="0"/>
              <a:t>），后续的橙色游标分别表示二阶（</a:t>
            </a:r>
            <a:r>
              <a:rPr kumimoji="1" lang="en-US" altLang="zh-CN" dirty="0"/>
              <a:t>2/d</a:t>
            </a:r>
            <a:r>
              <a:rPr kumimoji="1" lang="zh-CN" altLang="en-US" dirty="0"/>
              <a:t>）、三阶（</a:t>
            </a:r>
            <a:r>
              <a:rPr kumimoji="1" lang="en-US" altLang="zh-CN" dirty="0"/>
              <a:t>3/d</a:t>
            </a:r>
            <a:r>
              <a:rPr kumimoji="1" lang="zh-CN" altLang="en-US" dirty="0"/>
              <a:t>）、四阶（</a:t>
            </a:r>
            <a:r>
              <a:rPr kumimoji="1" lang="en-US" altLang="zh-CN" dirty="0"/>
              <a:t>4/d</a:t>
            </a:r>
            <a:r>
              <a:rPr kumimoji="1" lang="zh-CN" altLang="en-US" dirty="0"/>
              <a:t>）等高阶反射位置</a:t>
            </a:r>
            <a:endParaRPr kumimoji="1" lang="en-US" altLang="zh-CN" dirty="0"/>
          </a:p>
          <a:p>
            <a:r>
              <a:rPr kumimoji="1" lang="en-US" altLang="ja-JP" dirty="0"/>
              <a:t>2</a:t>
            </a:r>
            <a:r>
              <a:rPr kumimoji="1" lang="en-US" altLang="zh-CN" dirty="0"/>
              <a:t>dsin</a:t>
            </a:r>
            <a:r>
              <a:rPr kumimoji="1" lang="en-US" altLang="ja-JP" dirty="0"/>
              <a:t>θ=</a:t>
            </a:r>
            <a:r>
              <a:rPr kumimoji="1" lang="en-US" altLang="zh-CN" dirty="0"/>
              <a:t>n</a:t>
            </a:r>
            <a:endParaRPr kumimoji="1" lang="ja-JP" altLang="en-US" dirty="0"/>
          </a:p>
        </p:txBody>
      </p:sp>
      <p:sp>
        <p:nvSpPr>
          <p:cNvPr id="4" name="スライド番号プレースホルダー 3"/>
          <p:cNvSpPr>
            <a:spLocks noGrp="1"/>
          </p:cNvSpPr>
          <p:nvPr>
            <p:ph type="sldNum" sz="quarter" idx="5"/>
          </p:nvPr>
        </p:nvSpPr>
        <p:spPr/>
        <p:txBody>
          <a:bodyPr/>
          <a:lstStyle/>
          <a:p>
            <a:fld id="{09480E5D-39F6-4F21-9D62-24BE8E9E0E37}" type="slidenum">
              <a:rPr kumimoji="1" lang="ja-JP" altLang="en-US" smtClean="0"/>
              <a:t>14</a:t>
            </a:fld>
            <a:endParaRPr kumimoji="1" lang="ja-JP" altLang="en-US"/>
          </a:p>
        </p:txBody>
      </p:sp>
    </p:spTree>
    <p:extLst>
      <p:ext uri="{BB962C8B-B14F-4D97-AF65-F5344CB8AC3E}">
        <p14:creationId xmlns:p14="http://schemas.microsoft.com/office/powerpoint/2010/main" val="105665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zh-CN" altLang="en-US" dirty="0"/>
              <a:t>新加了一个能通过</a:t>
            </a:r>
            <a:r>
              <a:rPr kumimoji="1" lang="en-US" altLang="zh-CN" dirty="0"/>
              <a:t>Z</a:t>
            </a:r>
            <a:r>
              <a:rPr kumimoji="1" lang="zh-CN" altLang="en-US" dirty="0"/>
              <a:t>扫描数据计算吸收因子的功能 </a:t>
            </a:r>
            <a:br>
              <a:rPr kumimoji="1" lang="en-US" altLang="zh-CN" dirty="0"/>
            </a:br>
            <a:r>
              <a:rPr kumimoji="1" lang="zh-CN" altLang="en-US" dirty="0"/>
              <a:t>在</a:t>
            </a:r>
            <a:r>
              <a:rPr kumimoji="1" lang="en-US" altLang="zh-CN" dirty="0" err="1"/>
              <a:t>PowderXRD</a:t>
            </a:r>
            <a:r>
              <a:rPr kumimoji="1" lang="zh-CN" altLang="en-US" dirty="0"/>
              <a:t>和</a:t>
            </a:r>
            <a:r>
              <a:rPr kumimoji="1" lang="en-US" altLang="zh-CN" dirty="0"/>
              <a:t>TXS</a:t>
            </a:r>
            <a:r>
              <a:rPr kumimoji="1" lang="zh-CN" altLang="en-US" dirty="0"/>
              <a:t>插件中，输入吸收系数的地方，可以使用测得的</a:t>
            </a:r>
            <a:r>
              <a:rPr kumimoji="1" lang="en-US" altLang="zh-CN" dirty="0"/>
              <a:t>z</a:t>
            </a:r>
            <a:r>
              <a:rPr kumimoji="1" lang="zh-CN" altLang="en-US" dirty="0"/>
              <a:t>扫描 来计算吸收系数。</a:t>
            </a:r>
            <a:br>
              <a:rPr kumimoji="1" lang="en-US" altLang="zh-CN" dirty="0"/>
            </a:br>
            <a:endParaRPr kumimoji="1" lang="en-US" altLang="zh-CN" dirty="0"/>
          </a:p>
          <a:p>
            <a:r>
              <a:rPr kumimoji="1" lang="en-US" altLang="zh-CN" dirty="0"/>
              <a:t>Blank data</a:t>
            </a:r>
            <a:r>
              <a:rPr kumimoji="1" lang="zh-CN" altLang="en-US" dirty="0"/>
              <a:t>是什么 因为样品放在毛细管中，所以</a:t>
            </a:r>
            <a:r>
              <a:rPr kumimoji="1" lang="en-US" altLang="zh-CN" dirty="0"/>
              <a:t>z</a:t>
            </a:r>
            <a:r>
              <a:rPr kumimoji="1" lang="zh-CN" altLang="en-US" dirty="0"/>
              <a:t>扫描数据测得的是毛细管</a:t>
            </a:r>
            <a:r>
              <a:rPr kumimoji="1" lang="en-US" altLang="zh-CN" dirty="0"/>
              <a:t>+</a:t>
            </a:r>
            <a:r>
              <a:rPr kumimoji="1" lang="zh-CN" altLang="en-US" dirty="0"/>
              <a:t>样品的吸收系数，这里把毛细管的影响去除</a:t>
            </a:r>
            <a:br>
              <a:rPr kumimoji="1" lang="en-US" altLang="zh-CN" dirty="0"/>
            </a:br>
            <a:r>
              <a:rPr kumimoji="1" lang="zh-CN" altLang="en-US" dirty="0"/>
              <a:t>使用</a:t>
            </a:r>
            <a:r>
              <a:rPr kumimoji="1" lang="en-US" altLang="zh-CN" dirty="0"/>
              <a:t>Z</a:t>
            </a:r>
            <a:r>
              <a:rPr kumimoji="1" lang="zh-CN" altLang="en-US" dirty="0"/>
              <a:t>扫描的数据计算吸收系数，</a:t>
            </a:r>
            <a:r>
              <a:rPr kumimoji="1" lang="en-US" altLang="ja-JP" dirty="0" err="1"/>
              <a:t>Mrsaxs</a:t>
            </a:r>
            <a:r>
              <a:rPr kumimoji="1" lang="zh-CN" altLang="en-US" dirty="0"/>
              <a:t>也需要。</a:t>
            </a:r>
            <a:endParaRPr kumimoji="1" lang="en-US" altLang="zh-CN" dirty="0"/>
          </a:p>
          <a:p>
            <a:r>
              <a:rPr kumimoji="1" lang="pl-PL" altLang="zh-CN" dirty="0"/>
              <a:t>μ = −ln(b/t) / (0.1 × w)</a:t>
            </a:r>
            <a:endParaRPr kumimoji="1" lang="en-US" altLang="zh-CN" dirty="0"/>
          </a:p>
          <a:p>
            <a:r>
              <a:rPr lang="ja-JP" altLang="ja-JP" sz="1200" b="1" i="0" kern="1200" dirty="0">
                <a:solidFill>
                  <a:schemeClr val="tx1"/>
                </a:solidFill>
                <a:effectLst/>
                <a:latin typeface="+mn-lt"/>
                <a:ea typeface="+mn-ea"/>
                <a:cs typeface="+mn-cs"/>
              </a:rPr>
              <a:t>w</a:t>
            </a:r>
            <a:r>
              <a:rPr lang="ja-JP" altLang="ja-JP" sz="1200" b="0" i="0" kern="1200" dirty="0">
                <a:solidFill>
                  <a:schemeClr val="tx1"/>
                </a:solidFill>
                <a:effectLst/>
                <a:latin typeface="+mn-lt"/>
                <a:ea typeface="+mn-ea"/>
                <a:cs typeface="+mn-cs"/>
              </a:rPr>
              <a:t>ピーク幅 (mm)</a:t>
            </a:r>
          </a:p>
          <a:p>
            <a:r>
              <a:rPr lang="ja-JP" altLang="ja-JP" sz="1200" b="1" i="0" kern="1200" dirty="0">
                <a:solidFill>
                  <a:schemeClr val="tx1"/>
                </a:solidFill>
                <a:effectLst/>
                <a:latin typeface="+mn-lt"/>
                <a:ea typeface="+mn-ea"/>
                <a:cs typeface="+mn-cs"/>
              </a:rPr>
              <a:t>t</a:t>
            </a:r>
            <a:r>
              <a:rPr lang="ja-JP" altLang="ja-JP" sz="1200" b="0" i="0" kern="1200" dirty="0">
                <a:solidFill>
                  <a:schemeClr val="tx1"/>
                </a:solidFill>
                <a:effectLst/>
                <a:latin typeface="+mn-lt"/>
                <a:ea typeface="+mn-ea"/>
                <a:cs typeface="+mn-cs"/>
              </a:rPr>
              <a:t>トップ（最大強度）</a:t>
            </a:r>
          </a:p>
          <a:p>
            <a:r>
              <a:rPr lang="ja-JP" altLang="ja-JP" sz="1200" b="1" i="0" kern="1200" dirty="0">
                <a:solidFill>
                  <a:schemeClr val="tx1"/>
                </a:solidFill>
                <a:effectLst/>
                <a:latin typeface="+mn-lt"/>
                <a:ea typeface="+mn-ea"/>
                <a:cs typeface="+mn-cs"/>
              </a:rPr>
              <a:t>b</a:t>
            </a:r>
            <a:r>
              <a:rPr lang="ja-JP" altLang="ja-JP" sz="1200" b="0" i="0" kern="1200" dirty="0">
                <a:solidFill>
                  <a:schemeClr val="tx1"/>
                </a:solidFill>
                <a:effectLst/>
                <a:latin typeface="+mn-lt"/>
                <a:ea typeface="+mn-ea"/>
                <a:cs typeface="+mn-cs"/>
              </a:rPr>
              <a:t>ボトム（最小強度・凹みの底）</a:t>
            </a:r>
          </a:p>
          <a:p>
            <a:endParaRPr kumimoji="1" lang="ja-JP" altLang="en-US" dirty="0"/>
          </a:p>
        </p:txBody>
      </p:sp>
      <p:sp>
        <p:nvSpPr>
          <p:cNvPr id="4" name="スライド番号プレースホルダー 3"/>
          <p:cNvSpPr>
            <a:spLocks noGrp="1"/>
          </p:cNvSpPr>
          <p:nvPr>
            <p:ph type="sldNum" sz="quarter" idx="5"/>
          </p:nvPr>
        </p:nvSpPr>
        <p:spPr/>
        <p:txBody>
          <a:bodyPr/>
          <a:lstStyle/>
          <a:p>
            <a:fld id="{09480E5D-39F6-4F21-9D62-24BE8E9E0E37}" type="slidenum">
              <a:rPr kumimoji="1" lang="ja-JP" altLang="en-US" smtClean="0"/>
              <a:t>16</a:t>
            </a:fld>
            <a:endParaRPr kumimoji="1" lang="ja-JP" altLang="en-US"/>
          </a:p>
        </p:txBody>
      </p:sp>
    </p:spTree>
    <p:extLst>
      <p:ext uri="{BB962C8B-B14F-4D97-AF65-F5344CB8AC3E}">
        <p14:creationId xmlns:p14="http://schemas.microsoft.com/office/powerpoint/2010/main" val="3684533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fld id="{B1AE3BB8-2B66-4C64-BE3E-84BDA3488222}" type="slidenum">
              <a:rPr lang="en-US" smtClean="0"/>
              <a:t>17</a:t>
            </a:fld>
            <a:endParaRPr lang="en-US"/>
          </a:p>
        </p:txBody>
      </p:sp>
    </p:spTree>
    <p:extLst>
      <p:ext uri="{BB962C8B-B14F-4D97-AF65-F5344CB8AC3E}">
        <p14:creationId xmlns:p14="http://schemas.microsoft.com/office/powerpoint/2010/main" val="907207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C3614-C27C-D419-24BA-98C3B4F447D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5892417-A9CD-644D-1F61-268F9971CAC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53FE0DC-CCE6-067C-6C0A-32493B8067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HRXRD</a:t>
            </a:r>
            <a:r>
              <a:rPr kumimoji="1" lang="zh-CN" altLang="en-US" dirty="0"/>
              <a:t>中显示超晶格光标功能，</a:t>
            </a:r>
            <a:r>
              <a:rPr lang="zh-CN" altLang="ja-JP" sz="1200" b="1" kern="1200" dirty="0">
                <a:solidFill>
                  <a:schemeClr val="tx1"/>
                </a:solidFill>
                <a:effectLst/>
                <a:latin typeface="+mn-lt"/>
                <a:ea typeface="+mn-ea"/>
                <a:cs typeface="+mn-cs"/>
              </a:rPr>
              <a:t>设置完超晶格的样品模型后，</a:t>
            </a:r>
            <a:r>
              <a:rPr lang="zh-CN" altLang="en-US" sz="1200" b="1" kern="1200" dirty="0">
                <a:solidFill>
                  <a:schemeClr val="tx1"/>
                </a:solidFill>
                <a:effectLst/>
                <a:latin typeface="+mn-lt"/>
                <a:ea typeface="+mn-ea"/>
                <a:cs typeface="+mn-cs"/>
              </a:rPr>
              <a:t>样品是一个超晶格样品。</a:t>
            </a:r>
            <a:r>
              <a:rPr lang="zh-CN" altLang="ja-JP" sz="1200" b="1" kern="1200" dirty="0">
                <a:solidFill>
                  <a:schemeClr val="tx1"/>
                </a:solidFill>
                <a:effectLst/>
                <a:latin typeface="+mn-lt"/>
                <a:ea typeface="+mn-ea"/>
                <a:cs typeface="+mn-cs"/>
              </a:rPr>
              <a:t>软件会根据输入的结构参数（如各层厚度、组成成分、周期数等）自动计算超晶格反射峰卫星峰的位置，并在图谱上以光标形式显示出来。</a:t>
            </a:r>
            <a:br>
              <a:rPr lang="en-US" altLang="ja-JP" sz="1200" b="1" kern="1200" dirty="0">
                <a:solidFill>
                  <a:schemeClr val="tx1"/>
                </a:solidFill>
                <a:effectLst/>
                <a:latin typeface="+mn-lt"/>
                <a:ea typeface="+mn-ea"/>
                <a:cs typeface="+mn-cs"/>
              </a:rPr>
            </a:br>
            <a:r>
              <a:rPr lang="zh-CN" altLang="ja-JP" sz="1200" b="1" kern="1200" dirty="0">
                <a:solidFill>
                  <a:schemeClr val="tx1"/>
                </a:solidFill>
                <a:effectLst/>
                <a:latin typeface="+mn-lt"/>
                <a:ea typeface="+mn-ea"/>
                <a:cs typeface="+mn-cs"/>
              </a:rPr>
              <a:t>这里</a:t>
            </a:r>
            <a:r>
              <a:rPr lang="en-US" altLang="ja-JP" sz="1200" b="1" kern="1200" dirty="0">
                <a:solidFill>
                  <a:schemeClr val="tx1"/>
                </a:solidFill>
                <a:effectLst/>
                <a:latin typeface="+mn-lt"/>
                <a:ea typeface="+mn-ea"/>
                <a:cs typeface="+mn-cs"/>
              </a:rPr>
              <a:t>0</a:t>
            </a:r>
            <a:r>
              <a:rPr lang="zh-CN" altLang="ja-JP" sz="1200" b="1" kern="1200" dirty="0">
                <a:solidFill>
                  <a:schemeClr val="tx1"/>
                </a:solidFill>
                <a:effectLst/>
                <a:latin typeface="+mn-lt"/>
                <a:ea typeface="+mn-ea"/>
                <a:cs typeface="+mn-cs"/>
              </a:rPr>
              <a:t>次峰，默认是软件根据这个超晶格组的信息计算出来的，</a:t>
            </a:r>
            <a:r>
              <a:rPr kumimoji="1" lang="zh-CN" altLang="en-US" dirty="0"/>
              <a:t>大概就是平均组成，</a:t>
            </a:r>
            <a:r>
              <a:rPr lang="zh-CN" altLang="ja-JP" sz="1200" b="1" kern="1200" dirty="0">
                <a:solidFill>
                  <a:schemeClr val="tx1"/>
                </a:solidFill>
                <a:effectLst/>
                <a:latin typeface="+mn-lt"/>
                <a:ea typeface="+mn-ea"/>
                <a:cs typeface="+mn-cs"/>
              </a:rPr>
              <a:t>如果要手动修正的话也可以修正。</a:t>
            </a:r>
            <a:endParaRPr lang="ja-JP" altLang="ja-JP" sz="1200" kern="1200" dirty="0">
              <a:solidFill>
                <a:schemeClr val="tx1"/>
              </a:solidFill>
              <a:effectLst/>
              <a:latin typeface="+mn-lt"/>
              <a:ea typeface="+mn-ea"/>
              <a:cs typeface="+mn-cs"/>
            </a:endParaRPr>
          </a:p>
          <a:p>
            <a:endParaRPr kumimoji="1" lang="ja-JP" altLang="en-US" dirty="0"/>
          </a:p>
        </p:txBody>
      </p:sp>
      <p:sp>
        <p:nvSpPr>
          <p:cNvPr id="4" name="スライド番号プレースホルダー 3">
            <a:extLst>
              <a:ext uri="{FF2B5EF4-FFF2-40B4-BE49-F238E27FC236}">
                <a16:creationId xmlns:a16="http://schemas.microsoft.com/office/drawing/2014/main" id="{4B70EB97-E4BE-9BA7-8E6E-FA1439728D85}"/>
              </a:ext>
            </a:extLst>
          </p:cNvPr>
          <p:cNvSpPr>
            <a:spLocks noGrp="1"/>
          </p:cNvSpPr>
          <p:nvPr>
            <p:ph type="sldNum" sz="quarter" idx="5"/>
          </p:nvPr>
        </p:nvSpPr>
        <p:spPr/>
        <p:txBody>
          <a:bodyPr/>
          <a:lstStyle/>
          <a:p>
            <a:fld id="{09480E5D-39F6-4F21-9D62-24BE8E9E0E37}" type="slidenum">
              <a:rPr kumimoji="1" lang="ja-JP" altLang="en-US" smtClean="0"/>
              <a:t>18</a:t>
            </a:fld>
            <a:endParaRPr kumimoji="1" lang="ja-JP" altLang="en-US"/>
          </a:p>
        </p:txBody>
      </p:sp>
    </p:spTree>
    <p:extLst>
      <p:ext uri="{BB962C8B-B14F-4D97-AF65-F5344CB8AC3E}">
        <p14:creationId xmlns:p14="http://schemas.microsoft.com/office/powerpoint/2010/main" val="2055453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73CA3-852F-B2EB-0A5F-0D41716574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B4C3A7-2F65-408F-47BE-0E3993831D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65E5CE-6BB9-28D3-985C-6206B4818C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26E49AA-6E68-30AE-37AD-3F9004940933}"/>
              </a:ext>
            </a:extLst>
          </p:cNvPr>
          <p:cNvSpPr>
            <a:spLocks noGrp="1"/>
          </p:cNvSpPr>
          <p:nvPr>
            <p:ph type="sldNum" sz="quarter" idx="5"/>
          </p:nvPr>
        </p:nvSpPr>
        <p:spPr/>
        <p:txBody>
          <a:bodyPr/>
          <a:lstStyle/>
          <a:p>
            <a:fld id="{09480E5D-39F6-4F21-9D62-24BE8E9E0E37}" type="slidenum">
              <a:rPr kumimoji="1" lang="ja-JP" altLang="en-US" smtClean="0"/>
              <a:t>20</a:t>
            </a:fld>
            <a:endParaRPr kumimoji="1" lang="ja-JP" altLang="en-US"/>
          </a:p>
        </p:txBody>
      </p:sp>
    </p:spTree>
    <p:extLst>
      <p:ext uri="{BB962C8B-B14F-4D97-AF65-F5344CB8AC3E}">
        <p14:creationId xmlns:p14="http://schemas.microsoft.com/office/powerpoint/2010/main" val="13018607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zh-CN" dirty="0"/>
              <a:t>HRXRD</a:t>
            </a:r>
            <a:r>
              <a:rPr kumimoji="1" lang="zh-CN" altLang="en-US" dirty="0"/>
              <a:t>中的</a:t>
            </a:r>
            <a:r>
              <a:rPr lang="en-US" altLang="zh-CN" sz="1200" dirty="0">
                <a:latin typeface="+mn-ea"/>
                <a:ea typeface="+mn-ea"/>
              </a:rPr>
              <a:t>Resolution function display</a:t>
            </a:r>
            <a:r>
              <a:rPr lang="zh-CN" altLang="en-US" sz="1200" dirty="0">
                <a:latin typeface="+mn-ea"/>
                <a:ea typeface="+mn-ea"/>
              </a:rPr>
              <a:t> </a:t>
            </a:r>
            <a:r>
              <a:rPr lang="en-US" altLang="zh-CN" sz="1200" dirty="0">
                <a:latin typeface="+mn-ea"/>
                <a:ea typeface="+mn-ea"/>
              </a:rPr>
              <a:t>,</a:t>
            </a:r>
            <a:r>
              <a:rPr kumimoji="1" lang="en-US" altLang="zh-CN" dirty="0" err="1"/>
              <a:t>RSViewer</a:t>
            </a:r>
            <a:r>
              <a:rPr kumimoji="1" lang="zh-CN" altLang="en-US" dirty="0"/>
              <a:t>功能中，显示分辨率函数这样一个功能。不同的单色器在不同的</a:t>
            </a:r>
            <a:r>
              <a:rPr kumimoji="1" lang="en-US" altLang="zh-CN" dirty="0"/>
              <a:t>theta</a:t>
            </a:r>
            <a:r>
              <a:rPr kumimoji="1" lang="zh-CN" altLang="en-US" dirty="0"/>
              <a:t>角度他的分辨率不一样。在测试之前，选定</a:t>
            </a:r>
            <a:r>
              <a:rPr kumimoji="1" lang="en-US" altLang="zh-CN" dirty="0"/>
              <a:t>2theta</a:t>
            </a:r>
            <a:r>
              <a:rPr kumimoji="1" lang="zh-CN" altLang="en-US" dirty="0"/>
              <a:t>角度之后，可以看一下这个分辨率的曲线 参考这个曲线来决定使用哪个单色器。</a:t>
            </a:r>
            <a:endParaRPr kumimoji="1" lang="ja-JP" altLang="en-US" dirty="0"/>
          </a:p>
        </p:txBody>
      </p:sp>
      <p:sp>
        <p:nvSpPr>
          <p:cNvPr id="4" name="スライド番号プレースホルダー 3"/>
          <p:cNvSpPr>
            <a:spLocks noGrp="1"/>
          </p:cNvSpPr>
          <p:nvPr>
            <p:ph type="sldNum" sz="quarter" idx="5"/>
          </p:nvPr>
        </p:nvSpPr>
        <p:spPr/>
        <p:txBody>
          <a:bodyPr/>
          <a:lstStyle/>
          <a:p>
            <a:fld id="{92454AF5-8656-4AA3-BDC7-44F7F11F6C52}" type="slidenum">
              <a:rPr kumimoji="1" lang="ja-JP" altLang="en-US" smtClean="0"/>
              <a:t>21</a:t>
            </a:fld>
            <a:endParaRPr kumimoji="1" lang="ja-JP" altLang="en-US"/>
          </a:p>
        </p:txBody>
      </p:sp>
    </p:spTree>
    <p:extLst>
      <p:ext uri="{BB962C8B-B14F-4D97-AF65-F5344CB8AC3E}">
        <p14:creationId xmlns:p14="http://schemas.microsoft.com/office/powerpoint/2010/main" val="202113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652F-02B9-FCE5-0829-49262B2BD9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C907C1D-310A-6CFD-6465-C050DD09E18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B401C31-8087-D833-47DF-77A9D4DDF17A}"/>
              </a:ext>
            </a:extLst>
          </p:cNvPr>
          <p:cNvSpPr>
            <a:spLocks noGrp="1"/>
          </p:cNvSpPr>
          <p:nvPr>
            <p:ph type="body" idx="1"/>
          </p:nvPr>
        </p:nvSpPr>
        <p:spPr/>
        <p:txBody>
          <a:bodyPr/>
          <a:lstStyle/>
          <a:p>
            <a:r>
              <a:rPr kumimoji="1" lang="en-US" altLang="zh-CN" dirty="0"/>
              <a:t>HRXRD</a:t>
            </a:r>
            <a:r>
              <a:rPr kumimoji="1" lang="zh-CN" altLang="en-US" dirty="0"/>
              <a:t>的错配</a:t>
            </a:r>
            <a:r>
              <a:rPr kumimoji="1" lang="en-US" altLang="zh-CN" dirty="0"/>
              <a:t>z</a:t>
            </a:r>
            <a:r>
              <a:rPr kumimoji="1" lang="zh-CN" altLang="en-US" dirty="0"/>
              <a:t>功能，</a:t>
            </a:r>
            <a:br>
              <a:rPr kumimoji="1" lang="en-US" altLang="zh-CN" dirty="0"/>
            </a:br>
            <a:r>
              <a:rPr kumimoji="1" lang="ja-JP" altLang="en-US" dirty="0"/>
              <a:t>在 </a:t>
            </a:r>
            <a:r>
              <a:rPr kumimoji="1" lang="en-US" altLang="zh-CN" dirty="0"/>
              <a:t>HRXRD </a:t>
            </a:r>
            <a:r>
              <a:rPr kumimoji="1" lang="ja-JP" altLang="en-US" dirty="0"/>
              <a:t>插件中，可以显示 </a:t>
            </a:r>
            <a:r>
              <a:rPr kumimoji="1" lang="en-US" altLang="zh-CN" dirty="0"/>
              <a:t>Mismatch Z</a:t>
            </a:r>
            <a:r>
              <a:rPr kumimoji="1" lang="zh-CN" altLang="en-US" dirty="0"/>
              <a:t>（</a:t>
            </a:r>
            <a:r>
              <a:rPr kumimoji="1" lang="en-US" altLang="zh-CN" dirty="0"/>
              <a:t>Z</a:t>
            </a:r>
            <a:r>
              <a:rPr kumimoji="1" lang="ja-JP" altLang="en-US" dirty="0"/>
              <a:t>方向晶格失配率）</a:t>
            </a:r>
            <a:r>
              <a:rPr kumimoji="1" lang="zh-CN" altLang="en-US" dirty="0"/>
              <a:t>晶面间距相对差异</a:t>
            </a:r>
            <a:r>
              <a:rPr kumimoji="1" lang="ja-JP" altLang="en-US" dirty="0"/>
              <a:t>信息。在样品参数（</a:t>
            </a:r>
            <a:r>
              <a:rPr kumimoji="1" lang="en-US" altLang="zh-CN" dirty="0"/>
              <a:t>Sample Parameters</a:t>
            </a:r>
            <a:r>
              <a:rPr kumimoji="1" lang="zh-CN" altLang="en-US" dirty="0"/>
              <a:t>）的列中显示</a:t>
            </a:r>
            <a:r>
              <a:rPr kumimoji="1" lang="ja-JP" altLang="en-US" dirty="0"/>
              <a:t>，</a:t>
            </a:r>
            <a:r>
              <a:rPr kumimoji="1" lang="zh-CN" altLang="en-US" dirty="0"/>
              <a:t>如果显示不出来的话，对</a:t>
            </a:r>
            <a:r>
              <a:rPr kumimoji="1" lang="en-US" altLang="zh-CN" dirty="0" err="1"/>
              <a:t>MismatchZ</a:t>
            </a:r>
            <a:r>
              <a:rPr kumimoji="1" lang="zh-CN" altLang="en-US" dirty="0"/>
              <a:t>这个列</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n-lt"/>
                <a:ea typeface="+mn-ea"/>
                <a:cs typeface="+mn-cs"/>
              </a:rPr>
              <a:t>Mismatch Z 表示当前层与参考层（</a:t>
            </a:r>
            <a:r>
              <a:rPr lang="zh-CN" altLang="en-US" sz="1200" b="0" i="0" kern="1200" dirty="0">
                <a:solidFill>
                  <a:schemeClr val="tx1"/>
                </a:solidFill>
                <a:effectLst/>
                <a:latin typeface="+mn-lt"/>
                <a:ea typeface="+mn-ea"/>
                <a:cs typeface="+mn-cs"/>
              </a:rPr>
              <a:t>紧邻的</a:t>
            </a:r>
            <a:r>
              <a:rPr lang="ja-JP" altLang="ja-JP" sz="1200" b="0" i="0" kern="1200" dirty="0">
                <a:solidFill>
                  <a:schemeClr val="tx1"/>
                </a:solidFill>
                <a:effectLst/>
                <a:latin typeface="+mn-lt"/>
                <a:ea typeface="+mn-ea"/>
                <a:cs typeface="+mn-cs"/>
              </a:rPr>
              <a:t>下</a:t>
            </a:r>
            <a:r>
              <a:rPr lang="zh-CN" altLang="en-US" sz="1200" b="0" i="0" kern="1200" dirty="0">
                <a:solidFill>
                  <a:schemeClr val="tx1"/>
                </a:solidFill>
                <a:effectLst/>
                <a:latin typeface="+mn-lt"/>
                <a:ea typeface="+mn-ea"/>
                <a:cs typeface="+mn-cs"/>
              </a:rPr>
              <a:t>面的一</a:t>
            </a:r>
            <a:r>
              <a:rPr lang="ja-JP" altLang="ja-JP" sz="1200" b="0" i="0" kern="1200" dirty="0">
                <a:solidFill>
                  <a:schemeClr val="tx1"/>
                </a:solidFill>
                <a:effectLst/>
                <a:latin typeface="+mn-lt"/>
                <a:ea typeface="+mn-ea"/>
                <a:cs typeface="+mn-cs"/>
              </a:rPr>
              <a:t>层或衬底）之间的晶面间距相对差异</a:t>
            </a:r>
          </a:p>
          <a:p>
            <a:r>
              <a:rPr kumimoji="1" lang="ja-JP" altLang="en-US" dirty="0"/>
              <a:t>	</a:t>
            </a:r>
            <a:r>
              <a:rPr kumimoji="1" lang="en-US" altLang="ja-JP" dirty="0"/>
              <a:t>(</a:t>
            </a:r>
            <a:r>
              <a:rPr kumimoji="1" lang="ja-JP" altLang="en-US" dirty="0"/>
              <a:t>基板</a:t>
            </a:r>
            <a:r>
              <a:rPr kumimoji="1" lang="en-US" altLang="ja-JP" dirty="0"/>
              <a:t>/</a:t>
            </a:r>
            <a:r>
              <a:rPr kumimoji="1" lang="ja-JP" altLang="en-US" dirty="0"/>
              <a:t>直下層の</a:t>
            </a:r>
            <a:r>
              <a:rPr kumimoji="1" lang="en-US" altLang="ja-JP" dirty="0"/>
              <a:t>d – </a:t>
            </a:r>
            <a:r>
              <a:rPr kumimoji="1" lang="ja-JP" altLang="en-US" dirty="0"/>
              <a:t>対象層の</a:t>
            </a:r>
            <a:r>
              <a:rPr kumimoji="1" lang="en-US" altLang="ja-JP" dirty="0"/>
              <a:t>d) ÷ </a:t>
            </a:r>
            <a:r>
              <a:rPr kumimoji="1" lang="ja-JP" altLang="en-US" dirty="0"/>
              <a:t>基板</a:t>
            </a:r>
            <a:r>
              <a:rPr kumimoji="1" lang="en-US" altLang="ja-JP" dirty="0"/>
              <a:t>/</a:t>
            </a:r>
            <a:r>
              <a:rPr kumimoji="1" lang="ja-JP" altLang="en-US" dirty="0"/>
              <a:t>直下層の</a:t>
            </a:r>
            <a:r>
              <a:rPr kumimoji="1" lang="en-US" altLang="ja-JP" dirty="0"/>
              <a:t>d</a:t>
            </a:r>
            <a:br>
              <a:rPr kumimoji="1" lang="en-US" altLang="zh-CN" dirty="0"/>
            </a:br>
            <a:r>
              <a:rPr kumimoji="1" lang="zh-CN" altLang="en-US" dirty="0"/>
              <a:t>在选项里 可以设置这个，是基于下面一层还是基于衬底</a:t>
            </a:r>
            <a:endParaRPr kumimoji="1" lang="en-US" altLang="zh-CN" dirty="0"/>
          </a:p>
          <a:p>
            <a:endParaRPr kumimoji="1" lang="en-US" altLang="ja-JP" dirty="0"/>
          </a:p>
          <a:p>
            <a:r>
              <a:rPr kumimoji="1" lang="zh-CN" altLang="en-US" dirty="0"/>
              <a:t>原来不存在</a:t>
            </a:r>
            <a:r>
              <a:rPr kumimoji="1" lang="en-US" altLang="zh-CN" dirty="0" err="1"/>
              <a:t>mismatchZ</a:t>
            </a:r>
            <a:r>
              <a:rPr kumimoji="1" lang="en-US" altLang="zh-CN" dirty="0"/>
              <a:t> </a:t>
            </a:r>
            <a:r>
              <a:rPr kumimoji="1" lang="zh-CN" altLang="en-US" dirty="0"/>
              <a:t>是用的</a:t>
            </a:r>
            <a:r>
              <a:rPr kumimoji="1" lang="en-US" altLang="zh-CN" dirty="0" err="1"/>
              <a:t>strainz</a:t>
            </a:r>
            <a:r>
              <a:rPr kumimoji="1" lang="en-US" altLang="zh-CN" dirty="0"/>
              <a:t> </a:t>
            </a:r>
            <a:r>
              <a:rPr kumimoji="1" lang="en-US" altLang="zh-CN" dirty="0" err="1"/>
              <a:t>strainz</a:t>
            </a:r>
            <a:r>
              <a:rPr kumimoji="1" lang="zh-CN" altLang="en-US" dirty="0"/>
              <a:t>的公式是</a:t>
            </a:r>
            <a:r>
              <a:rPr kumimoji="1" lang="en-US" altLang="zh-CN" dirty="0"/>
              <a:t>.. </a:t>
            </a:r>
            <a:r>
              <a:rPr kumimoji="1" lang="zh-CN" altLang="en-US" dirty="0"/>
              <a:t>只和自己比较 无法和下面层以及衬底进行比较，</a:t>
            </a:r>
            <a:endParaRPr kumimoji="1" lang="en-US" altLang="zh-CN" dirty="0"/>
          </a:p>
          <a:p>
            <a:endParaRPr kumimoji="1" lang="en-US" altLang="ja-JP" dirty="0"/>
          </a:p>
          <a:p>
            <a:r>
              <a:rPr kumimoji="1" lang="en-US" altLang="zh-CN" dirty="0"/>
              <a:t>Q1 </a:t>
            </a:r>
            <a:r>
              <a:rPr kumimoji="1" lang="en-US" altLang="zh-CN" dirty="0" err="1"/>
              <a:t>mismatchZ</a:t>
            </a:r>
            <a:r>
              <a:rPr kumimoji="1" lang="zh-CN" altLang="en-US" dirty="0"/>
              <a:t>，</a:t>
            </a:r>
            <a:r>
              <a:rPr kumimoji="1" lang="en-US" altLang="zh-CN" dirty="0" err="1"/>
              <a:t>strainZ</a:t>
            </a:r>
            <a:r>
              <a:rPr kumimoji="1" lang="zh-CN" altLang="en-US" dirty="0"/>
              <a:t>，弛豫度的关系是什么？</a:t>
            </a:r>
            <a:endParaRPr kumimoji="1" lang="en-US" altLang="zh-CN" dirty="0"/>
          </a:p>
          <a:p>
            <a:r>
              <a:rPr kumimoji="1" lang="en-US" altLang="zh-CN" dirty="0" err="1"/>
              <a:t>StrainZ</a:t>
            </a:r>
            <a:r>
              <a:rPr kumimoji="1" lang="ja-JP" altLang="en-US" dirty="0"/>
              <a:t>自材料が本来持つ格子定数からどれだけ変形したか </a:t>
            </a:r>
            <a:r>
              <a:rPr kumimoji="1" lang="en-US" altLang="zh-CN" dirty="0"/>
              <a:t>mismatch</a:t>
            </a:r>
            <a:r>
              <a:rPr kumimoji="1" lang="zh-CN" altLang="en-US" dirty="0"/>
              <a:t>是和下面一层或衬底相比有多大的差距</a:t>
            </a:r>
            <a:endParaRPr kumimoji="1" lang="en-US" altLang="zh-CN" dirty="0"/>
          </a:p>
          <a:p>
            <a:r>
              <a:rPr kumimoji="1" lang="zh-CN" altLang="en-US" dirty="0"/>
              <a:t>弛豫度是相对于下面一层的 如果是</a:t>
            </a:r>
            <a:r>
              <a:rPr kumimoji="1" lang="en-US" altLang="zh-CN" dirty="0"/>
              <a:t>0</a:t>
            </a:r>
            <a:r>
              <a:rPr kumimoji="1" lang="zh-CN" altLang="en-US" dirty="0"/>
              <a:t>则完全放开 </a:t>
            </a:r>
            <a:r>
              <a:rPr kumimoji="1" lang="en-US" altLang="zh-CN" dirty="0"/>
              <a:t>100</a:t>
            </a:r>
            <a:r>
              <a:rPr kumimoji="1" lang="zh-CN" altLang="en-US" dirty="0"/>
              <a:t>则与下面一层晶格常数相同 弛豫度没有</a:t>
            </a:r>
            <a:r>
              <a:rPr kumimoji="1" lang="en-US" altLang="zh-CN" dirty="0"/>
              <a:t>z</a:t>
            </a:r>
            <a:r>
              <a:rPr kumimoji="1" lang="zh-CN" altLang="en-US" dirty="0"/>
              <a:t>的概念 只有</a:t>
            </a:r>
            <a:r>
              <a:rPr kumimoji="1" lang="en-US" altLang="zh-CN" dirty="0" err="1"/>
              <a:t>xy</a:t>
            </a:r>
            <a:r>
              <a:rPr kumimoji="1" lang="en-US" altLang="zh-CN" dirty="0"/>
              <a:t> </a:t>
            </a:r>
          </a:p>
          <a:p>
            <a:endParaRPr kumimoji="1" lang="ja-JP" altLang="en-US" dirty="0"/>
          </a:p>
        </p:txBody>
      </p:sp>
      <p:sp>
        <p:nvSpPr>
          <p:cNvPr id="4" name="スライド番号プレースホルダー 3">
            <a:extLst>
              <a:ext uri="{FF2B5EF4-FFF2-40B4-BE49-F238E27FC236}">
                <a16:creationId xmlns:a16="http://schemas.microsoft.com/office/drawing/2014/main" id="{0F0C1FE2-82A1-A373-6986-F9AAA15483A0}"/>
              </a:ext>
            </a:extLst>
          </p:cNvPr>
          <p:cNvSpPr>
            <a:spLocks noGrp="1"/>
          </p:cNvSpPr>
          <p:nvPr>
            <p:ph type="sldNum" sz="quarter" idx="5"/>
          </p:nvPr>
        </p:nvSpPr>
        <p:spPr/>
        <p:txBody>
          <a:bodyPr/>
          <a:lstStyle/>
          <a:p>
            <a:fld id="{92454AF5-8656-4AA3-BDC7-44F7F11F6C52}" type="slidenum">
              <a:rPr kumimoji="1" lang="ja-JP" altLang="en-US" smtClean="0"/>
              <a:t>22</a:t>
            </a:fld>
            <a:endParaRPr kumimoji="1" lang="ja-JP" altLang="en-US"/>
          </a:p>
        </p:txBody>
      </p:sp>
    </p:spTree>
    <p:extLst>
      <p:ext uri="{BB962C8B-B14F-4D97-AF65-F5344CB8AC3E}">
        <p14:creationId xmlns:p14="http://schemas.microsoft.com/office/powerpoint/2010/main" val="2852335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BEDEE-34AB-2013-F7EF-7690A2D0BDD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306F17A-7D24-E59E-43B4-DA52F2387B1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D21D41-12A2-092C-4827-D43B650072E9}"/>
              </a:ext>
            </a:extLst>
          </p:cNvPr>
          <p:cNvSpPr>
            <a:spLocks noGrp="1"/>
          </p:cNvSpPr>
          <p:nvPr>
            <p:ph type="body" idx="1"/>
          </p:nvPr>
        </p:nvSpPr>
        <p:spPr/>
        <p:txBody>
          <a:bodyPr/>
          <a:lstStyle/>
          <a:p>
            <a:r>
              <a:rPr kumimoji="1" lang="en-US" altLang="ja-JP" dirty="0"/>
              <a:t>XRR</a:t>
            </a:r>
            <a:r>
              <a:rPr kumimoji="1" lang="zh-CN" altLang="en-US" dirty="0"/>
              <a:t>和</a:t>
            </a:r>
            <a:r>
              <a:rPr kumimoji="1" lang="en-US" altLang="zh-CN" dirty="0"/>
              <a:t>HRXRD</a:t>
            </a:r>
            <a:r>
              <a:rPr kumimoji="1" lang="zh-CN" altLang="en-US" dirty="0"/>
              <a:t>中 加入了</a:t>
            </a:r>
            <a:r>
              <a:rPr kumimoji="1" lang="en-US" altLang="zh-CN" dirty="0" err="1"/>
              <a:t>MultidataFit</a:t>
            </a:r>
            <a:br>
              <a:rPr kumimoji="1" lang="en-US" altLang="zh-CN" dirty="0"/>
            </a:br>
            <a:r>
              <a:rPr lang="zh-CN" altLang="ja-JP" sz="1200" kern="1200" dirty="0">
                <a:solidFill>
                  <a:schemeClr val="tx1"/>
                </a:solidFill>
                <a:effectLst/>
                <a:latin typeface="+mn-lt"/>
                <a:ea typeface="+mn-ea"/>
                <a:cs typeface="+mn-cs"/>
              </a:rPr>
              <a:t>有</a:t>
            </a:r>
            <a:r>
              <a:rPr lang="en-US" altLang="ja-JP" sz="1200" kern="1200" dirty="0">
                <a:solidFill>
                  <a:schemeClr val="tx1"/>
                </a:solidFill>
                <a:effectLst/>
                <a:latin typeface="+mn-lt"/>
                <a:ea typeface="+mn-ea"/>
                <a:cs typeface="+mn-cs"/>
              </a:rPr>
              <a:t>WPPF for Multiple Data</a:t>
            </a:r>
            <a:r>
              <a:rPr lang="zh-CN" altLang="ja-JP" sz="1200" kern="1200" dirty="0">
                <a:solidFill>
                  <a:schemeClr val="tx1"/>
                </a:solidFill>
                <a:effectLst/>
                <a:latin typeface="+mn-lt"/>
                <a:ea typeface="+mn-ea"/>
                <a:cs typeface="+mn-cs"/>
              </a:rPr>
              <a:t>这种可以同时处理多个数据的</a:t>
            </a:r>
            <a:r>
              <a:rPr lang="en-US" altLang="ja-JP" sz="1200" kern="1200" dirty="0">
                <a:solidFill>
                  <a:schemeClr val="tx1"/>
                </a:solidFill>
                <a:effectLst/>
                <a:latin typeface="+mn-lt"/>
                <a:ea typeface="+mn-ea"/>
                <a:cs typeface="+mn-cs"/>
              </a:rPr>
              <a:t>flow bar</a:t>
            </a:r>
            <a:r>
              <a:rPr lang="zh-CN" altLang="ja-JP" sz="1200" kern="1200" dirty="0">
                <a:solidFill>
                  <a:schemeClr val="tx1"/>
                </a:solidFill>
                <a:effectLst/>
                <a:latin typeface="+mn-lt"/>
                <a:ea typeface="+mn-ea"/>
                <a:cs typeface="+mn-cs"/>
              </a:rPr>
              <a:t>，很方便，在</a:t>
            </a:r>
            <a:r>
              <a:rPr lang="en-US" altLang="ja-JP" sz="1200" kern="1200" dirty="0">
                <a:solidFill>
                  <a:schemeClr val="tx1"/>
                </a:solidFill>
                <a:effectLst/>
                <a:latin typeface="+mn-lt"/>
                <a:ea typeface="+mn-ea"/>
                <a:cs typeface="+mn-cs"/>
              </a:rPr>
              <a:t>HRXRD</a:t>
            </a:r>
            <a:r>
              <a:rPr lang="zh-CN" altLang="ja-JP" sz="1200" kern="1200" dirty="0">
                <a:solidFill>
                  <a:schemeClr val="tx1"/>
                </a:solidFill>
                <a:effectLst/>
                <a:latin typeface="+mn-lt"/>
                <a:ea typeface="+mn-ea"/>
                <a:cs typeface="+mn-cs"/>
              </a:rPr>
              <a:t>和</a:t>
            </a:r>
            <a:r>
              <a:rPr lang="en-US" altLang="ja-JP" sz="1200" kern="1200" dirty="0">
                <a:solidFill>
                  <a:schemeClr val="tx1"/>
                </a:solidFill>
                <a:effectLst/>
                <a:latin typeface="+mn-lt"/>
                <a:ea typeface="+mn-ea"/>
                <a:cs typeface="+mn-cs"/>
              </a:rPr>
              <a:t>XRR</a:t>
            </a:r>
            <a:r>
              <a:rPr lang="zh-CN" altLang="ja-JP" sz="1200" kern="1200" dirty="0">
                <a:solidFill>
                  <a:schemeClr val="tx1"/>
                </a:solidFill>
                <a:effectLst/>
                <a:latin typeface="+mn-lt"/>
                <a:ea typeface="+mn-ea"/>
                <a:cs typeface="+mn-cs"/>
              </a:rPr>
              <a:t>里也加了这种可以处理多个数据的功能 </a:t>
            </a:r>
            <a:r>
              <a:rPr lang="en-US" altLang="ja-JP" sz="1200" kern="1200" dirty="0">
                <a:solidFill>
                  <a:schemeClr val="tx1"/>
                </a:solidFill>
                <a:effectLst/>
                <a:latin typeface="+mn-lt"/>
                <a:ea typeface="+mn-ea"/>
                <a:cs typeface="+mn-cs"/>
              </a:rPr>
              <a:t>Multidata Fit</a:t>
            </a:r>
            <a:br>
              <a:rPr kumimoji="1" lang="en-US" altLang="zh-CN" dirty="0"/>
            </a:br>
            <a:r>
              <a:rPr kumimoji="1" lang="zh-CN" altLang="en-US" dirty="0"/>
              <a:t>振动解析 </a:t>
            </a:r>
            <a:r>
              <a:rPr kumimoji="1" lang="en-US" altLang="zh-CN" dirty="0"/>
              <a:t>= </a:t>
            </a:r>
            <a:r>
              <a:rPr kumimoji="1" lang="zh-CN" altLang="en-US" dirty="0"/>
              <a:t>快速估算初始结构</a:t>
            </a:r>
            <a:br>
              <a:rPr kumimoji="1" lang="en-US" altLang="zh-CN" dirty="0"/>
            </a:br>
            <a:r>
              <a:rPr kumimoji="1" lang="en-US" altLang="zh-CN" dirty="0"/>
              <a:t>Fit = </a:t>
            </a:r>
            <a:r>
              <a:rPr kumimoji="1" lang="zh-CN" altLang="en-US" dirty="0"/>
              <a:t>精确求解最终结构</a:t>
            </a:r>
            <a:endParaRPr kumimoji="1" lang="ja-JP" altLang="en-US" dirty="0"/>
          </a:p>
        </p:txBody>
      </p:sp>
      <p:sp>
        <p:nvSpPr>
          <p:cNvPr id="4" name="スライド番号プレースホルダー 3">
            <a:extLst>
              <a:ext uri="{FF2B5EF4-FFF2-40B4-BE49-F238E27FC236}">
                <a16:creationId xmlns:a16="http://schemas.microsoft.com/office/drawing/2014/main" id="{6034160A-A5E8-6F4B-9EE4-2A08992C7369}"/>
              </a:ext>
            </a:extLst>
          </p:cNvPr>
          <p:cNvSpPr>
            <a:spLocks noGrp="1"/>
          </p:cNvSpPr>
          <p:nvPr>
            <p:ph type="sldNum" sz="quarter" idx="5"/>
          </p:nvPr>
        </p:nvSpPr>
        <p:spPr/>
        <p:txBody>
          <a:bodyPr/>
          <a:lstStyle/>
          <a:p>
            <a:fld id="{92454AF5-8656-4AA3-BDC7-44F7F11F6C52}" type="slidenum">
              <a:rPr kumimoji="1" lang="ja-JP" altLang="en-US" smtClean="0"/>
              <a:t>23</a:t>
            </a:fld>
            <a:endParaRPr kumimoji="1" lang="ja-JP" altLang="en-US"/>
          </a:p>
        </p:txBody>
      </p:sp>
    </p:spTree>
    <p:extLst>
      <p:ext uri="{BB962C8B-B14F-4D97-AF65-F5344CB8AC3E}">
        <p14:creationId xmlns:p14="http://schemas.microsoft.com/office/powerpoint/2010/main" val="800732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zh-CN" altLang="en-US" dirty="0"/>
              <a:t>可以将极图保存为</a:t>
            </a:r>
            <a:r>
              <a:rPr kumimoji="1" lang="en-US" altLang="zh-CN" dirty="0" err="1"/>
              <a:t>rasx</a:t>
            </a:r>
            <a:r>
              <a:rPr kumimoji="1" lang="zh-CN" altLang="en-US" dirty="0"/>
              <a:t>文件</a:t>
            </a:r>
            <a:br>
              <a:rPr kumimoji="1" lang="en-US" altLang="zh-CN" dirty="0"/>
            </a:br>
            <a:r>
              <a:rPr kumimoji="1" lang="zh-CN" altLang="en-US"/>
              <a:t>这个应用场景是什么呢？过</a:t>
            </a:r>
            <a:r>
              <a:rPr kumimoji="1" lang="zh-CN" altLang="en-US" dirty="0"/>
              <a:t>去</a:t>
            </a:r>
            <a:r>
              <a:rPr kumimoji="1" lang="en-US" altLang="zh-CN" dirty="0"/>
              <a:t>2D</a:t>
            </a:r>
            <a:r>
              <a:rPr kumimoji="1" lang="zh-CN" altLang="en-US" dirty="0"/>
              <a:t>数据生成极图后</a:t>
            </a:r>
            <a:r>
              <a:rPr kumimoji="1" lang="en-US" altLang="zh-CN" dirty="0"/>
              <a:t>,</a:t>
            </a:r>
            <a:r>
              <a:rPr kumimoji="1" lang="zh-CN" altLang="en-US" dirty="0"/>
              <a:t>要是保存的话 只能保存成</a:t>
            </a:r>
            <a:r>
              <a:rPr kumimoji="1" lang="en-US" altLang="zh-CN" dirty="0"/>
              <a:t>csv</a:t>
            </a:r>
            <a:r>
              <a:rPr kumimoji="1" lang="zh-CN" altLang="en-US" dirty="0"/>
              <a:t>和</a:t>
            </a:r>
            <a:r>
              <a:rPr kumimoji="1" lang="en-US" altLang="zh-CN" dirty="0"/>
              <a:t>txt</a:t>
            </a:r>
            <a:r>
              <a:rPr kumimoji="1" lang="zh-CN" altLang="en-US" dirty="0"/>
              <a:t>文件，将他保存成</a:t>
            </a:r>
            <a:r>
              <a:rPr kumimoji="1" lang="en-US" altLang="zh-CN" dirty="0" err="1"/>
              <a:t>rasx</a:t>
            </a:r>
            <a:r>
              <a:rPr kumimoji="1" lang="zh-CN" altLang="en-US" dirty="0"/>
              <a:t>文件，这样的话就可以和其他的极图一起进行读入。</a:t>
            </a:r>
            <a:endParaRPr kumimoji="1" lang="ja-JP" altLang="en-US" dirty="0"/>
          </a:p>
        </p:txBody>
      </p:sp>
      <p:sp>
        <p:nvSpPr>
          <p:cNvPr id="4" name="スライド番号プレースホルダー 3"/>
          <p:cNvSpPr>
            <a:spLocks noGrp="1"/>
          </p:cNvSpPr>
          <p:nvPr>
            <p:ph type="sldNum" sz="quarter" idx="5"/>
          </p:nvPr>
        </p:nvSpPr>
        <p:spPr/>
        <p:txBody>
          <a:bodyPr/>
          <a:lstStyle/>
          <a:p>
            <a:fld id="{92454AF5-8656-4AA3-BDC7-44F7F11F6C52}" type="slidenum">
              <a:rPr kumimoji="1" lang="ja-JP" altLang="en-US" smtClean="0"/>
              <a:t>24</a:t>
            </a:fld>
            <a:endParaRPr kumimoji="1" lang="ja-JP" altLang="en-US"/>
          </a:p>
        </p:txBody>
      </p:sp>
    </p:spTree>
    <p:extLst>
      <p:ext uri="{BB962C8B-B14F-4D97-AF65-F5344CB8AC3E}">
        <p14:creationId xmlns:p14="http://schemas.microsoft.com/office/powerpoint/2010/main" val="33758079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1FDA0-7C40-6DC3-E068-9775912F127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E909C6-974C-73AF-370E-F6ACEE23DC0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E29746A-996A-C06A-A480-F1BE9A9E744D}"/>
              </a:ext>
            </a:extLst>
          </p:cNvPr>
          <p:cNvSpPr>
            <a:spLocks noGrp="1"/>
          </p:cNvSpPr>
          <p:nvPr>
            <p:ph type="body" idx="1"/>
          </p:nvPr>
        </p:nvSpPr>
        <p:spPr/>
        <p:txBody>
          <a:bodyPr/>
          <a:lstStyle/>
          <a:p>
            <a:r>
              <a:rPr kumimoji="1" lang="en-US" altLang="zh-CN" dirty="0"/>
              <a:t>ODF </a:t>
            </a:r>
            <a:r>
              <a:rPr kumimoji="1" lang="zh-CN" altLang="en-US" dirty="0"/>
              <a:t>可以</a:t>
            </a:r>
            <a:r>
              <a:rPr kumimoji="1" lang="en-US" altLang="zh-CN" dirty="0"/>
              <a:t>copy</a:t>
            </a:r>
            <a:r>
              <a:rPr kumimoji="1" lang="zh-CN" altLang="en-US" dirty="0"/>
              <a:t>全部图，可以设置每一列展示的图片数量。</a:t>
            </a:r>
            <a:br>
              <a:rPr kumimoji="1" lang="en-US" altLang="zh-CN" dirty="0"/>
            </a:br>
            <a:r>
              <a:rPr kumimoji="1" lang="zh-CN" altLang="en-US" dirty="0"/>
              <a:t>过去</a:t>
            </a:r>
            <a:r>
              <a:rPr kumimoji="1" lang="en-US" altLang="zh-CN" dirty="0"/>
              <a:t>ODF</a:t>
            </a:r>
            <a:r>
              <a:rPr kumimoji="1" lang="zh-CN" altLang="en-US" dirty="0"/>
              <a:t>的</a:t>
            </a:r>
            <a:r>
              <a:rPr kumimoji="1" lang="en-US" altLang="zh-CN" dirty="0"/>
              <a:t>copy</a:t>
            </a:r>
            <a:r>
              <a:rPr kumimoji="1" lang="zh-CN" altLang="en-US" dirty="0"/>
              <a:t>只有一张图，现在可以</a:t>
            </a:r>
            <a:r>
              <a:rPr kumimoji="1" lang="en-US" altLang="zh-CN" dirty="0"/>
              <a:t>copy</a:t>
            </a:r>
            <a:r>
              <a:rPr kumimoji="1" lang="zh-CN" altLang="en-US" dirty="0"/>
              <a:t>全部了 </a:t>
            </a:r>
            <a:endParaRPr kumimoji="1" lang="ja-JP" altLang="en-US" dirty="0"/>
          </a:p>
        </p:txBody>
      </p:sp>
      <p:sp>
        <p:nvSpPr>
          <p:cNvPr id="4" name="スライド番号プレースホルダー 3">
            <a:extLst>
              <a:ext uri="{FF2B5EF4-FFF2-40B4-BE49-F238E27FC236}">
                <a16:creationId xmlns:a16="http://schemas.microsoft.com/office/drawing/2014/main" id="{19202AA2-8FE8-F83D-B23E-F68C24539AC2}"/>
              </a:ext>
            </a:extLst>
          </p:cNvPr>
          <p:cNvSpPr>
            <a:spLocks noGrp="1"/>
          </p:cNvSpPr>
          <p:nvPr>
            <p:ph type="sldNum" sz="quarter" idx="5"/>
          </p:nvPr>
        </p:nvSpPr>
        <p:spPr/>
        <p:txBody>
          <a:bodyPr/>
          <a:lstStyle/>
          <a:p>
            <a:fld id="{92454AF5-8656-4AA3-BDC7-44F7F11F6C52}" type="slidenum">
              <a:rPr kumimoji="1" lang="ja-JP" altLang="en-US" smtClean="0"/>
              <a:t>25</a:t>
            </a:fld>
            <a:endParaRPr kumimoji="1" lang="ja-JP" altLang="en-US"/>
          </a:p>
        </p:txBody>
      </p:sp>
    </p:spTree>
    <p:extLst>
      <p:ext uri="{BB962C8B-B14F-4D97-AF65-F5344CB8AC3E}">
        <p14:creationId xmlns:p14="http://schemas.microsoft.com/office/powerpoint/2010/main" val="513806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zh-CN" dirty="0"/>
              <a:t>Texture</a:t>
            </a:r>
            <a:r>
              <a:rPr kumimoji="1" lang="zh-CN" altLang="en-US" dirty="0"/>
              <a:t>中峰搜索的条件无法被保存，这次更新把这个问题解决了。</a:t>
            </a:r>
            <a:endParaRPr kumimoji="1" lang="en-US" altLang="zh-CN" dirty="0"/>
          </a:p>
          <a:p>
            <a:r>
              <a:rPr kumimoji="1" lang="zh-CN" altLang="en-US" dirty="0"/>
              <a:t>第二个 在制造报告的时候，原本是无法把峰列表信息放进去的，现在可以把峰列表的信息放进去了 </a:t>
            </a:r>
            <a:endParaRPr kumimoji="1" lang="en-US" altLang="zh-CN" dirty="0"/>
          </a:p>
          <a:p>
            <a:r>
              <a:rPr kumimoji="1" lang="zh-CN" altLang="en-US" dirty="0"/>
              <a:t>第三个功能 就是在设置中加了一个</a:t>
            </a:r>
            <a:r>
              <a:rPr kumimoji="1" lang="en-US" altLang="zh-CN" dirty="0"/>
              <a:t>checkbox</a:t>
            </a:r>
            <a:r>
              <a:rPr kumimoji="1" lang="zh-CN" altLang="en-US" dirty="0"/>
              <a:t>，利用正交对称性将</a:t>
            </a:r>
            <a:r>
              <a:rPr kumimoji="1" lang="en-US" altLang="zh-CN" dirty="0"/>
              <a:t>1/4</a:t>
            </a:r>
            <a:r>
              <a:rPr kumimoji="1" lang="zh-CN" altLang="en-US" dirty="0"/>
              <a:t>极图扩展为完整极图。</a:t>
            </a:r>
            <a:endParaRPr kumimoji="1" lang="en-US" altLang="zh-CN" dirty="0"/>
          </a:p>
          <a:p>
            <a:r>
              <a:rPr kumimoji="1" lang="zh-CN" altLang="en-US" dirty="0"/>
              <a:t>这样的话对于具有正交对称性的样品，就可以不需要测</a:t>
            </a:r>
            <a:r>
              <a:rPr kumimoji="1" lang="en-US" altLang="zh-CN" dirty="0"/>
              <a:t>360</a:t>
            </a:r>
            <a:r>
              <a:rPr kumimoji="1" lang="zh-CN" altLang="en-US" dirty="0"/>
              <a:t>度，只测</a:t>
            </a:r>
            <a:r>
              <a:rPr kumimoji="1" lang="en-US" altLang="zh-CN" dirty="0"/>
              <a:t>0-90</a:t>
            </a:r>
            <a:r>
              <a:rPr kumimoji="1" lang="zh-CN" altLang="en-US" dirty="0"/>
              <a:t>度，剩下的靠软件去扩展，可以很节省时间。</a:t>
            </a:r>
            <a:br>
              <a:rPr kumimoji="1" lang="en-US" altLang="ja-JP" dirty="0"/>
            </a:br>
            <a:endParaRPr kumimoji="1" lang="en-US" altLang="ja-JP" dirty="0"/>
          </a:p>
          <a:p>
            <a:r>
              <a:rPr kumimoji="1" lang="ja-JP" altLang="en-US" dirty="0"/>
              <a:t>允许将正交的极图，只有</a:t>
            </a:r>
            <a:r>
              <a:rPr kumimoji="1" lang="en-US" altLang="ja-JP" dirty="0"/>
              <a:t>1/4</a:t>
            </a:r>
            <a:r>
              <a:rPr kumimoji="1" lang="ja-JP" altLang="en-US" dirty="0"/>
              <a:t>的扩张到整张极图，这样可以节省测试的时间，只要测</a:t>
            </a:r>
            <a:r>
              <a:rPr kumimoji="1" lang="en-US" altLang="ja-JP" dirty="0"/>
              <a:t>1/4</a:t>
            </a:r>
            <a:r>
              <a:rPr kumimoji="1" lang="ja-JP" altLang="en-US" dirty="0"/>
              <a:t>极图就可以完成整个 针对有正交对称性的样品 如果放斜了（</a:t>
            </a:r>
            <a:r>
              <a:rPr kumimoji="1" lang="en-US" altLang="ja-JP" dirty="0"/>
              <a:t>α</a:t>
            </a:r>
            <a:r>
              <a:rPr kumimoji="1" lang="ja-JP" altLang="en-US" dirty="0"/>
              <a:t>軸のズレ），放歪了（</a:t>
            </a:r>
            <a:r>
              <a:rPr kumimoji="1" lang="en-US" altLang="ja-JP" dirty="0"/>
              <a:t>β</a:t>
            </a:r>
            <a:r>
              <a:rPr kumimoji="1" lang="ja-JP" altLang="en-US" dirty="0"/>
              <a:t>軸のズレ）会奇怪</a:t>
            </a:r>
            <a:endParaRPr kumimoji="1" lang="en-US" altLang="ja-JP" dirty="0"/>
          </a:p>
          <a:p>
            <a:endParaRPr kumimoji="1" lang="en-US" altLang="ja-JP" dirty="0"/>
          </a:p>
          <a:p>
            <a:r>
              <a:rPr kumimoji="1" lang="en-US" altLang="zh-CN" dirty="0"/>
              <a:t>Q1</a:t>
            </a:r>
            <a:r>
              <a:rPr kumimoji="1" lang="zh-CN" altLang="en-US" dirty="0"/>
              <a:t>放歪了还有办法校正吗？在</a:t>
            </a:r>
            <a:r>
              <a:rPr kumimoji="1" lang="en-US" altLang="zh-CN" dirty="0"/>
              <a:t>Pole Figures Corrections </a:t>
            </a:r>
            <a:r>
              <a:rPr kumimoji="1" lang="zh-CN" altLang="en-US" dirty="0"/>
              <a:t>中的</a:t>
            </a:r>
            <a:r>
              <a:rPr kumimoji="1" lang="en-US" altLang="zh-CN" dirty="0"/>
              <a:t>Adjust surface normal</a:t>
            </a:r>
            <a:r>
              <a:rPr kumimoji="1" lang="zh-CN" altLang="en-US" dirty="0"/>
              <a:t>中校正</a:t>
            </a:r>
            <a:endParaRPr kumimoji="1" lang="en-US" altLang="zh-CN" dirty="0"/>
          </a:p>
          <a:p>
            <a:r>
              <a:rPr kumimoji="1" lang="en-US" altLang="zh-CN" dirty="0"/>
              <a:t>Q2</a:t>
            </a:r>
            <a:r>
              <a:rPr kumimoji="1" lang="zh-CN" altLang="en-US" dirty="0"/>
              <a:t>在测试那边只测</a:t>
            </a:r>
            <a:r>
              <a:rPr kumimoji="1" lang="en-US" altLang="zh-CN" dirty="0"/>
              <a:t>phi</a:t>
            </a:r>
            <a:r>
              <a:rPr kumimoji="1" lang="zh-CN" altLang="en-US" dirty="0"/>
              <a:t>为</a:t>
            </a:r>
            <a:r>
              <a:rPr kumimoji="1" lang="en-US" altLang="zh-CN" dirty="0"/>
              <a:t>0-90</a:t>
            </a:r>
            <a:r>
              <a:rPr kumimoji="1" lang="zh-CN" altLang="en-US" dirty="0"/>
              <a:t>度 然后勾选这个就可以让他变成完整的极图？</a:t>
            </a:r>
            <a:endParaRPr kumimoji="1" lang="en-US" altLang="zh-CN" dirty="0"/>
          </a:p>
          <a:p>
            <a:r>
              <a:rPr kumimoji="1" lang="en-US" altLang="zh-CN" dirty="0"/>
              <a:t>Q3</a:t>
            </a:r>
            <a:r>
              <a:rPr kumimoji="1" lang="zh-CN" altLang="en-US" dirty="0"/>
              <a:t>和</a:t>
            </a:r>
            <a:r>
              <a:rPr kumimoji="1" lang="en-US" altLang="zh-CN" dirty="0"/>
              <a:t>1/4</a:t>
            </a:r>
            <a:r>
              <a:rPr kumimoji="1" lang="zh-CN" altLang="en-US" dirty="0"/>
              <a:t>对称有什么区别？ </a:t>
            </a:r>
            <a:r>
              <a:rPr kumimoji="1" lang="en-US" altLang="zh-CN" dirty="0"/>
              <a:t>¼</a:t>
            </a:r>
            <a:r>
              <a:rPr kumimoji="1" lang="zh-CN" altLang="en-US" dirty="0"/>
              <a:t>对称是将极图进行平均，这个是补全 如果想平均一下误差的话用</a:t>
            </a:r>
            <a:r>
              <a:rPr kumimoji="1" lang="en-US" altLang="zh-CN" dirty="0"/>
              <a:t>1/4</a:t>
            </a:r>
            <a:r>
              <a:rPr kumimoji="1" lang="zh-CN" altLang="en-US" dirty="0"/>
              <a:t>对称，节约测试时间用这个补全功能</a:t>
            </a:r>
            <a:endParaRPr kumimoji="1" lang="en-US" altLang="zh-CN" dirty="0"/>
          </a:p>
          <a:p>
            <a:r>
              <a:rPr lang="ja-JP" altLang="ja-JP" sz="1200" b="1" i="0" kern="1200" dirty="0">
                <a:solidFill>
                  <a:schemeClr val="tx1"/>
                </a:solidFill>
                <a:effectLst/>
                <a:latin typeface="+mn-lt"/>
                <a:ea typeface="+mn-ea"/>
                <a:cs typeface="+mn-cs"/>
              </a:rPr>
              <a:t>📊 2つの機能の本質的な違い</a:t>
            </a:r>
          </a:p>
          <a:p>
            <a:r>
              <a:rPr lang="ja-JP" altLang="ja-JP" sz="1200" b="1" i="0" kern="1200" dirty="0">
                <a:solidFill>
                  <a:schemeClr val="tx1"/>
                </a:solidFill>
                <a:effectLst/>
                <a:latin typeface="+mn-lt"/>
                <a:ea typeface="+mn-ea"/>
                <a:cs typeface="+mn-cs"/>
              </a:rPr>
              <a:t>1/4 対称化</a:t>
            </a:r>
            <a:endParaRPr lang="ja-JP" altLang="ja-JP" sz="1200" b="0" i="0" kern="1200" dirty="0">
              <a:solidFill>
                <a:schemeClr val="tx1"/>
              </a:solidFill>
              <a:effectLst/>
              <a:latin typeface="+mn-lt"/>
              <a:ea typeface="+mn-ea"/>
              <a:cs typeface="+mn-cs"/>
            </a:endParaRPr>
          </a:p>
          <a:p>
            <a:r>
              <a:rPr lang="ja-JP" altLang="ja-JP" sz="1200" b="1" i="0" kern="1200" dirty="0">
                <a:solidFill>
                  <a:schemeClr val="tx1"/>
                </a:solidFill>
                <a:effectLst/>
                <a:latin typeface="+mn-lt"/>
                <a:ea typeface="+mn-ea"/>
                <a:cs typeface="+mn-cs"/>
              </a:rPr>
              <a:t>1/4 対称外挿</a:t>
            </a:r>
            <a:endParaRPr lang="ja-JP" altLang="ja-JP" sz="1200" b="0" i="0" kern="1200" dirty="0">
              <a:solidFill>
                <a:schemeClr val="tx1"/>
              </a:solidFill>
              <a:effectLst/>
              <a:latin typeface="+mn-lt"/>
              <a:ea typeface="+mn-ea"/>
              <a:cs typeface="+mn-cs"/>
            </a:endParaRPr>
          </a:p>
          <a:p>
            <a:r>
              <a:rPr lang="ja-JP" altLang="ja-JP" sz="1200" b="1" i="0" kern="1200" dirty="0">
                <a:solidFill>
                  <a:schemeClr val="tx1"/>
                </a:solidFill>
                <a:effectLst/>
                <a:latin typeface="+mn-lt"/>
                <a:ea typeface="+mn-ea"/>
                <a:cs typeface="+mn-cs"/>
              </a:rPr>
              <a:t>場所</a:t>
            </a:r>
            <a:r>
              <a:rPr lang="ja-JP" altLang="ja-JP" sz="1200" b="0" i="0" kern="1200" dirty="0">
                <a:solidFill>
                  <a:schemeClr val="tx1"/>
                </a:solidFill>
                <a:effectLst/>
                <a:latin typeface="+mn-lt"/>
                <a:ea typeface="+mn-ea"/>
                <a:cs typeface="+mn-cs"/>
              </a:rPr>
              <a:t>[極点図補正]パネル[一般設定]タブ</a:t>
            </a:r>
          </a:p>
          <a:p>
            <a:r>
              <a:rPr lang="ja-JP" altLang="ja-JP" sz="1200" b="1" i="0" kern="1200" dirty="0">
                <a:solidFill>
                  <a:schemeClr val="tx1"/>
                </a:solidFill>
                <a:effectLst/>
                <a:latin typeface="+mn-lt"/>
                <a:ea typeface="+mn-ea"/>
                <a:cs typeface="+mn-cs"/>
              </a:rPr>
              <a:t>必要な測定範囲β = 0〜360°（フル測定）β = 0〜90°（1/4だけ測定）</a:t>
            </a:r>
            <a:endParaRPr lang="ja-JP" altLang="ja-JP" sz="1200" b="0" i="0" kern="1200" dirty="0">
              <a:solidFill>
                <a:schemeClr val="tx1"/>
              </a:solidFill>
              <a:effectLst/>
              <a:latin typeface="+mn-lt"/>
              <a:ea typeface="+mn-ea"/>
              <a:cs typeface="+mn-cs"/>
            </a:endParaRPr>
          </a:p>
          <a:p>
            <a:r>
              <a:rPr lang="ja-JP" altLang="ja-JP" sz="1200" b="1" i="0" kern="1200" dirty="0">
                <a:solidFill>
                  <a:schemeClr val="tx1"/>
                </a:solidFill>
                <a:effectLst/>
                <a:latin typeface="+mn-lt"/>
                <a:ea typeface="+mn-ea"/>
                <a:cs typeface="+mn-cs"/>
              </a:rPr>
              <a:t>やること</a:t>
            </a:r>
            <a:r>
              <a:rPr lang="ja-JP" altLang="ja-JP" sz="1200" b="0" i="0" kern="1200" dirty="0">
                <a:solidFill>
                  <a:schemeClr val="tx1"/>
                </a:solidFill>
                <a:effectLst/>
                <a:latin typeface="+mn-lt"/>
                <a:ea typeface="+mn-ea"/>
                <a:cs typeface="+mn-cs"/>
              </a:rPr>
              <a:t>4象限を</a:t>
            </a:r>
            <a:r>
              <a:rPr lang="ja-JP" altLang="ja-JP" sz="1200" b="1" i="0" kern="1200" dirty="0">
                <a:solidFill>
                  <a:schemeClr val="tx1"/>
                </a:solidFill>
                <a:effectLst/>
                <a:latin typeface="+mn-lt"/>
                <a:ea typeface="+mn-ea"/>
                <a:cs typeface="+mn-cs"/>
              </a:rPr>
              <a:t>平均する</a:t>
            </a:r>
            <a:r>
              <a:rPr lang="ja-JP" altLang="ja-JP" sz="1200" b="0" i="0" kern="1200" dirty="0">
                <a:solidFill>
                  <a:schemeClr val="tx1"/>
                </a:solidFill>
                <a:effectLst/>
                <a:latin typeface="+mn-lt"/>
                <a:ea typeface="+mn-ea"/>
                <a:cs typeface="+mn-cs"/>
              </a:rPr>
              <a:t>1/4から残り3/4を</a:t>
            </a:r>
            <a:r>
              <a:rPr lang="ja-JP" altLang="ja-JP" sz="1200" b="1" i="0" kern="1200" dirty="0">
                <a:solidFill>
                  <a:schemeClr val="tx1"/>
                </a:solidFill>
                <a:effectLst/>
                <a:latin typeface="+mn-lt"/>
                <a:ea typeface="+mn-ea"/>
                <a:cs typeface="+mn-cs"/>
              </a:rPr>
              <a:t>コピー補完</a:t>
            </a:r>
            <a:endParaRPr lang="ja-JP" altLang="ja-JP" sz="1200" b="0" i="0" kern="1200" dirty="0">
              <a:solidFill>
                <a:schemeClr val="tx1"/>
              </a:solidFill>
              <a:effectLst/>
              <a:latin typeface="+mn-lt"/>
              <a:ea typeface="+mn-ea"/>
              <a:cs typeface="+mn-cs"/>
            </a:endParaRPr>
          </a:p>
          <a:p>
            <a:r>
              <a:rPr lang="ja-JP" altLang="ja-JP" sz="1200" b="1" i="0" kern="1200" dirty="0">
                <a:solidFill>
                  <a:schemeClr val="tx1"/>
                </a:solidFill>
                <a:effectLst/>
                <a:latin typeface="+mn-lt"/>
                <a:ea typeface="+mn-ea"/>
                <a:cs typeface="+mn-cs"/>
              </a:rPr>
              <a:t>目的</a:t>
            </a:r>
            <a:r>
              <a:rPr lang="ja-JP" altLang="ja-JP" sz="1200" b="0" i="0" kern="1200" dirty="0">
                <a:solidFill>
                  <a:schemeClr val="tx1"/>
                </a:solidFill>
                <a:effectLst/>
                <a:latin typeface="+mn-lt"/>
                <a:ea typeface="+mn-ea"/>
                <a:cs typeface="+mn-cs"/>
              </a:rPr>
              <a:t>統計精度の向上・誤差の均一化測定時間の短縮</a:t>
            </a:r>
            <a:endParaRPr lang="en-US" altLang="ja-JP" sz="1200" b="0" i="0" kern="1200" dirty="0">
              <a:solidFill>
                <a:schemeClr val="tx1"/>
              </a:solidFill>
              <a:effectLst/>
              <a:latin typeface="+mn-lt"/>
              <a:ea typeface="+mn-ea"/>
              <a:cs typeface="+mn-cs"/>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92454AF5-8656-4AA3-BDC7-44F7F11F6C52}" type="slidenum">
              <a:rPr kumimoji="1" lang="ja-JP" altLang="en-US" smtClean="0"/>
              <a:t>26</a:t>
            </a:fld>
            <a:endParaRPr kumimoji="1" lang="ja-JP" altLang="en-US"/>
          </a:p>
        </p:txBody>
      </p:sp>
    </p:spTree>
    <p:extLst>
      <p:ext uri="{BB962C8B-B14F-4D97-AF65-F5344CB8AC3E}">
        <p14:creationId xmlns:p14="http://schemas.microsoft.com/office/powerpoint/2010/main" val="3375807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62A4C-D45A-E3B4-6BA6-7930FBFDBA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2F7F6F-9C88-9D71-356E-5F48A151EB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A1E1FD4-7005-AEBB-69D5-6BE49525AC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Data Visualization: Plot for external parameters</a:t>
            </a:r>
            <a:br>
              <a:rPr lang="en-US" altLang="zh-CN" dirty="0"/>
            </a:br>
            <a:r>
              <a:rPr lang="ja-JP" altLang="ja-JP" sz="1200" b="0" i="0" kern="1200" dirty="0">
                <a:solidFill>
                  <a:schemeClr val="tx1"/>
                </a:solidFill>
                <a:effectLst/>
                <a:latin typeface="+mn-lt"/>
                <a:ea typeface="+mn-ea"/>
                <a:cs typeface="+mn-cs"/>
              </a:rPr>
              <a:t>外部参数绘图</a:t>
            </a:r>
            <a:r>
              <a:rPr lang="zh-CN" altLang="en-US" sz="1200" b="0" i="0" kern="1200" dirty="0">
                <a:solidFill>
                  <a:schemeClr val="tx1"/>
                </a:solidFill>
                <a:effectLst/>
                <a:latin typeface="+mn-lt"/>
                <a:ea typeface="+mn-ea"/>
                <a:cs typeface="+mn-cs"/>
              </a:rPr>
              <a:t>功能</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就是说</a:t>
            </a:r>
            <a:r>
              <a:rPr lang="zh-CN" altLang="en-US" dirty="0"/>
              <a:t>将导入的外部数据绘制到图中，和</a:t>
            </a:r>
            <a:r>
              <a:rPr lang="en-US" altLang="zh-CN" dirty="0" err="1"/>
              <a:t>xrd</a:t>
            </a:r>
            <a:r>
              <a:rPr lang="zh-CN" altLang="en-US" dirty="0"/>
              <a:t>测量数据一起显示。</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dirty="0"/>
            </a:br>
            <a:r>
              <a:rPr lang="ja-JP" altLang="ja-JP" dirty="0"/>
              <a:t>过去有读入外部数据的功能，过去的外部数据是x轴是时间</a:t>
            </a:r>
            <a:r>
              <a:rPr lang="zh-CN" altLang="en-US" dirty="0"/>
              <a:t>。这次新功能就是</a:t>
            </a:r>
            <a:r>
              <a:rPr lang="ja-JP" altLang="ja-JP" dirty="0"/>
              <a:t>x轴</a:t>
            </a:r>
            <a:r>
              <a:rPr lang="zh-CN" altLang="en-US" dirty="0"/>
              <a:t>可以设置为</a:t>
            </a:r>
            <a:r>
              <a:rPr lang="ja-JP" altLang="ja-JP" dirty="0"/>
              <a:t>时间以外的，比如气体吸附实验中，</a:t>
            </a:r>
            <a:r>
              <a:rPr lang="en-US" altLang="zh-CN" dirty="0"/>
              <a:t>x</a:t>
            </a:r>
            <a:r>
              <a:rPr lang="zh-CN" altLang="en-US" dirty="0"/>
              <a:t>轴</a:t>
            </a:r>
            <a:r>
              <a:rPr lang="ja-JP" altLang="ja-JP" dirty="0"/>
              <a:t>为Pe/kPa（平衡压力）</a:t>
            </a:r>
            <a:r>
              <a:rPr lang="zh-CN" altLang="en-US" dirty="0"/>
              <a:t>，</a:t>
            </a:r>
            <a:r>
              <a:rPr kumimoji="0" lang="en-US" altLang="zh-CN" dirty="0"/>
              <a:t>y</a:t>
            </a:r>
            <a:r>
              <a:rPr kumimoji="0" lang="zh-CN" altLang="en-US" dirty="0"/>
              <a:t>轴为</a:t>
            </a:r>
            <a:r>
              <a:rPr kumimoji="0" lang="en-US" altLang="zh-CN" dirty="0"/>
              <a:t>V/ml</a:t>
            </a:r>
            <a:r>
              <a:rPr kumimoji="0" lang="zh-CN" altLang="en-US" dirty="0"/>
              <a:t>。操作方法就是在</a:t>
            </a:r>
            <a:r>
              <a:rPr kumimoji="0" lang="en-US" altLang="zh-CN" dirty="0"/>
              <a:t>View</a:t>
            </a:r>
            <a:r>
              <a:rPr kumimoji="0" lang="zh-CN" altLang="en-US" dirty="0"/>
              <a:t>里面点击这个</a:t>
            </a:r>
            <a:r>
              <a:rPr kumimoji="0" lang="en-US" altLang="zh-CN" dirty="0"/>
              <a:t>External Parameters </a:t>
            </a:r>
            <a:r>
              <a:rPr kumimoji="0" lang="zh-CN" altLang="en-US" dirty="0"/>
              <a:t>外部参数 然后就可以在图表里面设置轴了 </a:t>
            </a:r>
            <a:r>
              <a:rPr kumimoji="0" lang="en-US" altLang="zh-CN" dirty="0"/>
              <a:t>x</a:t>
            </a:r>
            <a:r>
              <a:rPr kumimoji="0" lang="zh-CN" altLang="en-US" dirty="0"/>
              <a:t>轴也可以设置了</a:t>
            </a:r>
            <a:endParaRPr kumimoji="1" lang="en-US" altLang="zh-CN" dirty="0"/>
          </a:p>
          <a:p>
            <a:endParaRPr kumimoji="1" lang="en-US" altLang="zh-CN" dirty="0"/>
          </a:p>
          <a:p>
            <a:endParaRPr kumimoji="1" lang="en-US" altLang="zh-CN" dirty="0"/>
          </a:p>
          <a:p>
            <a:r>
              <a:rPr kumimoji="1" lang="zh-CN" altLang="en-US" dirty="0"/>
              <a:t>有时间列按时间排，没有时间列按行号排列，</a:t>
            </a:r>
            <a:br>
              <a:rPr kumimoji="1" lang="en-US" altLang="zh-CN" dirty="0"/>
            </a:br>
            <a:r>
              <a:rPr kumimoji="1" lang="zh-CN" altLang="en-US" dirty="0"/>
              <a:t>第一步：先找完全相同时间</a:t>
            </a:r>
            <a:endParaRPr kumimoji="1" lang="en-US" altLang="zh-CN" dirty="0"/>
          </a:p>
          <a:p>
            <a:r>
              <a:rPr kumimoji="1" lang="zh-CN" altLang="en-US" dirty="0"/>
              <a:t>第二部：如果可以插值则进行插值</a:t>
            </a:r>
            <a:endParaRPr kumimoji="1" lang="en-US" altLang="zh-CN" dirty="0"/>
          </a:p>
          <a:p>
            <a:r>
              <a:rPr kumimoji="1" lang="zh-CN" altLang="en-US" dirty="0"/>
              <a:t>比如说</a:t>
            </a:r>
            <a:r>
              <a:rPr kumimoji="1" lang="en-US" altLang="zh-CN" dirty="0" err="1"/>
              <a:t>xrd</a:t>
            </a:r>
            <a:r>
              <a:rPr kumimoji="1" lang="zh-CN" altLang="en-US" dirty="0"/>
              <a:t>测出来的时间</a:t>
            </a:r>
            <a:r>
              <a:rPr kumimoji="1" lang="en-US" altLang="zh-CN" dirty="0"/>
              <a:t>15 </a:t>
            </a:r>
            <a:r>
              <a:rPr kumimoji="1" lang="zh-CN" altLang="en-US" dirty="0"/>
              <a:t>外部数据有</a:t>
            </a:r>
            <a:r>
              <a:rPr kumimoji="1" lang="en-US" altLang="zh-CN" dirty="0"/>
              <a:t>10.20</a:t>
            </a:r>
            <a:r>
              <a:rPr kumimoji="1" lang="zh-CN" altLang="en-US" dirty="0"/>
              <a:t>对应的数 那么就除以二。</a:t>
            </a:r>
            <a:endParaRPr kumimoji="1" lang="ja-JP" altLang="en-US" dirty="0"/>
          </a:p>
        </p:txBody>
      </p:sp>
      <p:sp>
        <p:nvSpPr>
          <p:cNvPr id="4" name="スライド番号プレースホルダー 3">
            <a:extLst>
              <a:ext uri="{FF2B5EF4-FFF2-40B4-BE49-F238E27FC236}">
                <a16:creationId xmlns:a16="http://schemas.microsoft.com/office/drawing/2014/main" id="{F516D796-1680-B074-069A-59B1F991386B}"/>
              </a:ext>
            </a:extLst>
          </p:cNvPr>
          <p:cNvSpPr>
            <a:spLocks noGrp="1"/>
          </p:cNvSpPr>
          <p:nvPr>
            <p:ph type="sldNum" sz="quarter" idx="5"/>
          </p:nvPr>
        </p:nvSpPr>
        <p:spPr/>
        <p:txBody>
          <a:bodyPr/>
          <a:lstStyle/>
          <a:p>
            <a:fld id="{92454AF5-8656-4AA3-BDC7-44F7F11F6C52}" type="slidenum">
              <a:rPr kumimoji="1" lang="ja-JP" altLang="en-US" smtClean="0"/>
              <a:t>27</a:t>
            </a:fld>
            <a:endParaRPr kumimoji="1" lang="ja-JP" altLang="en-US"/>
          </a:p>
        </p:txBody>
      </p:sp>
    </p:spTree>
    <p:extLst>
      <p:ext uri="{BB962C8B-B14F-4D97-AF65-F5344CB8AC3E}">
        <p14:creationId xmlns:p14="http://schemas.microsoft.com/office/powerpoint/2010/main" val="38117888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zh-CN" dirty="0"/>
              <a:t>TXS</a:t>
            </a:r>
            <a:r>
              <a:rPr kumimoji="1" lang="zh-CN" altLang="en-US" dirty="0"/>
              <a:t>插件中集成了</a:t>
            </a:r>
            <a:r>
              <a:rPr kumimoji="1" lang="en-US" altLang="zh-CN" dirty="0"/>
              <a:t>Rietveld </a:t>
            </a:r>
            <a:r>
              <a:rPr kumimoji="1" lang="zh-CN" altLang="en-US" dirty="0"/>
              <a:t>分析。在</a:t>
            </a:r>
            <a:r>
              <a:rPr kumimoji="1" lang="en-US" altLang="zh-CN" dirty="0"/>
              <a:t>TXS</a:t>
            </a:r>
            <a:r>
              <a:rPr kumimoji="1" lang="zh-CN" altLang="en-US" dirty="0"/>
              <a:t>，</a:t>
            </a:r>
            <a:r>
              <a:rPr kumimoji="1" lang="en-US" altLang="zh-CN" dirty="0"/>
              <a:t>RMC option</a:t>
            </a:r>
            <a:r>
              <a:rPr kumimoji="1" lang="zh-CN" altLang="en-US" dirty="0"/>
              <a:t>界面中，我们需要读入初始结构</a:t>
            </a:r>
            <a:r>
              <a:rPr kumimoji="1" lang="en-US" altLang="zh-CN" dirty="0"/>
              <a:t>CIF</a:t>
            </a:r>
            <a:r>
              <a:rPr kumimoji="1" lang="zh-CN" altLang="en-US" dirty="0"/>
              <a:t>文件，在之前的版本，如果说想用</a:t>
            </a:r>
            <a:r>
              <a:rPr kumimoji="1" lang="en-US" altLang="zh-CN" dirty="0" err="1"/>
              <a:t>rietveld</a:t>
            </a:r>
            <a:r>
              <a:rPr kumimoji="1" lang="zh-CN" altLang="en-US" dirty="0"/>
              <a:t>精修后的</a:t>
            </a:r>
            <a:r>
              <a:rPr kumimoji="1" lang="en-US" altLang="zh-CN" dirty="0"/>
              <a:t>CIF</a:t>
            </a:r>
            <a:r>
              <a:rPr kumimoji="1" lang="zh-CN" altLang="en-US" dirty="0"/>
              <a:t>文件做为初始结构读入的话，需要去</a:t>
            </a:r>
            <a:r>
              <a:rPr kumimoji="1" lang="en-US" altLang="zh-CN" dirty="0" err="1"/>
              <a:t>PowderXRD</a:t>
            </a:r>
            <a:r>
              <a:rPr kumimoji="1" lang="zh-CN" altLang="en-US" dirty="0"/>
              <a:t>插件中执行</a:t>
            </a:r>
            <a:r>
              <a:rPr kumimoji="1" lang="en-US" altLang="zh-CN" dirty="0"/>
              <a:t>Rietveld</a:t>
            </a:r>
            <a:r>
              <a:rPr kumimoji="1" lang="zh-CN" altLang="en-US" dirty="0"/>
              <a:t>分析，然后保存，返回</a:t>
            </a:r>
            <a:r>
              <a:rPr kumimoji="1" lang="en-US" altLang="zh-CN" dirty="0"/>
              <a:t>TXS</a:t>
            </a:r>
            <a:r>
              <a:rPr kumimoji="1" lang="zh-CN" altLang="en-US" dirty="0"/>
              <a:t>，很费时间。在对初始结构进行读入</a:t>
            </a:r>
            <a:r>
              <a:rPr kumimoji="1" lang="en-US" altLang="zh-CN" dirty="0" err="1"/>
              <a:t>cif</a:t>
            </a:r>
            <a:r>
              <a:rPr kumimoji="1" lang="zh-CN" altLang="en-US" dirty="0"/>
              <a:t>文件的时候</a:t>
            </a:r>
            <a:endParaRPr kumimoji="1" lang="en-US" altLang="zh-CN" dirty="0"/>
          </a:p>
          <a:p>
            <a:r>
              <a:rPr kumimoji="1" lang="en-US" altLang="zh-CN" dirty="0"/>
              <a:t>Q1</a:t>
            </a:r>
            <a:r>
              <a:rPr kumimoji="1" lang="zh-CN" altLang="en-US" dirty="0"/>
              <a:t>：这里的</a:t>
            </a:r>
            <a:r>
              <a:rPr kumimoji="1" lang="en-US" altLang="zh-CN" dirty="0"/>
              <a:t>Run Rietveld </a:t>
            </a:r>
            <a:r>
              <a:rPr kumimoji="1" lang="zh-CN" altLang="en-US" dirty="0"/>
              <a:t>分析无法精确控制参数，比如哪些参数的开放和固定 ？是这样的 这里是一个后台程序，由默认的状态执行（和</a:t>
            </a:r>
            <a:r>
              <a:rPr kumimoji="1" lang="en-US" altLang="zh-CN" dirty="0" err="1"/>
              <a:t>PowderXRD</a:t>
            </a:r>
            <a:r>
              <a:rPr kumimoji="1" lang="zh-CN" altLang="en-US" dirty="0"/>
              <a:t>打开</a:t>
            </a:r>
            <a:r>
              <a:rPr kumimoji="1" lang="en-US" altLang="zh-CN" dirty="0" err="1"/>
              <a:t>rietveld</a:t>
            </a:r>
            <a:r>
              <a:rPr kumimoji="1" lang="zh-CN" altLang="en-US" dirty="0"/>
              <a:t>时一样）无法精确控制，如果对拟合结果不满意，想确认的话可以使用保存的</a:t>
            </a:r>
            <a:r>
              <a:rPr kumimoji="1" lang="en-US" altLang="zh-CN" dirty="0"/>
              <a:t>solution</a:t>
            </a:r>
            <a:r>
              <a:rPr kumimoji="1" lang="zh-CN" altLang="en-US" dirty="0"/>
              <a:t>文件进行打开查看，想精确控制还是需要在</a:t>
            </a:r>
            <a:r>
              <a:rPr kumimoji="1" lang="en-US" altLang="zh-CN" dirty="0" err="1"/>
              <a:t>PowderXRD</a:t>
            </a:r>
            <a:r>
              <a:rPr kumimoji="1" lang="zh-CN" altLang="en-US" dirty="0"/>
              <a:t>插件中进行</a:t>
            </a:r>
            <a:r>
              <a:rPr kumimoji="1" lang="en-US" altLang="zh-CN" dirty="0"/>
              <a:t>Rietveld</a:t>
            </a:r>
            <a:r>
              <a:rPr kumimoji="1" lang="zh-CN" altLang="en-US" dirty="0"/>
              <a:t>分析将</a:t>
            </a:r>
            <a:r>
              <a:rPr kumimoji="1" lang="en-US" altLang="zh-CN" dirty="0"/>
              <a:t>CIF</a:t>
            </a:r>
            <a:r>
              <a:rPr kumimoji="1" lang="zh-CN" altLang="en-US" dirty="0"/>
              <a:t>文件导出 然后再在这里导入来实现。</a:t>
            </a:r>
            <a:endParaRPr kumimoji="1" lang="ja-JP" altLang="en-US" dirty="0"/>
          </a:p>
        </p:txBody>
      </p:sp>
      <p:sp>
        <p:nvSpPr>
          <p:cNvPr id="4" name="スライド番号プレースホルダー 3"/>
          <p:cNvSpPr>
            <a:spLocks noGrp="1"/>
          </p:cNvSpPr>
          <p:nvPr>
            <p:ph type="sldNum" sz="quarter" idx="5"/>
          </p:nvPr>
        </p:nvSpPr>
        <p:spPr/>
        <p:txBody>
          <a:bodyPr/>
          <a:lstStyle/>
          <a:p>
            <a:fld id="{92454AF5-8656-4AA3-BDC7-44F7F11F6C52}" type="slidenum">
              <a:rPr kumimoji="1" lang="ja-JP" altLang="en-US" smtClean="0"/>
              <a:t>28</a:t>
            </a:fld>
            <a:endParaRPr kumimoji="1" lang="ja-JP" altLang="en-US"/>
          </a:p>
        </p:txBody>
      </p:sp>
    </p:spTree>
    <p:extLst>
      <p:ext uri="{BB962C8B-B14F-4D97-AF65-F5344CB8AC3E}">
        <p14:creationId xmlns:p14="http://schemas.microsoft.com/office/powerpoint/2010/main" val="266777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E08D4-61D7-AF41-9940-971F8071D2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C4C92D9-7B86-B535-AAF2-0BB5D5AB60E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7046BC9-9518-0EF4-77BA-C5A53183E0D3}"/>
              </a:ext>
            </a:extLst>
          </p:cNvPr>
          <p:cNvSpPr>
            <a:spLocks noGrp="1"/>
          </p:cNvSpPr>
          <p:nvPr>
            <p:ph type="body" idx="1"/>
          </p:nvPr>
        </p:nvSpPr>
        <p:spPr/>
        <p:txBody>
          <a:bodyPr/>
          <a:lstStyle/>
          <a:p>
            <a:r>
              <a:rPr kumimoji="1" lang="en-US" altLang="zh-CN" dirty="0"/>
              <a:t>XRD Measurement</a:t>
            </a:r>
            <a:r>
              <a:rPr kumimoji="1" lang="zh-CN" altLang="en-US" dirty="0"/>
              <a:t>的 </a:t>
            </a:r>
            <a:r>
              <a:rPr lang="en-US" altLang="ja-JP" sz="1200" dirty="0">
                <a:latin typeface="+mn-ea"/>
              </a:rPr>
              <a:t>χ</a:t>
            </a:r>
            <a:r>
              <a:rPr lang="zh-CN" altLang="en-US" sz="1200" dirty="0">
                <a:latin typeface="+mn-ea"/>
              </a:rPr>
              <a:t>展开功能的改善</a:t>
            </a:r>
            <a:endParaRPr lang="en-US" altLang="zh-CN" sz="1200" dirty="0">
              <a:latin typeface="+mn-ea"/>
            </a:endParaRPr>
          </a:p>
          <a:p>
            <a:r>
              <a:rPr kumimoji="1" lang="en-US" altLang="zh-CN" sz="1200" dirty="0">
                <a:latin typeface="+mn-ea"/>
              </a:rPr>
              <a:t>GIWAXS</a:t>
            </a:r>
            <a:r>
              <a:rPr kumimoji="1" lang="zh-CN" altLang="en-US" sz="1200" dirty="0">
                <a:latin typeface="+mn-ea"/>
              </a:rPr>
              <a:t>的测试的数据转换成</a:t>
            </a:r>
            <a:r>
              <a:rPr kumimoji="1" lang="en-US" altLang="zh-CN" sz="1200" dirty="0" err="1">
                <a:latin typeface="+mn-ea"/>
              </a:rPr>
              <a:t>rsm</a:t>
            </a:r>
            <a:r>
              <a:rPr kumimoji="1" lang="zh-CN" altLang="en-US" sz="1200" dirty="0">
                <a:latin typeface="+mn-ea"/>
              </a:rPr>
              <a:t>图 </a:t>
            </a:r>
            <a:endParaRPr kumimoji="1" lang="en-US" altLang="zh-CN" sz="1200" dirty="0">
              <a:latin typeface="+mn-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sz="1200" b="0" i="0" kern="1200" dirty="0">
                <a:solidFill>
                  <a:schemeClr val="tx1"/>
                </a:solidFill>
                <a:effectLst/>
                <a:latin typeface="+mn-lt"/>
                <a:ea typeface="+mn-ea"/>
                <a:cs typeface="+mn-cs"/>
              </a:rPr>
              <a:t>将 χ 展开</a:t>
            </a:r>
            <a:r>
              <a:rPr lang="zh-CN" altLang="en-US" sz="1200" b="0" i="0" kern="1200">
                <a:solidFill>
                  <a:schemeClr val="tx1"/>
                </a:solidFill>
                <a:effectLst/>
                <a:latin typeface="+mn-lt"/>
                <a:ea typeface="+mn-ea"/>
                <a:cs typeface="+mn-cs"/>
              </a:rPr>
              <a:t>后的</a:t>
            </a:r>
            <a:r>
              <a:rPr lang="ja-JP" altLang="ja-JP" sz="1200" b="0" i="0" kern="1200">
                <a:solidFill>
                  <a:schemeClr val="tx1"/>
                </a:solidFill>
                <a:effectLst/>
                <a:latin typeface="+mn-lt"/>
                <a:ea typeface="+mn-ea"/>
                <a:cs typeface="+mn-cs"/>
              </a:rPr>
              <a:t>图</a:t>
            </a:r>
            <a:r>
              <a:rPr lang="ja-JP" altLang="ja-JP" sz="1200" b="0" i="0" kern="1200" dirty="0">
                <a:solidFill>
                  <a:schemeClr val="tx1"/>
                </a:solidFill>
                <a:effectLst/>
                <a:latin typeface="+mn-lt"/>
                <a:ea typeface="+mn-ea"/>
                <a:cs typeface="+mn-cs"/>
              </a:rPr>
              <a:t>直接转换为 RSM</a:t>
            </a:r>
            <a:br>
              <a:rPr lang="en-US" altLang="ja-JP"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在过去的版本中，</a:t>
            </a:r>
            <a:r>
              <a:rPr lang="ja-JP" altLang="ja-JP" sz="1200" b="0" i="0" kern="1200" dirty="0">
                <a:solidFill>
                  <a:schemeClr val="tx1"/>
                </a:solidFill>
                <a:effectLst/>
                <a:latin typeface="+mn-lt"/>
                <a:ea typeface="+mn-ea"/>
                <a:cs typeface="+mn-cs"/>
              </a:rPr>
              <a:t>χ 展开图</a:t>
            </a:r>
            <a:r>
              <a:rPr lang="zh-CN" altLang="en-US" sz="1200" b="0" i="0" kern="1200" dirty="0">
                <a:solidFill>
                  <a:schemeClr val="tx1"/>
                </a:solidFill>
                <a:effectLst/>
                <a:latin typeface="+mn-lt"/>
                <a:ea typeface="+mn-ea"/>
                <a:cs typeface="+mn-cs"/>
              </a:rPr>
              <a:t>是无法</a:t>
            </a:r>
            <a:r>
              <a:rPr lang="ja-JP" altLang="ja-JP" sz="1200" b="0" i="0" kern="1200" dirty="0">
                <a:solidFill>
                  <a:schemeClr val="tx1"/>
                </a:solidFill>
                <a:effectLst/>
                <a:latin typeface="+mn-lt"/>
                <a:ea typeface="+mn-ea"/>
                <a:cs typeface="+mn-cs"/>
              </a:rPr>
              <a:t>直接转换为 RSM</a:t>
            </a:r>
            <a:r>
              <a:rPr lang="zh-CN" altLang="en-US" sz="1200" b="0" i="0" kern="1200" dirty="0">
                <a:solidFill>
                  <a:schemeClr val="tx1"/>
                </a:solidFill>
                <a:effectLst/>
                <a:latin typeface="+mn-lt"/>
                <a:ea typeface="+mn-ea"/>
                <a:cs typeface="+mn-cs"/>
              </a:rPr>
              <a:t>的，需要在图那块右键，保存为</a:t>
            </a:r>
            <a:r>
              <a:rPr lang="en-US" altLang="zh-CN" sz="1200" b="0" i="0" kern="1200" dirty="0">
                <a:solidFill>
                  <a:schemeClr val="tx1"/>
                </a:solidFill>
                <a:effectLst/>
                <a:latin typeface="+mn-lt"/>
                <a:ea typeface="+mn-ea"/>
                <a:cs typeface="+mn-cs"/>
              </a:rPr>
              <a:t>RSM</a:t>
            </a:r>
            <a:r>
              <a:rPr lang="zh-CN" altLang="en-US" sz="1200" b="0" i="0" kern="1200" dirty="0">
                <a:solidFill>
                  <a:schemeClr val="tx1"/>
                </a:solidFill>
                <a:effectLst/>
                <a:latin typeface="+mn-lt"/>
                <a:ea typeface="+mn-ea"/>
                <a:cs typeface="+mn-cs"/>
              </a:rPr>
              <a:t>图，然后再重新读入。</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这次就新加了一个直接转换为</a:t>
            </a:r>
            <a:r>
              <a:rPr lang="en-US" altLang="zh-CN" sz="1200" b="0" i="0" kern="1200" dirty="0">
                <a:solidFill>
                  <a:schemeClr val="tx1"/>
                </a:solidFill>
                <a:effectLst/>
                <a:latin typeface="+mn-lt"/>
                <a:ea typeface="+mn-ea"/>
                <a:cs typeface="+mn-cs"/>
              </a:rPr>
              <a:t>RSM</a:t>
            </a:r>
            <a:r>
              <a:rPr lang="zh-CN" altLang="en-US" sz="1200" b="0" i="0" kern="1200" dirty="0">
                <a:solidFill>
                  <a:schemeClr val="tx1"/>
                </a:solidFill>
                <a:effectLst/>
                <a:latin typeface="+mn-lt"/>
                <a:ea typeface="+mn-ea"/>
                <a:cs typeface="+mn-cs"/>
              </a:rPr>
              <a:t>的功能。</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还有另一个功能就是在</a:t>
            </a:r>
            <a:r>
              <a:rPr lang="ja-JP" altLang="ja-JP" sz="1200" b="0" i="0" kern="1200" dirty="0">
                <a:solidFill>
                  <a:schemeClr val="tx1"/>
                </a:solidFill>
                <a:effectLst/>
                <a:latin typeface="+mn-lt"/>
                <a:ea typeface="+mn-ea"/>
                <a:cs typeface="+mn-cs"/>
              </a:rPr>
              <a:t>χ 展开</a:t>
            </a:r>
            <a:r>
              <a:rPr lang="zh-CN" altLang="en-US" sz="1200" b="0" i="0" kern="1200" dirty="0">
                <a:solidFill>
                  <a:schemeClr val="tx1"/>
                </a:solidFill>
                <a:effectLst/>
                <a:latin typeface="+mn-lt"/>
                <a:ea typeface="+mn-ea"/>
                <a:cs typeface="+mn-cs"/>
              </a:rPr>
              <a:t>的时候，加上了可以选择</a:t>
            </a:r>
            <a:r>
              <a:rPr lang="en-US" altLang="zh-CN" sz="1200" b="0" i="0" kern="1200" dirty="0" err="1">
                <a:solidFill>
                  <a:schemeClr val="tx1"/>
                </a:solidFill>
                <a:effectLst/>
                <a:latin typeface="+mn-lt"/>
                <a:ea typeface="+mn-ea"/>
                <a:cs typeface="+mn-cs"/>
              </a:rPr>
              <a:t>Qxy</a:t>
            </a:r>
            <a:r>
              <a:rPr lang="zh-CN" altLang="en-US" sz="1200" b="0" i="0" kern="1200" dirty="0">
                <a:solidFill>
                  <a:schemeClr val="tx1"/>
                </a:solidFill>
                <a:effectLst/>
                <a:latin typeface="+mn-lt"/>
                <a:ea typeface="+mn-ea"/>
                <a:cs typeface="+mn-cs"/>
              </a:rPr>
              <a:t>的定义</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新增了 </a:t>
            </a:r>
            <a:r>
              <a:rPr lang="en-US" altLang="zh-CN" sz="1200" b="0" i="0" kern="1200" dirty="0" err="1">
                <a:solidFill>
                  <a:schemeClr val="tx1"/>
                </a:solidFill>
                <a:effectLst/>
                <a:latin typeface="+mn-lt"/>
                <a:ea typeface="+mn-ea"/>
                <a:cs typeface="+mn-cs"/>
              </a:rPr>
              <a:t>Qxy</a:t>
            </a:r>
            <a:r>
              <a:rPr lang="en-US" altLang="zh-CN" sz="1200" b="0" i="0" kern="1200" dirty="0">
                <a:solidFill>
                  <a:schemeClr val="tx1"/>
                </a:solidFill>
                <a:effectLst/>
                <a:latin typeface="+mn-lt"/>
                <a:ea typeface="+mn-ea"/>
                <a:cs typeface="+mn-cs"/>
              </a:rPr>
              <a:t> Definition for 2D Still </a:t>
            </a:r>
            <a:r>
              <a:rPr lang="zh-CN" altLang="en-US" sz="1200" b="0" i="0" kern="1200" dirty="0">
                <a:solidFill>
                  <a:schemeClr val="tx1"/>
                </a:solidFill>
                <a:effectLst/>
                <a:latin typeface="+mn-lt"/>
                <a:ea typeface="+mn-ea"/>
                <a:cs typeface="+mn-cs"/>
              </a:rPr>
              <a:t>选项。用户可以选择两种 </a:t>
            </a:r>
            <a:r>
              <a:rPr lang="en-US" altLang="zh-CN" sz="1200" b="0" i="0" kern="1200" dirty="0" err="1">
                <a:solidFill>
                  <a:schemeClr val="tx1"/>
                </a:solidFill>
                <a:effectLst/>
                <a:latin typeface="+mn-lt"/>
                <a:ea typeface="+mn-ea"/>
                <a:cs typeface="+mn-cs"/>
              </a:rPr>
              <a:t>Qxy</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的定义方式：</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可以选择</a:t>
            </a:r>
            <a:r>
              <a:rPr lang="ja-JP" altLang="ja-JP" sz="1200" b="0" i="0" kern="1200" dirty="0">
                <a:solidFill>
                  <a:schemeClr val="tx1"/>
                </a:solidFill>
                <a:effectLst/>
                <a:latin typeface="+mn-lt"/>
                <a:ea typeface="+mn-ea"/>
                <a:cs typeface="+mn-cs"/>
              </a:rPr>
              <a:t>Qxy = √(Qx² + Qy²)</a:t>
            </a:r>
            <a:r>
              <a:rPr lang="en-US" altLang="ja-JP"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还是</a:t>
            </a:r>
            <a:r>
              <a:rPr lang="ja-JP" altLang="ja-JP" sz="1200" b="0" i="0" kern="1200" dirty="0">
                <a:solidFill>
                  <a:schemeClr val="tx1"/>
                </a:solidFill>
                <a:effectLst/>
                <a:latin typeface="+mn-lt"/>
                <a:ea typeface="+mn-ea"/>
                <a:cs typeface="+mn-cs"/>
              </a:rPr>
              <a:t>Qxy = Qy</a:t>
            </a:r>
            <a:r>
              <a:rPr lang="en-US" altLang="ja-JP"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这样一个功能。</a:t>
            </a:r>
            <a:endParaRPr lang="ja-JP" altLang="ja-JP" sz="1200" b="0" i="0" kern="1200" dirty="0">
              <a:solidFill>
                <a:schemeClr val="tx1"/>
              </a:solidFill>
              <a:effectLst/>
              <a:latin typeface="+mn-lt"/>
              <a:ea typeface="+mn-ea"/>
              <a:cs typeface="+mn-cs"/>
            </a:endParaRPr>
          </a:p>
          <a:p>
            <a:endParaRPr kumimoji="1" lang="ja-JP" altLang="en-US" dirty="0"/>
          </a:p>
        </p:txBody>
      </p:sp>
      <p:sp>
        <p:nvSpPr>
          <p:cNvPr id="4" name="スライド番号プレースホルダー 3">
            <a:extLst>
              <a:ext uri="{FF2B5EF4-FFF2-40B4-BE49-F238E27FC236}">
                <a16:creationId xmlns:a16="http://schemas.microsoft.com/office/drawing/2014/main" id="{2288306E-B841-C97C-E85F-FF662C0C352D}"/>
              </a:ext>
            </a:extLst>
          </p:cNvPr>
          <p:cNvSpPr>
            <a:spLocks noGrp="1"/>
          </p:cNvSpPr>
          <p:nvPr>
            <p:ph type="sldNum" sz="quarter" idx="5"/>
          </p:nvPr>
        </p:nvSpPr>
        <p:spPr/>
        <p:txBody>
          <a:bodyPr/>
          <a:lstStyle/>
          <a:p>
            <a:fld id="{09480E5D-39F6-4F21-9D62-24BE8E9E0E37}" type="slidenum">
              <a:rPr kumimoji="1" lang="ja-JP" altLang="en-US" smtClean="0"/>
              <a:t>29</a:t>
            </a:fld>
            <a:endParaRPr kumimoji="1" lang="ja-JP" altLang="en-US"/>
          </a:p>
        </p:txBody>
      </p:sp>
    </p:spTree>
    <p:extLst>
      <p:ext uri="{BB962C8B-B14F-4D97-AF65-F5344CB8AC3E}">
        <p14:creationId xmlns:p14="http://schemas.microsoft.com/office/powerpoint/2010/main" val="38679524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16" name="Picture Placeholder 7"/>
          <p:cNvSpPr>
            <a:spLocks noGrp="1"/>
          </p:cNvSpPr>
          <p:nvPr>
            <p:ph type="pic" sz="quarter" idx="20" hasCustomPrompt="1"/>
          </p:nvPr>
        </p:nvSpPr>
        <p:spPr>
          <a:xfrm>
            <a:off x="0" y="3"/>
            <a:ext cx="9144000" cy="4343399"/>
          </a:xfrm>
          <a:blipFill>
            <a:blip r:embed="rId2"/>
            <a:srcRect/>
            <a:stretch>
              <a:fillRect l="-6954" t="249" r="-10473" b="-249"/>
            </a:stretch>
          </a:blipFill>
        </p:spPr>
        <p:txBody>
          <a:bodyPr bIns="640080" anchor="b" anchorCtr="0">
            <a:normAutofit/>
          </a:bodyPr>
          <a:lstStyle>
            <a:lvl1pPr marL="0" indent="0" algn="ctr">
              <a:buFontTx/>
              <a:buNone/>
              <a:defRPr sz="1800" b="1" i="1">
                <a:solidFill>
                  <a:schemeClr val="accent6">
                    <a:lumMod val="90000"/>
                  </a:schemeClr>
                </a:solidFill>
                <a:latin typeface="+mj-lt"/>
              </a:defRPr>
            </a:lvl1pPr>
          </a:lstStyle>
          <a:p>
            <a:r>
              <a:rPr lang="en-US" dirty="0"/>
              <a:t> </a:t>
            </a:r>
          </a:p>
        </p:txBody>
      </p:sp>
      <p:sp>
        <p:nvSpPr>
          <p:cNvPr id="15" name="Rectangle 14"/>
          <p:cNvSpPr/>
          <p:nvPr/>
        </p:nvSpPr>
        <p:spPr>
          <a:xfrm>
            <a:off x="2286" y="6400800"/>
            <a:ext cx="9141714"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j-lt"/>
            </a:endParaRPr>
          </a:p>
        </p:txBody>
      </p:sp>
      <p:sp>
        <p:nvSpPr>
          <p:cNvPr id="6" name="TextBox 5"/>
          <p:cNvSpPr txBox="1"/>
          <p:nvPr/>
        </p:nvSpPr>
        <p:spPr>
          <a:xfrm>
            <a:off x="81544" y="6477000"/>
            <a:ext cx="900693" cy="326136"/>
          </a:xfrm>
          <a:prstGeom prst="rect">
            <a:avLst/>
          </a:prstGeom>
          <a:noFill/>
        </p:spPr>
        <p:txBody>
          <a:bodyPr wrap="none" rtlCol="0" anchor="ctr" anchorCtr="0">
            <a:noAutofit/>
          </a:bodyPr>
          <a:lstStyle/>
          <a:p>
            <a:pPr algn="ctr"/>
            <a:r>
              <a:rPr lang="en-US" sz="1050" b="1" dirty="0">
                <a:solidFill>
                  <a:schemeClr val="bg2"/>
                </a:solidFill>
                <a:latin typeface="+mj-lt"/>
              </a:rPr>
              <a:t>CONFIDENTIAL</a:t>
            </a:r>
          </a:p>
        </p:txBody>
      </p:sp>
      <p:pic>
        <p:nvPicPr>
          <p:cNvPr id="7" name="Content Placeholder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7750" y="5114087"/>
            <a:ext cx="3908500" cy="780616"/>
          </a:xfrm>
          <a:prstGeom prst="rect">
            <a:avLst/>
          </a:prstGeom>
        </p:spPr>
      </p:pic>
      <p:sp>
        <p:nvSpPr>
          <p:cNvPr id="8" name="Rectangle 7"/>
          <p:cNvSpPr/>
          <p:nvPr userDrawn="1"/>
        </p:nvSpPr>
        <p:spPr>
          <a:xfrm>
            <a:off x="2286" y="6400800"/>
            <a:ext cx="9141714"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j-lt"/>
            </a:endParaRPr>
          </a:p>
        </p:txBody>
      </p:sp>
      <p:pic>
        <p:nvPicPr>
          <p:cNvPr id="10" name="Content Placeholder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17750" y="5114087"/>
            <a:ext cx="3908500" cy="780616"/>
          </a:xfrm>
          <a:prstGeom prst="rect">
            <a:avLst/>
          </a:prstGeom>
        </p:spPr>
      </p:pic>
      <p:sp>
        <p:nvSpPr>
          <p:cNvPr id="2" name="タイトル 1">
            <a:extLst>
              <a:ext uri="{FF2B5EF4-FFF2-40B4-BE49-F238E27FC236}">
                <a16:creationId xmlns:a16="http://schemas.microsoft.com/office/drawing/2014/main" id="{23A3952D-FC5A-4E5A-9FCD-94E140C2D3B5}"/>
              </a:ext>
            </a:extLst>
          </p:cNvPr>
          <p:cNvSpPr>
            <a:spLocks noGrp="1"/>
          </p:cNvSpPr>
          <p:nvPr>
            <p:ph type="title" hasCustomPrompt="1"/>
          </p:nvPr>
        </p:nvSpPr>
        <p:spPr>
          <a:xfrm>
            <a:off x="628650" y="2877193"/>
            <a:ext cx="7886700" cy="1602948"/>
          </a:xfrm>
        </p:spPr>
        <p:txBody>
          <a:bodyPr anchor="b"/>
          <a:lstStyle>
            <a:lvl1pPr algn="ctr">
              <a:defRPr>
                <a:solidFill>
                  <a:schemeClr val="bg1"/>
                </a:solidFill>
              </a:defRPr>
            </a:lvl1pPr>
          </a:lstStyle>
          <a:p>
            <a:pPr lvl="0"/>
            <a:r>
              <a:rPr lang="ja-JP" altLang="en-US" dirty="0"/>
              <a:t>タイトル</a:t>
            </a:r>
            <a:r>
              <a:rPr lang="en-US" altLang="ja-JP" dirty="0"/>
              <a:t>– Size 30pt font</a:t>
            </a:r>
          </a:p>
        </p:txBody>
      </p:sp>
    </p:spTree>
    <p:extLst>
      <p:ext uri="{BB962C8B-B14F-4D97-AF65-F5344CB8AC3E}">
        <p14:creationId xmlns:p14="http://schemas.microsoft.com/office/powerpoint/2010/main" val="4248066102"/>
      </p:ext>
    </p:extLst>
  </p:cSld>
  <p:clrMapOvr>
    <a:masterClrMapping/>
  </p:clrMapOvr>
  <p:extLst>
    <p:ext uri="{DCECCB84-F9BA-43D5-87BE-67443E8EF086}">
      <p15:sldGuideLst xmlns:p15="http://schemas.microsoft.com/office/powerpoint/2012/main">
        <p15:guide id="5" orient="horz" pos="3090" userDrawn="1">
          <p15:clr>
            <a:srgbClr val="FBAE40"/>
          </p15:clr>
        </p15:guide>
        <p15:guide id="6" orient="horz" pos="2880" userDrawn="1">
          <p15:clr>
            <a:srgbClr val="FBAE40"/>
          </p15:clr>
        </p15:guide>
        <p15:guide id="7" orient="horz" pos="2736" userDrawn="1">
          <p15:clr>
            <a:srgbClr val="FBAE40"/>
          </p15:clr>
        </p15:guide>
        <p15:guide id="8" orient="horz" pos="196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_日付・名前">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D606A30A-FCA5-4420-A744-52C7B2C5F3E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97" t="-298" r="16740" b="23"/>
          <a:stretch/>
        </p:blipFill>
        <p:spPr>
          <a:xfrm>
            <a:off x="0" y="0"/>
            <a:ext cx="9144000" cy="4570956"/>
          </a:xfrm>
          <a:prstGeom prst="rect">
            <a:avLst/>
          </a:prstGeom>
        </p:spPr>
      </p:pic>
      <p:sp>
        <p:nvSpPr>
          <p:cNvPr id="14"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5"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6" name="Date Placeholder 3"/>
          <p:cNvSpPr>
            <a:spLocks noGrp="1"/>
          </p:cNvSpPr>
          <p:nvPr>
            <p:ph type="dt" sz="half" idx="10"/>
          </p:nvPr>
        </p:nvSpPr>
        <p:spPr>
          <a:xfrm>
            <a:off x="6197294" y="6477000"/>
            <a:ext cx="816269" cy="311150"/>
          </a:xfrm>
        </p:spPr>
        <p:txBody>
          <a:bodyPr/>
          <a:lstStyle>
            <a:lvl1pPr>
              <a:defRPr>
                <a:latin typeface="+mn-lt"/>
              </a:defRPr>
            </a:lvl1pPr>
          </a:lstStyle>
          <a:p>
            <a:fld id="{78357E68-063E-4963-A53C-37713E0CB8CE}" type="datetime1">
              <a:rPr lang="en-US" smtClean="0"/>
              <a:t>7/27/2026</a:t>
            </a:fld>
            <a:endParaRPr lang="en-US"/>
          </a:p>
        </p:txBody>
      </p:sp>
      <p:sp>
        <p:nvSpPr>
          <p:cNvPr id="12" name="テキスト プレースホルダー 3">
            <a:extLst>
              <a:ext uri="{FF2B5EF4-FFF2-40B4-BE49-F238E27FC236}">
                <a16:creationId xmlns:a16="http://schemas.microsoft.com/office/drawing/2014/main" id="{2289C8A4-964A-444F-AB14-FF5C73B4026C}"/>
              </a:ext>
            </a:extLst>
          </p:cNvPr>
          <p:cNvSpPr>
            <a:spLocks noGrp="1"/>
          </p:cNvSpPr>
          <p:nvPr>
            <p:ph type="body" sz="quarter" idx="20" hasCustomPrompt="1"/>
          </p:nvPr>
        </p:nvSpPr>
        <p:spPr>
          <a:xfrm>
            <a:off x="2984501" y="4774869"/>
            <a:ext cx="3174999" cy="438397"/>
          </a:xfrm>
        </p:spPr>
        <p:txBody>
          <a:bodyPr>
            <a:normAutofit/>
          </a:bodyPr>
          <a:lstStyle>
            <a:lvl1pPr marL="0" indent="0" algn="ctr">
              <a:buNone/>
              <a:defRPr sz="2000">
                <a:latin typeface="+mn-ea"/>
                <a:ea typeface="+mn-ea"/>
              </a:defRPr>
            </a:lvl1pPr>
          </a:lstStyle>
          <a:p>
            <a:pPr lvl="0"/>
            <a:r>
              <a:rPr kumimoji="1" lang="ja-JP" altLang="en-US" dirty="0"/>
              <a:t>日付</a:t>
            </a:r>
          </a:p>
        </p:txBody>
      </p:sp>
      <p:sp>
        <p:nvSpPr>
          <p:cNvPr id="17" name="テキスト プレースホルダー 3">
            <a:extLst>
              <a:ext uri="{FF2B5EF4-FFF2-40B4-BE49-F238E27FC236}">
                <a16:creationId xmlns:a16="http://schemas.microsoft.com/office/drawing/2014/main" id="{1384D018-2556-44F0-8753-B625E455E0ED}"/>
              </a:ext>
            </a:extLst>
          </p:cNvPr>
          <p:cNvSpPr>
            <a:spLocks noGrp="1"/>
          </p:cNvSpPr>
          <p:nvPr>
            <p:ph type="body" sz="quarter" idx="21" hasCustomPrompt="1"/>
          </p:nvPr>
        </p:nvSpPr>
        <p:spPr>
          <a:xfrm>
            <a:off x="1525188" y="5310297"/>
            <a:ext cx="6093624" cy="977769"/>
          </a:xfrm>
        </p:spPr>
        <p:txBody>
          <a:bodyPr anchor="b">
            <a:noAutofit/>
          </a:bodyPr>
          <a:lstStyle>
            <a:lvl1pPr marL="0" indent="0" algn="ctr">
              <a:spcBef>
                <a:spcPts val="0"/>
              </a:spcBef>
              <a:buNone/>
              <a:defRPr sz="2400">
                <a:latin typeface="+mn-ea"/>
                <a:ea typeface="+mn-ea"/>
              </a:defRPr>
            </a:lvl1pPr>
          </a:lstStyle>
          <a:p>
            <a:pPr lvl="0"/>
            <a:r>
              <a:rPr kumimoji="1" lang="ja-JP" altLang="en-US" dirty="0"/>
              <a:t>所属</a:t>
            </a:r>
            <a:endParaRPr kumimoji="1" lang="en-US" altLang="ja-JP" dirty="0"/>
          </a:p>
          <a:p>
            <a:pPr lvl="0"/>
            <a:r>
              <a:rPr kumimoji="1" lang="ja-JP" altLang="en-US" dirty="0"/>
              <a:t>氏名</a:t>
            </a:r>
          </a:p>
        </p:txBody>
      </p:sp>
      <p:sp>
        <p:nvSpPr>
          <p:cNvPr id="2" name="タイトル 1">
            <a:extLst>
              <a:ext uri="{FF2B5EF4-FFF2-40B4-BE49-F238E27FC236}">
                <a16:creationId xmlns:a16="http://schemas.microsoft.com/office/drawing/2014/main" id="{E15697B9-7584-4039-8148-FD2208644B51}"/>
              </a:ext>
            </a:extLst>
          </p:cNvPr>
          <p:cNvSpPr>
            <a:spLocks noGrp="1"/>
          </p:cNvSpPr>
          <p:nvPr>
            <p:ph type="title" hasCustomPrompt="1"/>
          </p:nvPr>
        </p:nvSpPr>
        <p:spPr>
          <a:xfrm>
            <a:off x="628650" y="3124201"/>
            <a:ext cx="7886700" cy="1525088"/>
          </a:xfrm>
        </p:spPr>
        <p:txBody>
          <a:bodyPr anchor="b"/>
          <a:lstStyle>
            <a:lvl1pPr algn="ctr">
              <a:defRPr sz="3600">
                <a:solidFill>
                  <a:schemeClr val="bg1"/>
                </a:solidFill>
              </a:defRPr>
            </a:lvl1pPr>
          </a:lstStyle>
          <a:p>
            <a:r>
              <a:rPr kumimoji="1" lang="ja-JP" altLang="en-US"/>
              <a:t>メインタイトル</a:t>
            </a:r>
            <a:endParaRPr kumimoji="1" lang="ja-JP" altLang="en-US" dirty="0"/>
          </a:p>
        </p:txBody>
      </p:sp>
    </p:spTree>
    <p:extLst>
      <p:ext uri="{BB962C8B-B14F-4D97-AF65-F5344CB8AC3E}">
        <p14:creationId xmlns:p14="http://schemas.microsoft.com/office/powerpoint/2010/main" val="3329389172"/>
      </p:ext>
    </p:extLst>
  </p:cSld>
  <p:clrMapOvr>
    <a:masterClrMapping/>
  </p:clrMapOvr>
  <p:extLst>
    <p:ext uri="{DCECCB84-F9BA-43D5-87BE-67443E8EF086}">
      <p15:sldGuideLst xmlns:p15="http://schemas.microsoft.com/office/powerpoint/2012/main">
        <p15:guide id="9" orient="horz" pos="2160" userDrawn="1">
          <p15:clr>
            <a:srgbClr val="FBAE40"/>
          </p15:clr>
        </p15:guide>
        <p15:guide id="10" orient="horz" pos="3000" userDrawn="1">
          <p15:clr>
            <a:srgbClr val="FBAE40"/>
          </p15:clr>
        </p15:guide>
        <p15:guide id="11" orient="horz" pos="1968" userDrawn="1">
          <p15:clr>
            <a:srgbClr val="FBAE40"/>
          </p15:clr>
        </p15:guide>
        <p15:guide id="12" orient="horz"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1">
    <p:spTree>
      <p:nvGrpSpPr>
        <p:cNvPr id="1" name=""/>
        <p:cNvGrpSpPr/>
        <p:nvPr/>
      </p:nvGrpSpPr>
      <p:grpSpPr>
        <a:xfrm>
          <a:off x="0" y="0"/>
          <a:ext cx="0" cy="0"/>
          <a:chOff x="0" y="0"/>
          <a:chExt cx="0" cy="0"/>
        </a:xfrm>
      </p:grpSpPr>
      <p:sp>
        <p:nvSpPr>
          <p:cNvPr id="7" name="Content Placeholder 2"/>
          <p:cNvSpPr>
            <a:spLocks noGrp="1"/>
          </p:cNvSpPr>
          <p:nvPr>
            <p:ph sz="quarter" idx="19" hasCustomPrompt="1"/>
          </p:nvPr>
        </p:nvSpPr>
        <p:spPr>
          <a:xfrm>
            <a:off x="2536521" y="4960309"/>
            <a:ext cx="4077222" cy="1059493"/>
          </a:xfrm>
        </p:spPr>
        <p:txBody>
          <a:bodyPr anchor="ctr"/>
          <a:lstStyle>
            <a:lvl1pPr marL="0" marR="0" indent="0" algn="ctr" defTabSz="685800" rtl="0" eaLnBrk="1" fontAlgn="auto" latinLnBrk="0" hangingPunct="1">
              <a:lnSpc>
                <a:spcPct val="110000"/>
              </a:lnSpc>
              <a:spcBef>
                <a:spcPts val="0"/>
              </a:spcBef>
              <a:spcAft>
                <a:spcPts val="450"/>
              </a:spcAft>
              <a:buClrTx/>
              <a:buSzTx/>
              <a:buFontTx/>
              <a:buNone/>
              <a:tabLst/>
              <a:defRPr baseline="0"/>
            </a:lvl1pPr>
          </a:lstStyle>
          <a:p>
            <a:r>
              <a:rPr lang="en-US" dirty="0"/>
              <a:t>Type text here or click icon </a:t>
            </a:r>
            <a:br>
              <a:rPr lang="en-US" dirty="0"/>
            </a:br>
            <a:r>
              <a:rPr lang="en-US" dirty="0"/>
              <a:t>to insert image</a:t>
            </a:r>
          </a:p>
        </p:txBody>
      </p:sp>
      <p:sp>
        <p:nvSpPr>
          <p:cNvPr id="12" name="Picture Placeholder 7">
            <a:extLst>
              <a:ext uri="{FF2B5EF4-FFF2-40B4-BE49-F238E27FC236}">
                <a16:creationId xmlns:a16="http://schemas.microsoft.com/office/drawing/2014/main" id="{255243B7-1E4A-465A-A6B3-A5190C436F84}"/>
              </a:ext>
            </a:extLst>
          </p:cNvPr>
          <p:cNvSpPr>
            <a:spLocks noGrp="1"/>
          </p:cNvSpPr>
          <p:nvPr>
            <p:ph type="pic" sz="quarter" idx="13"/>
          </p:nvPr>
        </p:nvSpPr>
        <p:spPr>
          <a:xfrm>
            <a:off x="2" y="0"/>
            <a:ext cx="9143999" cy="4343400"/>
          </a:xfrm>
          <a:solidFill>
            <a:schemeClr val="bg1">
              <a:lumMod val="95000"/>
            </a:schemeClr>
          </a:solidFill>
        </p:spPr>
        <p:txBody>
          <a:bodyPr bIns="640080" anchor="b" anchorCtr="0">
            <a:normAutofit/>
          </a:bodyPr>
          <a:lstStyle>
            <a:lvl1pPr marL="0" indent="0" algn="ctr">
              <a:buFontTx/>
              <a:buNone/>
              <a:defRPr sz="1800" b="1" i="1">
                <a:solidFill>
                  <a:schemeClr val="tx2"/>
                </a:solidFill>
              </a:defRPr>
            </a:lvl1pPr>
          </a:lstStyle>
          <a:p>
            <a:r>
              <a:rPr lang="ja-JP" altLang="en-US"/>
              <a:t>アイコンをクリックして図を追加</a:t>
            </a:r>
            <a:endParaRPr lang="en-US" dirty="0"/>
          </a:p>
        </p:txBody>
      </p:sp>
      <p:sp>
        <p:nvSpPr>
          <p:cNvPr id="9" name="Footer Placeholder 4"/>
          <p:cNvSpPr>
            <a:spLocks noGrp="1"/>
          </p:cNvSpPr>
          <p:nvPr>
            <p:ph type="ftr" sz="quarter" idx="3"/>
          </p:nvPr>
        </p:nvSpPr>
        <p:spPr>
          <a:xfrm>
            <a:off x="6694078" y="6487628"/>
            <a:ext cx="1823432" cy="300522"/>
          </a:xfrm>
          <a:prstGeom prst="rect">
            <a:avLst/>
          </a:prstGeom>
        </p:spPr>
        <p:txBody>
          <a:bodyPr vert="horz" lIns="0" tIns="45720" rIns="91440" bIns="45720" rtlCol="0" anchor="ctr"/>
          <a:lstStyle>
            <a:lvl1pPr algn="r">
              <a:defRPr sz="450" cap="all" baseline="0">
                <a:solidFill>
                  <a:schemeClr val="bg1"/>
                </a:solidFill>
                <a:latin typeface="+mj-lt"/>
              </a:defRPr>
            </a:lvl1pPr>
          </a:lstStyle>
          <a:p>
            <a:r>
              <a:rPr lang="en-US"/>
              <a:t>© 2020 Rigaku Corporation. All rights reserved</a:t>
            </a:r>
            <a:endParaRPr lang="en-US" dirty="0">
              <a:cs typeface="Segoe UI Semilight" panose="020B0402040204020203" pitchFamily="34" charset="0"/>
            </a:endParaRPr>
          </a:p>
        </p:txBody>
      </p:sp>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0" name="Date Placeholder 3"/>
          <p:cNvSpPr>
            <a:spLocks noGrp="1"/>
          </p:cNvSpPr>
          <p:nvPr>
            <p:ph type="dt" sz="half" idx="2"/>
          </p:nvPr>
        </p:nvSpPr>
        <p:spPr>
          <a:xfrm>
            <a:off x="6203237" y="6477000"/>
            <a:ext cx="816269" cy="311150"/>
          </a:xfrm>
          <a:prstGeom prst="rect">
            <a:avLst/>
          </a:prstGeom>
        </p:spPr>
        <p:txBody>
          <a:bodyPr vert="horz" lIns="91440" tIns="45720" rIns="0" bIns="45720" rtlCol="0" anchor="ctr"/>
          <a:lstStyle>
            <a:lvl1pPr algn="r">
              <a:defRPr sz="450">
                <a:solidFill>
                  <a:schemeClr val="bg1"/>
                </a:solidFill>
                <a:latin typeface="+mj-lt"/>
              </a:defRPr>
            </a:lvl1pPr>
          </a:lstStyle>
          <a:p>
            <a:fld id="{132B25E7-DEA7-4D5B-B47A-22EBA008311B}" type="datetime1">
              <a:rPr lang="en-US" smtClean="0"/>
              <a:t>7/27/2026</a:t>
            </a:fld>
            <a:endParaRPr lang="en-US" dirty="0"/>
          </a:p>
        </p:txBody>
      </p:sp>
      <p:sp>
        <p:nvSpPr>
          <p:cNvPr id="5" name="Text Placeholder 2"/>
          <p:cNvSpPr>
            <a:spLocks noGrp="1"/>
          </p:cNvSpPr>
          <p:nvPr>
            <p:ph type="body" idx="14" hasCustomPrompt="1"/>
          </p:nvPr>
        </p:nvSpPr>
        <p:spPr>
          <a:xfrm>
            <a:off x="628650" y="3008371"/>
            <a:ext cx="7886700" cy="1431026"/>
          </a:xfrm>
        </p:spPr>
        <p:txBody>
          <a:bodyPr anchor="b" anchorCtr="0">
            <a:noAutofit/>
          </a:bodyPr>
          <a:lstStyle>
            <a:lvl1pPr marL="0" indent="0" algn="ctr">
              <a:buNone/>
              <a:defRPr sz="3000" b="1"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Main HEADING – Size 30pt font</a:t>
            </a:r>
          </a:p>
        </p:txBody>
      </p:sp>
    </p:spTree>
    <p:extLst>
      <p:ext uri="{BB962C8B-B14F-4D97-AF65-F5344CB8AC3E}">
        <p14:creationId xmlns:p14="http://schemas.microsoft.com/office/powerpoint/2010/main" val="3740890477"/>
      </p:ext>
    </p:extLst>
  </p:cSld>
  <p:clrMapOvr>
    <a:masterClrMapping/>
  </p:clrMapOvr>
  <p:extLst>
    <p:ext uri="{DCECCB84-F9BA-43D5-87BE-67443E8EF086}">
      <p15:sldGuideLst xmlns:p15="http://schemas.microsoft.com/office/powerpoint/2012/main">
        <p15:guide id="5" orient="horz" pos="3120" userDrawn="1">
          <p15:clr>
            <a:srgbClr val="FBAE40"/>
          </p15:clr>
        </p15:guide>
        <p15:guide id="6" orient="horz" pos="2880" userDrawn="1">
          <p15:clr>
            <a:srgbClr val="FBAE40"/>
          </p15:clr>
        </p15:guide>
        <p15:guide id="7" orient="horz" pos="2736" userDrawn="1">
          <p15:clr>
            <a:srgbClr val="FBAE40"/>
          </p15:clr>
        </p15:guide>
        <p15:guide id="8" orient="horz" pos="196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Slide 2">
    <p:spTree>
      <p:nvGrpSpPr>
        <p:cNvPr id="1" name=""/>
        <p:cNvGrpSpPr/>
        <p:nvPr/>
      </p:nvGrpSpPr>
      <p:grpSpPr>
        <a:xfrm>
          <a:off x="0" y="0"/>
          <a:ext cx="0" cy="0"/>
          <a:chOff x="0" y="0"/>
          <a:chExt cx="0" cy="0"/>
        </a:xfrm>
      </p:grpSpPr>
      <p:sp>
        <p:nvSpPr>
          <p:cNvPr id="2" name="Rectangle 1"/>
          <p:cNvSpPr/>
          <p:nvPr/>
        </p:nvSpPr>
        <p:spPr>
          <a:xfrm>
            <a:off x="0" y="3"/>
            <a:ext cx="9144000" cy="4343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Content Placeholder 2"/>
          <p:cNvSpPr>
            <a:spLocks noGrp="1"/>
          </p:cNvSpPr>
          <p:nvPr>
            <p:ph sz="quarter" idx="19" hasCustomPrompt="1"/>
          </p:nvPr>
        </p:nvSpPr>
        <p:spPr>
          <a:xfrm>
            <a:off x="2536521" y="4960309"/>
            <a:ext cx="4077222" cy="1059493"/>
          </a:xfrm>
        </p:spPr>
        <p:txBody>
          <a:bodyPr anchor="ctr"/>
          <a:lstStyle>
            <a:lvl1pPr marL="0" marR="0" indent="0" algn="ctr" defTabSz="685800" rtl="0" eaLnBrk="1" fontAlgn="auto" latinLnBrk="0" hangingPunct="1">
              <a:lnSpc>
                <a:spcPct val="110000"/>
              </a:lnSpc>
              <a:spcBef>
                <a:spcPts val="0"/>
              </a:spcBef>
              <a:spcAft>
                <a:spcPts val="450"/>
              </a:spcAft>
              <a:buClrTx/>
              <a:buSzTx/>
              <a:buFontTx/>
              <a:buNone/>
              <a:tabLst/>
              <a:defRPr baseline="0"/>
            </a:lvl1pPr>
          </a:lstStyle>
          <a:p>
            <a:r>
              <a:rPr lang="en-US" dirty="0"/>
              <a:t>Type text here or click icon </a:t>
            </a:r>
            <a:br>
              <a:rPr lang="en-US" dirty="0"/>
            </a:br>
            <a:r>
              <a:rPr lang="en-US" dirty="0"/>
              <a:t>to insert image</a:t>
            </a:r>
          </a:p>
        </p:txBody>
      </p:sp>
      <p:sp>
        <p:nvSpPr>
          <p:cNvPr id="9" name="Footer Placeholder 4"/>
          <p:cNvSpPr>
            <a:spLocks noGrp="1"/>
          </p:cNvSpPr>
          <p:nvPr>
            <p:ph type="ftr" sz="quarter" idx="3"/>
          </p:nvPr>
        </p:nvSpPr>
        <p:spPr>
          <a:xfrm>
            <a:off x="6694078" y="6487628"/>
            <a:ext cx="1823432" cy="300522"/>
          </a:xfrm>
          <a:prstGeom prst="rect">
            <a:avLst/>
          </a:prstGeom>
        </p:spPr>
        <p:txBody>
          <a:bodyPr vert="horz" lIns="0" tIns="45720" rIns="91440" bIns="45720" rtlCol="0" anchor="ctr"/>
          <a:lstStyle>
            <a:lvl1pPr algn="r">
              <a:defRPr sz="450" cap="all" baseline="0">
                <a:solidFill>
                  <a:schemeClr val="bg1"/>
                </a:solidFill>
                <a:latin typeface="+mj-lt"/>
              </a:defRPr>
            </a:lvl1pPr>
          </a:lstStyle>
          <a:p>
            <a:r>
              <a:rPr lang="en-US"/>
              <a:t>© 2020 Rigaku Corporation. All rights reserved</a:t>
            </a:r>
            <a:endParaRPr lang="en-US" dirty="0">
              <a:cs typeface="Segoe UI Semilight" panose="020B0402040204020203" pitchFamily="34" charset="0"/>
            </a:endParaRPr>
          </a:p>
        </p:txBody>
      </p:sp>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0" name="Date Placeholder 3"/>
          <p:cNvSpPr>
            <a:spLocks noGrp="1"/>
          </p:cNvSpPr>
          <p:nvPr>
            <p:ph type="dt" sz="half" idx="2"/>
          </p:nvPr>
        </p:nvSpPr>
        <p:spPr>
          <a:xfrm>
            <a:off x="6203237" y="6477000"/>
            <a:ext cx="816269" cy="311150"/>
          </a:xfrm>
          <a:prstGeom prst="rect">
            <a:avLst/>
          </a:prstGeom>
        </p:spPr>
        <p:txBody>
          <a:bodyPr vert="horz" lIns="91440" tIns="45720" rIns="0" bIns="45720" rtlCol="0" anchor="ctr"/>
          <a:lstStyle>
            <a:lvl1pPr algn="r">
              <a:defRPr sz="450">
                <a:solidFill>
                  <a:schemeClr val="bg1"/>
                </a:solidFill>
                <a:latin typeface="+mj-lt"/>
              </a:defRPr>
            </a:lvl1pPr>
          </a:lstStyle>
          <a:p>
            <a:fld id="{132B25E7-DEA7-4D5B-B47A-22EBA008311B}" type="datetime1">
              <a:rPr lang="en-US" smtClean="0"/>
              <a:t>7/27/2026</a:t>
            </a:fld>
            <a:endParaRPr lang="en-US" dirty="0"/>
          </a:p>
        </p:txBody>
      </p:sp>
      <p:sp>
        <p:nvSpPr>
          <p:cNvPr id="11" name="Rectangle 10"/>
          <p:cNvSpPr/>
          <p:nvPr userDrawn="1"/>
        </p:nvSpPr>
        <p:spPr>
          <a:xfrm>
            <a:off x="0" y="3"/>
            <a:ext cx="9144000" cy="4343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Text Placeholder 2"/>
          <p:cNvSpPr>
            <a:spLocks noGrp="1"/>
          </p:cNvSpPr>
          <p:nvPr>
            <p:ph type="body" idx="14" hasCustomPrompt="1"/>
          </p:nvPr>
        </p:nvSpPr>
        <p:spPr>
          <a:xfrm>
            <a:off x="628650" y="3033423"/>
            <a:ext cx="7886700" cy="1431026"/>
          </a:xfrm>
        </p:spPr>
        <p:txBody>
          <a:bodyPr anchor="b" anchorCtr="0">
            <a:noAutofit/>
          </a:bodyPr>
          <a:lstStyle>
            <a:lvl1pPr marL="0" indent="0" algn="ctr">
              <a:buNone/>
              <a:defRPr sz="3000" b="1"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Main HEADING – Size 30pt font</a:t>
            </a:r>
          </a:p>
        </p:txBody>
      </p:sp>
    </p:spTree>
    <p:extLst>
      <p:ext uri="{BB962C8B-B14F-4D97-AF65-F5344CB8AC3E}">
        <p14:creationId xmlns:p14="http://schemas.microsoft.com/office/powerpoint/2010/main" val="1317472177"/>
      </p:ext>
    </p:extLst>
  </p:cSld>
  <p:clrMapOvr>
    <a:masterClrMapping/>
  </p:clrMapOvr>
  <p:extLst>
    <p:ext uri="{DCECCB84-F9BA-43D5-87BE-67443E8EF086}">
      <p15:sldGuideLst xmlns:p15="http://schemas.microsoft.com/office/powerpoint/2012/main">
        <p15:guide id="5" orient="horz" pos="3120">
          <p15:clr>
            <a:srgbClr val="FBAE40"/>
          </p15:clr>
        </p15:guide>
        <p15:guide id="6" orient="horz" pos="2880">
          <p15:clr>
            <a:srgbClr val="FBAE40"/>
          </p15:clr>
        </p15:guide>
        <p15:guide id="7" orient="horz" pos="2736">
          <p15:clr>
            <a:srgbClr val="FBAE40"/>
          </p15:clr>
        </p15:guide>
        <p15:guide id="8" orient="horz" pos="196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431800"/>
            <a:ext cx="7886700" cy="596900"/>
          </a:xfrm>
        </p:spPr>
        <p:txBody>
          <a:bodyPr/>
          <a:lstStyle>
            <a:lvl1pPr>
              <a:spcBef>
                <a:spcPts val="750"/>
              </a:spcBef>
              <a:defRPr/>
            </a:lvl1pPr>
          </a:lstStyle>
          <a:p>
            <a:r>
              <a:rPr lang="en-US" dirty="0"/>
              <a:t>Main HEADING – Size 30pt font</a:t>
            </a:r>
          </a:p>
        </p:txBody>
      </p:sp>
      <p:sp>
        <p:nvSpPr>
          <p:cNvPr id="3" name="Content Placeholder 2"/>
          <p:cNvSpPr>
            <a:spLocks noGrp="1"/>
          </p:cNvSpPr>
          <p:nvPr>
            <p:ph idx="1" hasCustomPrompt="1"/>
          </p:nvPr>
        </p:nvSpPr>
        <p:spPr>
          <a:xfrm>
            <a:off x="628650" y="1714503"/>
            <a:ext cx="7886700" cy="4305298"/>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solidFill>
                  <a:srgbClr val="464646"/>
                </a:solidFill>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21pt Font</a:t>
            </a:r>
          </a:p>
          <a:p>
            <a:pPr lvl="3"/>
            <a:r>
              <a:rPr lang="en-US" dirty="0"/>
              <a:t>Fifth level - Segoe UI </a:t>
            </a:r>
            <a:r>
              <a:rPr lang="en-US" dirty="0" err="1"/>
              <a:t>Semilight</a:t>
            </a:r>
            <a:r>
              <a:rPr lang="en-US" dirty="0"/>
              <a:t> (Body) 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18pt Font</a:t>
            </a:r>
          </a:p>
        </p:txBody>
      </p:sp>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9"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0" name="Date Placeholder 3"/>
          <p:cNvSpPr>
            <a:spLocks noGrp="1"/>
          </p:cNvSpPr>
          <p:nvPr>
            <p:ph type="dt" sz="half" idx="10"/>
          </p:nvPr>
        </p:nvSpPr>
        <p:spPr>
          <a:xfrm>
            <a:off x="6197294" y="6477000"/>
            <a:ext cx="816269" cy="311150"/>
          </a:xfrm>
        </p:spPr>
        <p:txBody>
          <a:bodyPr/>
          <a:lstStyle>
            <a:lvl1pPr>
              <a:defRPr>
                <a:latin typeface="+mn-lt"/>
              </a:defRPr>
            </a:lvl1pPr>
          </a:lstStyle>
          <a:p>
            <a:fld id="{DCC1CB69-A35B-4B77-B0C3-EEDF66512D48}" type="datetime1">
              <a:rPr lang="en-US" smtClean="0"/>
              <a:t>7/27/2026</a:t>
            </a:fld>
            <a:endParaRPr lang="en-US"/>
          </a:p>
        </p:txBody>
      </p:sp>
      <p:sp>
        <p:nvSpPr>
          <p:cNvPr id="13" name="Text Placeholder 2"/>
          <p:cNvSpPr>
            <a:spLocks noGrp="1"/>
          </p:cNvSpPr>
          <p:nvPr>
            <p:ph type="body" idx="13" hasCustomPrompt="1"/>
          </p:nvPr>
        </p:nvSpPr>
        <p:spPr>
          <a:xfrm>
            <a:off x="628651" y="1143001"/>
            <a:ext cx="7881937" cy="457200"/>
          </a:xfrm>
        </p:spPr>
        <p:txBody>
          <a:bodyPr>
            <a:normAutofit/>
          </a:bodyPr>
          <a:lstStyle>
            <a:lvl1pPr marL="0" indent="0" algn="l">
              <a:buNone/>
              <a:defRPr sz="2100" b="1">
                <a:solidFill>
                  <a:srgbClr val="464646"/>
                </a:solidFill>
                <a:latin typeface="+mj-lt"/>
                <a:ea typeface="Segoe UI Historic" panose="020B0502040204020203" pitchFamily="34" charset="0"/>
                <a:cs typeface="Segoe UI Semibold" panose="020B0702040204020203"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Second Heading - 21pt Font</a:t>
            </a:r>
          </a:p>
        </p:txBody>
      </p:sp>
    </p:spTree>
    <p:extLst>
      <p:ext uri="{BB962C8B-B14F-4D97-AF65-F5344CB8AC3E}">
        <p14:creationId xmlns:p14="http://schemas.microsoft.com/office/powerpoint/2010/main" val="2669229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サブタイトルなし_Title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431800"/>
            <a:ext cx="7886700" cy="596900"/>
          </a:xfrm>
        </p:spPr>
        <p:txBody>
          <a:bodyPr/>
          <a:lstStyle>
            <a:lvl1pPr>
              <a:spcBef>
                <a:spcPts val="750"/>
              </a:spcBef>
              <a:defRPr/>
            </a:lvl1pPr>
          </a:lstStyle>
          <a:p>
            <a:r>
              <a:rPr lang="en-US" dirty="0"/>
              <a:t>Main HEADING – Size 30pt font</a:t>
            </a:r>
          </a:p>
        </p:txBody>
      </p:sp>
      <p:sp>
        <p:nvSpPr>
          <p:cNvPr id="3" name="Content Placeholder 2"/>
          <p:cNvSpPr>
            <a:spLocks noGrp="1"/>
          </p:cNvSpPr>
          <p:nvPr>
            <p:ph idx="1" hasCustomPrompt="1"/>
          </p:nvPr>
        </p:nvSpPr>
        <p:spPr>
          <a:xfrm>
            <a:off x="628650" y="1402915"/>
            <a:ext cx="7886700" cy="4616886"/>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solidFill>
                  <a:srgbClr val="464646"/>
                </a:solidFill>
              </a:defRPr>
            </a:lvl5pPr>
          </a:lstStyle>
          <a:p>
            <a:pPr lvl="0"/>
            <a:r>
              <a:rPr lang="en-US" dirty="0"/>
              <a:t>Third level - Segoe UI </a:t>
            </a:r>
            <a:r>
              <a:rPr lang="en-US" dirty="0" err="1"/>
              <a:t>Semilight</a:t>
            </a:r>
            <a:r>
              <a:rPr lang="en-US" dirty="0"/>
              <a:t> (Headings) 24pt Font</a:t>
            </a:r>
          </a:p>
          <a:p>
            <a:pPr lvl="1"/>
            <a:r>
              <a:rPr lang="en-US" dirty="0"/>
              <a:t>Fourth level -  Segoe UI </a:t>
            </a:r>
            <a:r>
              <a:rPr lang="en-US" dirty="0" err="1"/>
              <a:t>Semilight</a:t>
            </a:r>
            <a:r>
              <a:rPr lang="en-US" dirty="0"/>
              <a:t> (Body) 21pt Font</a:t>
            </a:r>
          </a:p>
          <a:p>
            <a:pPr lvl="2"/>
            <a:r>
              <a:rPr lang="en-US" dirty="0"/>
              <a:t>Fifth level - Segoe UI </a:t>
            </a:r>
            <a:r>
              <a:rPr lang="en-US" dirty="0" err="1"/>
              <a:t>Semilight</a:t>
            </a:r>
            <a:r>
              <a:rPr lang="en-US" dirty="0"/>
              <a:t> (Body) 18pt Font</a:t>
            </a:r>
          </a:p>
          <a:p>
            <a:pPr marL="1097280" marR="0" lvl="3"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18pt Font</a:t>
            </a:r>
          </a:p>
        </p:txBody>
      </p:sp>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9"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0" name="Date Placeholder 3"/>
          <p:cNvSpPr>
            <a:spLocks noGrp="1"/>
          </p:cNvSpPr>
          <p:nvPr>
            <p:ph type="dt" sz="half" idx="10"/>
          </p:nvPr>
        </p:nvSpPr>
        <p:spPr>
          <a:xfrm>
            <a:off x="6197294" y="6477000"/>
            <a:ext cx="816269" cy="311150"/>
          </a:xfrm>
        </p:spPr>
        <p:txBody>
          <a:bodyPr/>
          <a:lstStyle>
            <a:lvl1pPr>
              <a:defRPr>
                <a:latin typeface="+mn-lt"/>
              </a:defRPr>
            </a:lvl1pPr>
          </a:lstStyle>
          <a:p>
            <a:fld id="{DCC1CB69-A35B-4B77-B0C3-EEDF66512D48}" type="datetime1">
              <a:rPr lang="en-US" smtClean="0"/>
              <a:t>7/27/2026</a:t>
            </a:fld>
            <a:endParaRPr lang="en-US"/>
          </a:p>
        </p:txBody>
      </p:sp>
    </p:spTree>
    <p:extLst>
      <p:ext uri="{BB962C8B-B14F-4D97-AF65-F5344CB8AC3E}">
        <p14:creationId xmlns:p14="http://schemas.microsoft.com/office/powerpoint/2010/main" val="3366560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act Slide 1">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3086100" y="82340"/>
            <a:ext cx="6057900" cy="6318460"/>
          </a:xfrm>
          <a:solidFill>
            <a:schemeClr val="bg1">
              <a:lumMod val="95000"/>
            </a:schemeClr>
          </a:solidFill>
        </p:spPr>
        <p:txBody>
          <a:bodyPr bIns="640080" anchor="b" anchorCtr="0">
            <a:normAutofit/>
          </a:bodyPr>
          <a:lstStyle>
            <a:lvl1pPr marL="0" indent="0" algn="r">
              <a:buFontTx/>
              <a:buNone/>
              <a:defRPr sz="1800" b="1" i="1">
                <a:solidFill>
                  <a:schemeClr val="tx2"/>
                </a:solidFill>
              </a:defRPr>
            </a:lvl1pPr>
          </a:lstStyle>
          <a:p>
            <a:r>
              <a:rPr lang="ja-JP" altLang="en-US"/>
              <a:t>アイコンをクリックして図を追加</a:t>
            </a:r>
            <a:endParaRPr lang="en-US" dirty="0"/>
          </a:p>
        </p:txBody>
      </p:sp>
      <p:sp>
        <p:nvSpPr>
          <p:cNvPr id="10"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1"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2" name="Date Placeholder 3"/>
          <p:cNvSpPr>
            <a:spLocks noGrp="1"/>
          </p:cNvSpPr>
          <p:nvPr>
            <p:ph type="dt" sz="half" idx="10"/>
          </p:nvPr>
        </p:nvSpPr>
        <p:spPr>
          <a:xfrm>
            <a:off x="6197294" y="6477000"/>
            <a:ext cx="816269" cy="311150"/>
          </a:xfrm>
        </p:spPr>
        <p:txBody>
          <a:bodyPr/>
          <a:lstStyle>
            <a:lvl1pPr>
              <a:defRPr>
                <a:latin typeface="+mn-lt"/>
              </a:defRPr>
            </a:lvl1pPr>
          </a:lstStyle>
          <a:p>
            <a:fld id="{C011527F-E828-4F8B-BF94-C0725D57B619}" type="datetime1">
              <a:rPr lang="en-US" smtClean="0"/>
              <a:t>7/27/2026</a:t>
            </a:fld>
            <a:endParaRPr lang="en-US"/>
          </a:p>
        </p:txBody>
      </p:sp>
      <p:sp>
        <p:nvSpPr>
          <p:cNvPr id="2" name="Title 1"/>
          <p:cNvSpPr>
            <a:spLocks noGrp="1"/>
          </p:cNvSpPr>
          <p:nvPr>
            <p:ph type="ctrTitle" hasCustomPrompt="1"/>
          </p:nvPr>
        </p:nvSpPr>
        <p:spPr>
          <a:xfrm>
            <a:off x="540362" y="2007924"/>
            <a:ext cx="5365320" cy="2481736"/>
          </a:xfrm>
          <a:solidFill>
            <a:schemeClr val="accent1">
              <a:alpha val="90000"/>
            </a:schemeClr>
          </a:solidFill>
        </p:spPr>
        <p:txBody>
          <a:bodyPr tIns="274320" anchor="t">
            <a:normAutofit/>
          </a:bodyPr>
          <a:lstStyle>
            <a:lvl1pPr algn="ctr">
              <a:defRPr sz="3000">
                <a:solidFill>
                  <a:schemeClr val="bg1"/>
                </a:solidFill>
              </a:defRPr>
            </a:lvl1pPr>
          </a:lstStyle>
          <a:p>
            <a:pPr lvl="0"/>
            <a:r>
              <a:rPr lang="en-US" dirty="0"/>
              <a:t>Main HEADING</a:t>
            </a:r>
            <a:br>
              <a:rPr lang="en-US" dirty="0"/>
            </a:br>
            <a:r>
              <a:rPr lang="en-US" dirty="0"/>
              <a:t>Size 30pt font</a:t>
            </a:r>
          </a:p>
        </p:txBody>
      </p:sp>
      <p:sp>
        <p:nvSpPr>
          <p:cNvPr id="3" name="Subtitle 2"/>
          <p:cNvSpPr>
            <a:spLocks noGrp="1"/>
          </p:cNvSpPr>
          <p:nvPr>
            <p:ph type="subTitle" idx="1" hasCustomPrompt="1"/>
          </p:nvPr>
        </p:nvSpPr>
        <p:spPr>
          <a:xfrm>
            <a:off x="645319" y="3444228"/>
            <a:ext cx="5155406" cy="825500"/>
          </a:xfrm>
        </p:spPr>
        <p:txBody>
          <a:bodyPr anchor="ctr">
            <a:normAutofit/>
          </a:bodyPr>
          <a:lstStyle>
            <a:lvl1pPr marL="0" indent="0" algn="ctr">
              <a:buNone/>
              <a:defRPr sz="21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a:t>
            </a:r>
            <a:br>
              <a:rPr lang="en-US" dirty="0"/>
            </a:br>
            <a:r>
              <a:rPr lang="en-US" dirty="0"/>
              <a:t>21pt Font</a:t>
            </a:r>
          </a:p>
        </p:txBody>
      </p:sp>
    </p:spTree>
    <p:extLst>
      <p:ext uri="{BB962C8B-B14F-4D97-AF65-F5344CB8AC3E}">
        <p14:creationId xmlns:p14="http://schemas.microsoft.com/office/powerpoint/2010/main" val="233736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act Slide">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1" y="76201"/>
            <a:ext cx="6057900" cy="6324600"/>
          </a:xfrm>
          <a:solidFill>
            <a:schemeClr val="bg1">
              <a:lumMod val="95000"/>
            </a:schemeClr>
          </a:solidFill>
        </p:spPr>
        <p:txBody>
          <a:bodyPr bIns="640080" anchor="b" anchorCtr="0">
            <a:normAutofit/>
          </a:bodyPr>
          <a:lstStyle>
            <a:lvl1pPr marL="0" indent="0" algn="l">
              <a:buFontTx/>
              <a:buNone/>
              <a:defRPr sz="1800" b="1" i="1">
                <a:solidFill>
                  <a:schemeClr val="tx2"/>
                </a:solidFill>
              </a:defRPr>
            </a:lvl1pPr>
          </a:lstStyle>
          <a:p>
            <a:r>
              <a:rPr lang="ja-JP" altLang="en-US"/>
              <a:t>アイコンをクリックして図を追加</a:t>
            </a:r>
            <a:endParaRPr lang="en-US" dirty="0"/>
          </a:p>
        </p:txBody>
      </p:sp>
      <p:sp>
        <p:nvSpPr>
          <p:cNvPr id="12" name="Content Placeholder 5"/>
          <p:cNvSpPr>
            <a:spLocks noGrp="1"/>
          </p:cNvSpPr>
          <p:nvPr>
            <p:ph sz="quarter" idx="4" hasCustomPrompt="1"/>
          </p:nvPr>
        </p:nvSpPr>
        <p:spPr>
          <a:xfrm>
            <a:off x="6291663" y="5257802"/>
            <a:ext cx="2223688" cy="762001"/>
          </a:xfrm>
        </p:spPr>
        <p:txBody>
          <a:bodyPr>
            <a:normAutofit/>
          </a:bodyPr>
          <a:lstStyle>
            <a:lvl1pPr marL="0" marR="0" indent="0" algn="ctr" defTabSz="685800" rtl="0" eaLnBrk="1" fontAlgn="auto" latinLnBrk="0" hangingPunct="1">
              <a:lnSpc>
                <a:spcPct val="110000"/>
              </a:lnSpc>
              <a:spcBef>
                <a:spcPts val="0"/>
              </a:spcBef>
              <a:spcAft>
                <a:spcPts val="450"/>
              </a:spcAft>
              <a:buClrTx/>
              <a:buSzTx/>
              <a:buFontTx/>
              <a:buNone/>
              <a:tabLst/>
              <a:defRPr sz="1350">
                <a:solidFill>
                  <a:srgbClr val="C3C3C3"/>
                </a:solidFill>
              </a:defRPr>
            </a:lvl1pPr>
          </a:lstStyle>
          <a:p>
            <a:r>
              <a:rPr lang="en-US" dirty="0"/>
              <a:t>Click icon to add picture</a:t>
            </a:r>
          </a:p>
        </p:txBody>
      </p:sp>
      <p:sp>
        <p:nvSpPr>
          <p:cNvPr id="14"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6"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8" name="Date Placeholder 3"/>
          <p:cNvSpPr>
            <a:spLocks noGrp="1"/>
          </p:cNvSpPr>
          <p:nvPr>
            <p:ph type="dt" sz="half" idx="10"/>
          </p:nvPr>
        </p:nvSpPr>
        <p:spPr>
          <a:xfrm>
            <a:off x="6197294" y="6477000"/>
            <a:ext cx="816269" cy="311150"/>
          </a:xfrm>
        </p:spPr>
        <p:txBody>
          <a:bodyPr/>
          <a:lstStyle>
            <a:lvl1pPr>
              <a:defRPr>
                <a:latin typeface="+mn-lt"/>
              </a:defRPr>
            </a:lvl1pPr>
          </a:lstStyle>
          <a:p>
            <a:fld id="{09C19084-D599-4D8F-8790-56C34FEEC9A6}" type="datetime1">
              <a:rPr lang="en-US" smtClean="0"/>
              <a:t>7/27/2026</a:t>
            </a:fld>
            <a:endParaRPr lang="en-US"/>
          </a:p>
        </p:txBody>
      </p:sp>
      <p:sp>
        <p:nvSpPr>
          <p:cNvPr id="2" name="Title 1"/>
          <p:cNvSpPr>
            <a:spLocks noGrp="1"/>
          </p:cNvSpPr>
          <p:nvPr>
            <p:ph type="ctrTitle" hasCustomPrompt="1"/>
          </p:nvPr>
        </p:nvSpPr>
        <p:spPr>
          <a:xfrm>
            <a:off x="3005791" y="1605644"/>
            <a:ext cx="5589871" cy="3265714"/>
          </a:xfrm>
          <a:solidFill>
            <a:schemeClr val="accent1">
              <a:alpha val="90000"/>
            </a:schemeClr>
          </a:solidFill>
        </p:spPr>
        <p:txBody>
          <a:bodyPr tIns="640080" anchor="t">
            <a:normAutofit/>
          </a:bodyPr>
          <a:lstStyle>
            <a:lvl1pPr algn="ctr">
              <a:defRPr sz="3000">
                <a:solidFill>
                  <a:schemeClr val="bg1"/>
                </a:solidFill>
              </a:defRPr>
            </a:lvl1pPr>
          </a:lstStyle>
          <a:p>
            <a:r>
              <a:rPr lang="en-US" dirty="0"/>
              <a:t>Contact Us</a:t>
            </a:r>
          </a:p>
        </p:txBody>
      </p:sp>
      <p:sp>
        <p:nvSpPr>
          <p:cNvPr id="15" name="Text Placeholder 3"/>
          <p:cNvSpPr>
            <a:spLocks noGrp="1"/>
          </p:cNvSpPr>
          <p:nvPr>
            <p:ph type="body" sz="half" idx="20" hasCustomPrompt="1"/>
          </p:nvPr>
        </p:nvSpPr>
        <p:spPr>
          <a:xfrm>
            <a:off x="5979597" y="3199377"/>
            <a:ext cx="2528827" cy="633862"/>
          </a:xfrm>
        </p:spPr>
        <p:txBody>
          <a:bodyPr tIns="0" anchor="b" anchorCtr="0">
            <a:noAutofit/>
          </a:bodyPr>
          <a:lstStyle>
            <a:lvl1pPr marL="0" marR="0" indent="0" algn="l" defTabSz="685800" rtl="0" eaLnBrk="1" fontAlgn="auto" latinLnBrk="0" hangingPunct="1">
              <a:lnSpc>
                <a:spcPct val="100000"/>
              </a:lnSpc>
              <a:spcBef>
                <a:spcPts val="0"/>
              </a:spcBef>
              <a:spcAft>
                <a:spcPts val="150"/>
              </a:spcAft>
              <a:buClrTx/>
              <a:buSzTx/>
              <a:buFont typeface="Arial" panose="020B0604020202020204" pitchFamily="34" charset="0"/>
              <a:buNone/>
              <a:tabLst/>
              <a:defRPr sz="1500" b="0">
                <a:solidFill>
                  <a:schemeClr val="bg1"/>
                </a:solidFill>
                <a:latin typeface="+mn-lt"/>
                <a:cs typeface="Segoe UI Semilight" panose="020B0402040204020203"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email</a:t>
            </a:r>
          </a:p>
        </p:txBody>
      </p:sp>
      <p:sp>
        <p:nvSpPr>
          <p:cNvPr id="17" name="Text Placeholder 3"/>
          <p:cNvSpPr>
            <a:spLocks noGrp="1"/>
          </p:cNvSpPr>
          <p:nvPr>
            <p:ph type="body" sz="half" idx="27" hasCustomPrompt="1"/>
          </p:nvPr>
        </p:nvSpPr>
        <p:spPr>
          <a:xfrm>
            <a:off x="3089262" y="3199377"/>
            <a:ext cx="2507274" cy="633862"/>
          </a:xfrm>
        </p:spPr>
        <p:txBody>
          <a:bodyPr tIns="0" anchor="b" anchorCtr="0">
            <a:noAutofit/>
          </a:bodyPr>
          <a:lstStyle>
            <a:lvl1pPr marL="0" indent="0" algn="r">
              <a:lnSpc>
                <a:spcPct val="100000"/>
              </a:lnSpc>
              <a:spcBef>
                <a:spcPts val="0"/>
              </a:spcBef>
              <a:spcAft>
                <a:spcPts val="150"/>
              </a:spcAft>
              <a:buNone/>
              <a:defRPr sz="1500" b="0">
                <a:solidFill>
                  <a:schemeClr val="bg1"/>
                </a:solidFill>
                <a:latin typeface="+mn-lt"/>
                <a:cs typeface="Segoe UI Semilight" panose="020B0402040204020203"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Address</a:t>
            </a:r>
          </a:p>
        </p:txBody>
      </p:sp>
      <p:sp>
        <p:nvSpPr>
          <p:cNvPr id="19" name="Text Placeholder 3"/>
          <p:cNvSpPr>
            <a:spLocks noGrp="1"/>
          </p:cNvSpPr>
          <p:nvPr>
            <p:ph type="body" sz="half" idx="28" hasCustomPrompt="1"/>
          </p:nvPr>
        </p:nvSpPr>
        <p:spPr>
          <a:xfrm>
            <a:off x="5979596" y="3965329"/>
            <a:ext cx="2528826" cy="668010"/>
          </a:xfrm>
        </p:spPr>
        <p:txBody>
          <a:bodyPr tIns="91440" anchor="t" anchorCtr="0">
            <a:noAutofit/>
          </a:bodyPr>
          <a:lstStyle>
            <a:lvl1pPr marL="0" indent="0">
              <a:lnSpc>
                <a:spcPct val="100000"/>
              </a:lnSpc>
              <a:spcBef>
                <a:spcPts val="0"/>
              </a:spcBef>
              <a:spcAft>
                <a:spcPts val="150"/>
              </a:spcAft>
              <a:buNone/>
              <a:defRPr sz="1500" b="0">
                <a:solidFill>
                  <a:schemeClr val="bg1"/>
                </a:solidFill>
                <a:latin typeface="+mn-lt"/>
                <a:cs typeface="Segoe UI Semilight" panose="020B0402040204020203"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website</a:t>
            </a:r>
          </a:p>
        </p:txBody>
      </p:sp>
      <p:sp>
        <p:nvSpPr>
          <p:cNvPr id="20" name="Text Placeholder 3"/>
          <p:cNvSpPr>
            <a:spLocks noGrp="1"/>
          </p:cNvSpPr>
          <p:nvPr>
            <p:ph type="body" sz="half" idx="29" hasCustomPrompt="1"/>
          </p:nvPr>
        </p:nvSpPr>
        <p:spPr>
          <a:xfrm>
            <a:off x="3086102" y="3965329"/>
            <a:ext cx="2510435" cy="668010"/>
          </a:xfrm>
        </p:spPr>
        <p:txBody>
          <a:bodyPr tIns="91440" anchor="t" anchorCtr="0">
            <a:noAutofit/>
          </a:bodyPr>
          <a:lstStyle>
            <a:lvl1pPr marL="0" indent="0" algn="r">
              <a:lnSpc>
                <a:spcPct val="100000"/>
              </a:lnSpc>
              <a:spcBef>
                <a:spcPts val="0"/>
              </a:spcBef>
              <a:spcAft>
                <a:spcPts val="150"/>
              </a:spcAft>
              <a:buNone/>
              <a:defRPr sz="1500" b="0">
                <a:solidFill>
                  <a:schemeClr val="bg1"/>
                </a:solidFill>
                <a:latin typeface="+mn-lt"/>
                <a:cs typeface="Segoe UI Semilight" panose="020B0402040204020203" pitchFamily="34" charset="0"/>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Phone</a:t>
            </a:r>
          </a:p>
        </p:txBody>
      </p:sp>
    </p:spTree>
    <p:extLst>
      <p:ext uri="{BB962C8B-B14F-4D97-AF65-F5344CB8AC3E}">
        <p14:creationId xmlns:p14="http://schemas.microsoft.com/office/powerpoint/2010/main" val="1048901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enter Title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2037081"/>
            <a:ext cx="7886700" cy="2464284"/>
          </a:xfrm>
        </p:spPr>
        <p:txBody>
          <a:bodyPr anchor="ctr"/>
          <a:lstStyle>
            <a:lvl1pPr algn="ctr">
              <a:lnSpc>
                <a:spcPct val="110000"/>
              </a:lnSpc>
              <a:spcBef>
                <a:spcPts val="750"/>
              </a:spcBef>
              <a:defRPr>
                <a:solidFill>
                  <a:schemeClr val="tx1"/>
                </a:solidFill>
              </a:defRPr>
            </a:lvl1pPr>
          </a:lstStyle>
          <a:p>
            <a:r>
              <a:rPr lang="en-US" dirty="0"/>
              <a:t>Main HEADING – Size 30pt font</a:t>
            </a:r>
          </a:p>
        </p:txBody>
      </p:sp>
      <p:sp>
        <p:nvSpPr>
          <p:cNvPr id="6"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7"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8" name="Date Placeholder 3"/>
          <p:cNvSpPr>
            <a:spLocks noGrp="1"/>
          </p:cNvSpPr>
          <p:nvPr>
            <p:ph type="dt" sz="half" idx="10"/>
          </p:nvPr>
        </p:nvSpPr>
        <p:spPr>
          <a:xfrm>
            <a:off x="6197294" y="6477000"/>
            <a:ext cx="816269" cy="311150"/>
          </a:xfrm>
        </p:spPr>
        <p:txBody>
          <a:bodyPr/>
          <a:lstStyle>
            <a:lvl1pPr>
              <a:defRPr>
                <a:latin typeface="+mn-lt"/>
              </a:defRPr>
            </a:lvl1pPr>
          </a:lstStyle>
          <a:p>
            <a:fld id="{06489939-E970-4E02-9DDF-1BEC3D440595}" type="datetime1">
              <a:rPr lang="en-US" smtClean="0"/>
              <a:t>7/27/2026</a:t>
            </a:fld>
            <a:endParaRPr lang="en-US"/>
          </a:p>
        </p:txBody>
      </p:sp>
    </p:spTree>
    <p:extLst>
      <p:ext uri="{BB962C8B-B14F-4D97-AF65-F5344CB8AC3E}">
        <p14:creationId xmlns:p14="http://schemas.microsoft.com/office/powerpoint/2010/main" val="2851110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enter Title 2">
    <p:spTree>
      <p:nvGrpSpPr>
        <p:cNvPr id="1" name=""/>
        <p:cNvGrpSpPr/>
        <p:nvPr/>
      </p:nvGrpSpPr>
      <p:grpSpPr>
        <a:xfrm>
          <a:off x="0" y="0"/>
          <a:ext cx="0" cy="0"/>
          <a:chOff x="0" y="0"/>
          <a:chExt cx="0" cy="0"/>
        </a:xfrm>
      </p:grpSpPr>
      <p:sp>
        <p:nvSpPr>
          <p:cNvPr id="7" name="Text Placeholder 3"/>
          <p:cNvSpPr>
            <a:spLocks noGrp="1"/>
          </p:cNvSpPr>
          <p:nvPr>
            <p:ph type="body" sz="half" idx="2" hasCustomPrompt="1"/>
          </p:nvPr>
        </p:nvSpPr>
        <p:spPr>
          <a:xfrm>
            <a:off x="628650" y="1981200"/>
            <a:ext cx="7886700" cy="2569754"/>
          </a:xfrm>
        </p:spPr>
        <p:txBody>
          <a:bodyPr anchor="ctr">
            <a:normAutofit/>
          </a:bodyPr>
          <a:lstStyle>
            <a:lvl1pPr marL="0" indent="0" algn="ctr">
              <a:spcBef>
                <a:spcPts val="750"/>
              </a:spcBef>
              <a:spcAft>
                <a:spcPts val="0"/>
              </a:spcAft>
              <a:buNone/>
              <a:defRPr sz="3000" b="0">
                <a:solidFill>
                  <a:srgbClr val="46464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Heading Style 2</a:t>
            </a:r>
            <a:br>
              <a:rPr lang="en-US" dirty="0"/>
            </a:br>
            <a:r>
              <a:rPr lang="en-US" dirty="0"/>
              <a:t>30pt Font</a:t>
            </a:r>
          </a:p>
        </p:txBody>
      </p:sp>
      <p:sp>
        <p:nvSpPr>
          <p:cNvPr id="9"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0"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1" name="Date Placeholder 3"/>
          <p:cNvSpPr>
            <a:spLocks noGrp="1"/>
          </p:cNvSpPr>
          <p:nvPr>
            <p:ph type="dt" sz="half" idx="10"/>
          </p:nvPr>
        </p:nvSpPr>
        <p:spPr>
          <a:xfrm>
            <a:off x="6197294" y="6477000"/>
            <a:ext cx="816269" cy="311150"/>
          </a:xfrm>
        </p:spPr>
        <p:txBody>
          <a:bodyPr/>
          <a:lstStyle>
            <a:lvl1pPr>
              <a:defRPr>
                <a:latin typeface="+mn-lt"/>
              </a:defRPr>
            </a:lvl1pPr>
          </a:lstStyle>
          <a:p>
            <a:fld id="{E890BBDC-FED1-489C-8795-F8606AE46368}" type="datetime1">
              <a:rPr lang="en-US" smtClean="0"/>
              <a:t>7/27/2026</a:t>
            </a:fld>
            <a:endParaRPr lang="en-US"/>
          </a:p>
        </p:txBody>
      </p:sp>
    </p:spTree>
    <p:extLst>
      <p:ext uri="{BB962C8B-B14F-4D97-AF65-F5344CB8AC3E}">
        <p14:creationId xmlns:p14="http://schemas.microsoft.com/office/powerpoint/2010/main" val="333225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mp; Content/Pic 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9841" y="425450"/>
            <a:ext cx="5170884" cy="1054100"/>
          </a:xfrm>
        </p:spPr>
        <p:txBody>
          <a:bodyPr anchor="b" anchorCtr="0">
            <a:noAutofit/>
          </a:bodyPr>
          <a:lstStyle>
            <a:lvl1pPr>
              <a:spcBef>
                <a:spcPts val="750"/>
              </a:spcBef>
              <a:defRPr sz="3000"/>
            </a:lvl1pPr>
          </a:lstStyle>
          <a:p>
            <a:r>
              <a:rPr lang="en-US" dirty="0"/>
              <a:t>Main HEADING</a:t>
            </a:r>
            <a:br>
              <a:rPr lang="en-US" dirty="0"/>
            </a:br>
            <a:r>
              <a:rPr lang="en-US" dirty="0"/>
              <a:t>Size 30pt font</a:t>
            </a:r>
          </a:p>
        </p:txBody>
      </p:sp>
      <p:sp>
        <p:nvSpPr>
          <p:cNvPr id="8" name="Picture Placeholder 7"/>
          <p:cNvSpPr>
            <a:spLocks noGrp="1"/>
          </p:cNvSpPr>
          <p:nvPr>
            <p:ph type="pic" sz="quarter" idx="14"/>
          </p:nvPr>
        </p:nvSpPr>
        <p:spPr>
          <a:xfrm>
            <a:off x="6057900" y="76200"/>
            <a:ext cx="3086100" cy="6324600"/>
          </a:xfrm>
          <a:solidFill>
            <a:schemeClr val="bg1">
              <a:lumMod val="95000"/>
            </a:schemeClr>
          </a:solidFill>
        </p:spPr>
        <p:txBody>
          <a:bodyPr bIns="640080" anchor="b" anchorCtr="0">
            <a:normAutofit/>
          </a:bodyPr>
          <a:lstStyle>
            <a:lvl1pPr marL="0" indent="0" algn="ctr">
              <a:buFontTx/>
              <a:buNone/>
              <a:defRPr sz="1800" b="1" i="1">
                <a:solidFill>
                  <a:schemeClr val="tx2"/>
                </a:solidFill>
              </a:defRPr>
            </a:lvl1pPr>
          </a:lstStyle>
          <a:p>
            <a:r>
              <a:rPr lang="ja-JP" altLang="en-US"/>
              <a:t>アイコンをクリックして図を追加</a:t>
            </a:r>
            <a:endParaRPr lang="en-US" dirty="0"/>
          </a:p>
        </p:txBody>
      </p:sp>
      <p:sp>
        <p:nvSpPr>
          <p:cNvPr id="10" name="Subtitle 2"/>
          <p:cNvSpPr>
            <a:spLocks noGrp="1"/>
          </p:cNvSpPr>
          <p:nvPr>
            <p:ph type="subTitle" idx="1" hasCustomPrompt="1"/>
          </p:nvPr>
        </p:nvSpPr>
        <p:spPr>
          <a:xfrm>
            <a:off x="628651" y="1600200"/>
            <a:ext cx="5172075" cy="393700"/>
          </a:xfrm>
        </p:spPr>
        <p:txBody>
          <a:bodyPr tIns="0">
            <a:normAutofit/>
          </a:bodyPr>
          <a:lstStyle>
            <a:lvl1pPr marL="0" indent="0" algn="l">
              <a:buNone/>
              <a:defRPr sz="2100" b="1">
                <a:solidFill>
                  <a:srgbClr val="464646"/>
                </a:solidFill>
                <a:latin typeface="+mj-lt"/>
                <a:ea typeface="Segoe UI Historic" panose="020B05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
        <p:nvSpPr>
          <p:cNvPr id="9" name="Content Placeholder 2"/>
          <p:cNvSpPr>
            <a:spLocks noGrp="1"/>
          </p:cNvSpPr>
          <p:nvPr>
            <p:ph idx="15" hasCustomPrompt="1"/>
          </p:nvPr>
        </p:nvSpPr>
        <p:spPr>
          <a:xfrm>
            <a:off x="628651" y="2114550"/>
            <a:ext cx="5172075" cy="3905250"/>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solidFill>
                  <a:srgbClr val="464646"/>
                </a:solidFill>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21pt Font</a:t>
            </a:r>
          </a:p>
          <a:p>
            <a:pPr lvl="3"/>
            <a:r>
              <a:rPr lang="en-US" dirty="0"/>
              <a:t>Fifth level - Segoe UI </a:t>
            </a:r>
            <a:r>
              <a:rPr lang="en-US" dirty="0" err="1"/>
              <a:t>Semilight</a:t>
            </a:r>
            <a:r>
              <a:rPr lang="en-US" dirty="0"/>
              <a:t> </a:t>
            </a:r>
            <a:br>
              <a:rPr lang="en-US" dirty="0"/>
            </a:br>
            <a:r>
              <a:rPr lang="en-US" dirty="0"/>
              <a:t>(Body) 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18pt Font</a:t>
            </a:r>
          </a:p>
        </p:txBody>
      </p:sp>
      <p:sp>
        <p:nvSpPr>
          <p:cNvPr id="12"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3"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4" name="Date Placeholder 3"/>
          <p:cNvSpPr>
            <a:spLocks noGrp="1"/>
          </p:cNvSpPr>
          <p:nvPr>
            <p:ph type="dt" sz="half" idx="10"/>
          </p:nvPr>
        </p:nvSpPr>
        <p:spPr>
          <a:xfrm>
            <a:off x="6197294" y="6477000"/>
            <a:ext cx="816269" cy="311150"/>
          </a:xfrm>
        </p:spPr>
        <p:txBody>
          <a:bodyPr/>
          <a:lstStyle>
            <a:lvl1pPr>
              <a:defRPr>
                <a:latin typeface="+mn-lt"/>
              </a:defRPr>
            </a:lvl1pPr>
          </a:lstStyle>
          <a:p>
            <a:fld id="{9A211497-B675-49B3-BB8C-7A0E5B68FCC8}" type="datetime1">
              <a:rPr lang="en-US" smtClean="0"/>
              <a:t>7/27/2026</a:t>
            </a:fld>
            <a:endParaRPr lang="en-US"/>
          </a:p>
        </p:txBody>
      </p:sp>
    </p:spTree>
    <p:extLst>
      <p:ext uri="{BB962C8B-B14F-4D97-AF65-F5344CB8AC3E}">
        <p14:creationId xmlns:p14="http://schemas.microsoft.com/office/powerpoint/2010/main" val="1664928729"/>
      </p:ext>
    </p:extLst>
  </p:cSld>
  <p:clrMapOvr>
    <a:masterClrMapping/>
  </p:clrMapOvr>
  <p:extLst>
    <p:ext uri="{DCECCB84-F9BA-43D5-87BE-67443E8EF086}">
      <p15:sldGuideLst xmlns:p15="http://schemas.microsoft.com/office/powerpoint/2012/main">
        <p15:guide id="1" orient="horz" pos="141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mp; Content/Pic L">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0" y="76200"/>
            <a:ext cx="3086100" cy="6324600"/>
          </a:xfrm>
          <a:solidFill>
            <a:schemeClr val="bg1">
              <a:lumMod val="95000"/>
            </a:schemeClr>
          </a:solidFill>
        </p:spPr>
        <p:txBody>
          <a:bodyPr bIns="640080" anchor="b" anchorCtr="0">
            <a:normAutofit/>
          </a:bodyPr>
          <a:lstStyle>
            <a:lvl1pPr marL="0" indent="0" algn="ctr">
              <a:buFontTx/>
              <a:buNone/>
              <a:defRPr sz="1800" b="1" i="1" u="none">
                <a:solidFill>
                  <a:schemeClr val="tx2"/>
                </a:solidFill>
              </a:defRPr>
            </a:lvl1pPr>
          </a:lstStyle>
          <a:p>
            <a:r>
              <a:rPr lang="ja-JP" altLang="en-US"/>
              <a:t>アイコンをクリックして図を追加</a:t>
            </a:r>
            <a:endParaRPr lang="en-US" dirty="0"/>
          </a:p>
        </p:txBody>
      </p:sp>
      <p:sp>
        <p:nvSpPr>
          <p:cNvPr id="9" name="Title 1"/>
          <p:cNvSpPr>
            <a:spLocks noGrp="1"/>
          </p:cNvSpPr>
          <p:nvPr>
            <p:ph type="title" hasCustomPrompt="1"/>
          </p:nvPr>
        </p:nvSpPr>
        <p:spPr>
          <a:xfrm>
            <a:off x="3314701" y="427768"/>
            <a:ext cx="5202809" cy="1054100"/>
          </a:xfrm>
        </p:spPr>
        <p:txBody>
          <a:bodyPr anchor="b" anchorCtr="0">
            <a:normAutofit/>
          </a:bodyPr>
          <a:lstStyle>
            <a:lvl1pPr>
              <a:spcBef>
                <a:spcPts val="750"/>
              </a:spcBef>
              <a:defRPr sz="3000"/>
            </a:lvl1pPr>
          </a:lstStyle>
          <a:p>
            <a:r>
              <a:rPr lang="en-US" dirty="0"/>
              <a:t>Main HEADING</a:t>
            </a:r>
            <a:br>
              <a:rPr lang="en-US" dirty="0"/>
            </a:br>
            <a:r>
              <a:rPr lang="en-US" dirty="0"/>
              <a:t>Size 30pt font</a:t>
            </a:r>
          </a:p>
        </p:txBody>
      </p:sp>
      <p:sp>
        <p:nvSpPr>
          <p:cNvPr id="11" name="Subtitle 2"/>
          <p:cNvSpPr>
            <a:spLocks noGrp="1"/>
          </p:cNvSpPr>
          <p:nvPr>
            <p:ph type="subTitle" idx="1" hasCustomPrompt="1"/>
          </p:nvPr>
        </p:nvSpPr>
        <p:spPr>
          <a:xfrm>
            <a:off x="3322813" y="1604534"/>
            <a:ext cx="5194697" cy="393700"/>
          </a:xfrm>
        </p:spPr>
        <p:txBody>
          <a:bodyPr tIns="0">
            <a:normAutofit/>
          </a:bodyPr>
          <a:lstStyle>
            <a:lvl1pPr marL="0" indent="0" algn="l">
              <a:buNone/>
              <a:defRPr sz="2100" b="1">
                <a:solidFill>
                  <a:srgbClr val="46464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
        <p:nvSpPr>
          <p:cNvPr id="12"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3"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4" name="Date Placeholder 3"/>
          <p:cNvSpPr>
            <a:spLocks noGrp="1"/>
          </p:cNvSpPr>
          <p:nvPr>
            <p:ph type="dt" sz="half" idx="10"/>
          </p:nvPr>
        </p:nvSpPr>
        <p:spPr>
          <a:xfrm>
            <a:off x="6197294" y="6477000"/>
            <a:ext cx="816269" cy="311150"/>
          </a:xfrm>
        </p:spPr>
        <p:txBody>
          <a:bodyPr/>
          <a:lstStyle>
            <a:lvl1pPr>
              <a:defRPr>
                <a:latin typeface="+mn-lt"/>
              </a:defRPr>
            </a:lvl1pPr>
          </a:lstStyle>
          <a:p>
            <a:fld id="{D4B0289A-C7CF-4731-BE72-79E1291F93BA}" type="datetime1">
              <a:rPr lang="en-US" smtClean="0"/>
              <a:t>7/27/2026</a:t>
            </a:fld>
            <a:endParaRPr lang="en-US"/>
          </a:p>
        </p:txBody>
      </p:sp>
      <p:sp>
        <p:nvSpPr>
          <p:cNvPr id="16" name="Content Placeholder 2"/>
          <p:cNvSpPr>
            <a:spLocks noGrp="1"/>
          </p:cNvSpPr>
          <p:nvPr>
            <p:ph idx="15" hasCustomPrompt="1"/>
          </p:nvPr>
        </p:nvSpPr>
        <p:spPr>
          <a:xfrm>
            <a:off x="3322813" y="2120900"/>
            <a:ext cx="5194697" cy="3898900"/>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solidFill>
                  <a:srgbClr val="464646"/>
                </a:solidFill>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21pt Font</a:t>
            </a:r>
          </a:p>
          <a:p>
            <a:pPr lvl="3"/>
            <a:r>
              <a:rPr lang="en-US" dirty="0"/>
              <a:t>Fifth level - Segoe UI </a:t>
            </a:r>
            <a:r>
              <a:rPr lang="en-US" dirty="0" err="1"/>
              <a:t>Semilight</a:t>
            </a:r>
            <a:r>
              <a:rPr lang="en-US" dirty="0"/>
              <a:t> </a:t>
            </a:r>
            <a:br>
              <a:rPr lang="en-US" dirty="0"/>
            </a:br>
            <a:r>
              <a:rPr lang="en-US" dirty="0"/>
              <a:t>(Body) 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18pt Font</a:t>
            </a:r>
          </a:p>
        </p:txBody>
      </p:sp>
    </p:spTree>
    <p:extLst>
      <p:ext uri="{BB962C8B-B14F-4D97-AF65-F5344CB8AC3E}">
        <p14:creationId xmlns:p14="http://schemas.microsoft.com/office/powerpoint/2010/main" val="25863174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50/50 Title &amp; Content/Pic R ">
    <p:spTree>
      <p:nvGrpSpPr>
        <p:cNvPr id="1" name=""/>
        <p:cNvGrpSpPr/>
        <p:nvPr/>
      </p:nvGrpSpPr>
      <p:grpSpPr>
        <a:xfrm>
          <a:off x="0" y="0"/>
          <a:ext cx="0" cy="0"/>
          <a:chOff x="0" y="0"/>
          <a:chExt cx="0" cy="0"/>
        </a:xfrm>
      </p:grpSpPr>
      <p:sp>
        <p:nvSpPr>
          <p:cNvPr id="8" name="Picture Placeholder 7"/>
          <p:cNvSpPr>
            <a:spLocks noGrp="1"/>
          </p:cNvSpPr>
          <p:nvPr>
            <p:ph type="pic" sz="quarter" idx="14"/>
          </p:nvPr>
        </p:nvSpPr>
        <p:spPr>
          <a:xfrm>
            <a:off x="4672012" y="76200"/>
            <a:ext cx="4471988" cy="6324600"/>
          </a:xfrm>
          <a:solidFill>
            <a:schemeClr val="bg1">
              <a:lumMod val="95000"/>
            </a:schemeClr>
          </a:solidFill>
        </p:spPr>
        <p:txBody>
          <a:bodyPr bIns="640080" anchor="b" anchorCtr="0">
            <a:normAutofit/>
          </a:bodyPr>
          <a:lstStyle>
            <a:lvl1pPr marL="0" indent="0" algn="ctr">
              <a:buFontTx/>
              <a:buNone/>
              <a:defRPr sz="1800" b="1" i="1">
                <a:solidFill>
                  <a:schemeClr val="tx2"/>
                </a:solidFill>
              </a:defRPr>
            </a:lvl1pPr>
          </a:lstStyle>
          <a:p>
            <a:r>
              <a:rPr lang="ja-JP" altLang="en-US"/>
              <a:t>アイコンをクリックして図を追加</a:t>
            </a:r>
            <a:endParaRPr lang="en-US" dirty="0"/>
          </a:p>
        </p:txBody>
      </p:sp>
      <p:sp>
        <p:nvSpPr>
          <p:cNvPr id="13"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4"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5" name="Date Placeholder 3"/>
          <p:cNvSpPr>
            <a:spLocks noGrp="1"/>
          </p:cNvSpPr>
          <p:nvPr>
            <p:ph type="dt" sz="half" idx="10"/>
          </p:nvPr>
        </p:nvSpPr>
        <p:spPr>
          <a:xfrm>
            <a:off x="6197294" y="6477000"/>
            <a:ext cx="816269" cy="311150"/>
          </a:xfrm>
        </p:spPr>
        <p:txBody>
          <a:bodyPr/>
          <a:lstStyle>
            <a:lvl1pPr>
              <a:defRPr>
                <a:latin typeface="+mn-lt"/>
              </a:defRPr>
            </a:lvl1pPr>
          </a:lstStyle>
          <a:p>
            <a:fld id="{15DEA74A-94AD-4D7D-AEE9-7CD6111CBF2E}" type="datetime1">
              <a:rPr lang="en-US" smtClean="0"/>
              <a:t>7/27/2026</a:t>
            </a:fld>
            <a:endParaRPr lang="en-US"/>
          </a:p>
        </p:txBody>
      </p:sp>
      <p:sp>
        <p:nvSpPr>
          <p:cNvPr id="20" name="Content Placeholder 2"/>
          <p:cNvSpPr>
            <a:spLocks noGrp="1"/>
          </p:cNvSpPr>
          <p:nvPr>
            <p:ph idx="16" hasCustomPrompt="1"/>
          </p:nvPr>
        </p:nvSpPr>
        <p:spPr>
          <a:xfrm>
            <a:off x="628650" y="2156593"/>
            <a:ext cx="3826446" cy="3863208"/>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solidFill>
                  <a:srgbClr val="464646"/>
                </a:solidFill>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a:t>
            </a:r>
            <a:br>
              <a:rPr lang="en-US" dirty="0"/>
            </a:br>
            <a:r>
              <a:rPr lang="en-US" dirty="0"/>
              <a:t>21pt Font</a:t>
            </a:r>
          </a:p>
          <a:p>
            <a:pPr lvl="3"/>
            <a:r>
              <a:rPr lang="en-US" dirty="0"/>
              <a:t>Fifth level - Segoe UI </a:t>
            </a:r>
            <a:r>
              <a:rPr lang="en-US" dirty="0" err="1"/>
              <a:t>Semilight</a:t>
            </a:r>
            <a:r>
              <a:rPr lang="en-US" dirty="0"/>
              <a:t> (Body) </a:t>
            </a:r>
            <a:br>
              <a:rPr lang="en-US" dirty="0"/>
            </a:br>
            <a:r>
              <a:rPr lang="en-US" dirty="0"/>
              <a:t>18pt Font</a:t>
            </a:r>
          </a:p>
        </p:txBody>
      </p:sp>
      <p:sp>
        <p:nvSpPr>
          <p:cNvPr id="21" name="Title 1"/>
          <p:cNvSpPr>
            <a:spLocks noGrp="1"/>
          </p:cNvSpPr>
          <p:nvPr>
            <p:ph type="title" hasCustomPrompt="1"/>
          </p:nvPr>
        </p:nvSpPr>
        <p:spPr>
          <a:xfrm>
            <a:off x="628650" y="433071"/>
            <a:ext cx="3826446" cy="1004437"/>
          </a:xfrm>
        </p:spPr>
        <p:txBody>
          <a:bodyPr anchor="b" anchorCtr="0">
            <a:normAutofit/>
          </a:bodyPr>
          <a:lstStyle>
            <a:lvl1pPr>
              <a:spcBef>
                <a:spcPts val="750"/>
              </a:spcBef>
              <a:defRPr sz="2700"/>
            </a:lvl1pPr>
          </a:lstStyle>
          <a:p>
            <a:r>
              <a:rPr lang="en-US" dirty="0"/>
              <a:t>Main HEADING</a:t>
            </a:r>
            <a:br>
              <a:rPr lang="en-US" dirty="0"/>
            </a:br>
            <a:r>
              <a:rPr lang="en-US" dirty="0"/>
              <a:t>Size 30pt font</a:t>
            </a:r>
          </a:p>
        </p:txBody>
      </p:sp>
      <p:sp>
        <p:nvSpPr>
          <p:cNvPr id="22" name="Subtitle 2"/>
          <p:cNvSpPr>
            <a:spLocks noGrp="1"/>
          </p:cNvSpPr>
          <p:nvPr>
            <p:ph type="subTitle" idx="1" hasCustomPrompt="1"/>
          </p:nvPr>
        </p:nvSpPr>
        <p:spPr>
          <a:xfrm>
            <a:off x="628650" y="1600200"/>
            <a:ext cx="3826446" cy="393700"/>
          </a:xfrm>
        </p:spPr>
        <p:txBody>
          <a:bodyPr tIns="0">
            <a:noAutofit/>
          </a:bodyPr>
          <a:lstStyle>
            <a:lvl1pPr marL="0" indent="0" algn="l">
              <a:buNone/>
              <a:defRPr sz="2100" b="1" baseline="0">
                <a:solidFill>
                  <a:srgbClr val="46464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Tree>
    <p:extLst>
      <p:ext uri="{BB962C8B-B14F-4D97-AF65-F5344CB8AC3E}">
        <p14:creationId xmlns:p14="http://schemas.microsoft.com/office/powerpoint/2010/main" val="1207522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0/50 Title &amp; Content/Pic L">
    <p:spTree>
      <p:nvGrpSpPr>
        <p:cNvPr id="1" name=""/>
        <p:cNvGrpSpPr/>
        <p:nvPr/>
      </p:nvGrpSpPr>
      <p:grpSpPr>
        <a:xfrm>
          <a:off x="0" y="0"/>
          <a:ext cx="0" cy="0"/>
          <a:chOff x="0" y="0"/>
          <a:chExt cx="0" cy="0"/>
        </a:xfrm>
      </p:grpSpPr>
      <p:sp>
        <p:nvSpPr>
          <p:cNvPr id="16" name="Content Placeholder 2"/>
          <p:cNvSpPr>
            <a:spLocks noGrp="1"/>
          </p:cNvSpPr>
          <p:nvPr>
            <p:ph idx="15" hasCustomPrompt="1"/>
          </p:nvPr>
        </p:nvSpPr>
        <p:spPr>
          <a:xfrm>
            <a:off x="4691063" y="2156592"/>
            <a:ext cx="3826446" cy="3873835"/>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solidFill>
                  <a:srgbClr val="464646"/>
                </a:solidFill>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a:t>
            </a:r>
            <a:br>
              <a:rPr lang="en-US" dirty="0"/>
            </a:br>
            <a:r>
              <a:rPr lang="en-US" dirty="0"/>
              <a:t>21pt Font</a:t>
            </a:r>
          </a:p>
          <a:p>
            <a:pPr lvl="3"/>
            <a:r>
              <a:rPr lang="en-US" dirty="0"/>
              <a:t>Fifth level - Segoe UI </a:t>
            </a:r>
            <a:r>
              <a:rPr lang="en-US" dirty="0" err="1"/>
              <a:t>Semilight</a:t>
            </a:r>
            <a:r>
              <a:rPr lang="en-US" dirty="0"/>
              <a:t> </a:t>
            </a:r>
            <a:br>
              <a:rPr lang="en-US" dirty="0"/>
            </a:br>
            <a:r>
              <a:rPr lang="en-US" dirty="0"/>
              <a:t>(Body) 18pt Font</a:t>
            </a:r>
          </a:p>
        </p:txBody>
      </p:sp>
      <p:sp>
        <p:nvSpPr>
          <p:cNvPr id="2" name="Title 1"/>
          <p:cNvSpPr>
            <a:spLocks noGrp="1"/>
          </p:cNvSpPr>
          <p:nvPr>
            <p:ph type="title" hasCustomPrompt="1"/>
          </p:nvPr>
        </p:nvSpPr>
        <p:spPr>
          <a:xfrm>
            <a:off x="4691063" y="433071"/>
            <a:ext cx="3826446" cy="1004437"/>
          </a:xfrm>
        </p:spPr>
        <p:txBody>
          <a:bodyPr anchor="b" anchorCtr="0">
            <a:normAutofit/>
          </a:bodyPr>
          <a:lstStyle>
            <a:lvl1pPr>
              <a:spcBef>
                <a:spcPts val="750"/>
              </a:spcBef>
              <a:defRPr sz="2700"/>
            </a:lvl1pPr>
          </a:lstStyle>
          <a:p>
            <a:r>
              <a:rPr lang="en-US" dirty="0"/>
              <a:t>Main HEADING</a:t>
            </a:r>
            <a:br>
              <a:rPr lang="en-US" dirty="0"/>
            </a:br>
            <a:r>
              <a:rPr lang="en-US" dirty="0"/>
              <a:t>Size 30pt font</a:t>
            </a:r>
          </a:p>
        </p:txBody>
      </p:sp>
      <p:sp>
        <p:nvSpPr>
          <p:cNvPr id="8" name="Picture Placeholder 7"/>
          <p:cNvSpPr>
            <a:spLocks noGrp="1"/>
          </p:cNvSpPr>
          <p:nvPr>
            <p:ph type="pic" sz="quarter" idx="14"/>
          </p:nvPr>
        </p:nvSpPr>
        <p:spPr>
          <a:xfrm>
            <a:off x="1" y="76200"/>
            <a:ext cx="4471988" cy="6324600"/>
          </a:xfrm>
          <a:solidFill>
            <a:schemeClr val="bg1">
              <a:lumMod val="95000"/>
            </a:schemeClr>
          </a:solidFill>
        </p:spPr>
        <p:txBody>
          <a:bodyPr bIns="640080" anchor="b" anchorCtr="0">
            <a:normAutofit/>
          </a:bodyPr>
          <a:lstStyle>
            <a:lvl1pPr marL="0" indent="0" algn="ctr">
              <a:buFontTx/>
              <a:buNone/>
              <a:defRPr sz="1800" b="1" i="1">
                <a:solidFill>
                  <a:schemeClr val="tx2"/>
                </a:solidFill>
              </a:defRPr>
            </a:lvl1pPr>
          </a:lstStyle>
          <a:p>
            <a:r>
              <a:rPr lang="ja-JP" altLang="en-US"/>
              <a:t>アイコンをクリックして図を追加</a:t>
            </a:r>
            <a:endParaRPr lang="en-US" dirty="0"/>
          </a:p>
        </p:txBody>
      </p:sp>
      <p:sp>
        <p:nvSpPr>
          <p:cNvPr id="11" name="Subtitle 2"/>
          <p:cNvSpPr>
            <a:spLocks noGrp="1"/>
          </p:cNvSpPr>
          <p:nvPr>
            <p:ph type="subTitle" idx="1" hasCustomPrompt="1"/>
          </p:nvPr>
        </p:nvSpPr>
        <p:spPr>
          <a:xfrm>
            <a:off x="4691063" y="1600200"/>
            <a:ext cx="3826446" cy="393700"/>
          </a:xfrm>
        </p:spPr>
        <p:txBody>
          <a:bodyPr tIns="0">
            <a:noAutofit/>
          </a:bodyPr>
          <a:lstStyle>
            <a:lvl1pPr marL="0" indent="0" algn="l">
              <a:buNone/>
              <a:defRPr sz="2100" b="1" baseline="0">
                <a:solidFill>
                  <a:srgbClr val="46464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
        <p:nvSpPr>
          <p:cNvPr id="12"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3"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4" name="Date Placeholder 3"/>
          <p:cNvSpPr>
            <a:spLocks noGrp="1"/>
          </p:cNvSpPr>
          <p:nvPr>
            <p:ph type="dt" sz="half" idx="10"/>
          </p:nvPr>
        </p:nvSpPr>
        <p:spPr>
          <a:xfrm>
            <a:off x="6197294" y="6477000"/>
            <a:ext cx="816269" cy="311150"/>
          </a:xfrm>
        </p:spPr>
        <p:txBody>
          <a:bodyPr/>
          <a:lstStyle>
            <a:lvl1pPr>
              <a:defRPr>
                <a:latin typeface="+mn-lt"/>
              </a:defRPr>
            </a:lvl1pPr>
          </a:lstStyle>
          <a:p>
            <a:fld id="{6C5B95ED-9069-46F6-BE95-60A47A071C1E}" type="datetime1">
              <a:rPr lang="en-US" smtClean="0"/>
              <a:t>7/27/2026</a:t>
            </a:fld>
            <a:endParaRPr lang="en-US"/>
          </a:p>
        </p:txBody>
      </p:sp>
    </p:spTree>
    <p:extLst>
      <p:ext uri="{BB962C8B-B14F-4D97-AF65-F5344CB8AC3E}">
        <p14:creationId xmlns:p14="http://schemas.microsoft.com/office/powerpoint/2010/main" val="816355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mp; Content/Small Pic R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9842" y="419101"/>
            <a:ext cx="7885509" cy="609600"/>
          </a:xfrm>
        </p:spPr>
        <p:txBody>
          <a:bodyPr anchor="t" anchorCtr="0">
            <a:noAutofit/>
          </a:bodyPr>
          <a:lstStyle>
            <a:lvl1pPr>
              <a:spcBef>
                <a:spcPts val="750"/>
              </a:spcBef>
              <a:defRPr sz="3000"/>
            </a:lvl1pPr>
          </a:lstStyle>
          <a:p>
            <a:r>
              <a:rPr lang="en-US" dirty="0"/>
              <a:t>Main HEADING – Size 30pt font</a:t>
            </a:r>
          </a:p>
        </p:txBody>
      </p:sp>
      <p:sp>
        <p:nvSpPr>
          <p:cNvPr id="10" name="Subtitle 2"/>
          <p:cNvSpPr>
            <a:spLocks noGrp="1"/>
          </p:cNvSpPr>
          <p:nvPr>
            <p:ph type="subTitle" idx="1" hasCustomPrompt="1"/>
          </p:nvPr>
        </p:nvSpPr>
        <p:spPr>
          <a:xfrm>
            <a:off x="628650" y="1156460"/>
            <a:ext cx="7886700" cy="443740"/>
          </a:xfrm>
        </p:spPr>
        <p:txBody>
          <a:bodyPr tIns="0">
            <a:normAutofit/>
          </a:bodyPr>
          <a:lstStyle>
            <a:lvl1pPr marL="0" indent="0" algn="l">
              <a:buNone/>
              <a:defRPr sz="2100" b="1">
                <a:solidFill>
                  <a:srgbClr val="46464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
        <p:nvSpPr>
          <p:cNvPr id="9" name="Content Placeholder 2"/>
          <p:cNvSpPr>
            <a:spLocks noGrp="1"/>
          </p:cNvSpPr>
          <p:nvPr>
            <p:ph idx="15" hasCustomPrompt="1"/>
          </p:nvPr>
        </p:nvSpPr>
        <p:spPr>
          <a:xfrm>
            <a:off x="628651" y="1727962"/>
            <a:ext cx="5172075" cy="4291841"/>
          </a:xfrm>
        </p:spPr>
        <p:txBody>
          <a:bodyPr/>
          <a:lstStyle>
            <a:lvl1pPr>
              <a:defRPr>
                <a:solidFill>
                  <a:srgbClr val="464646"/>
                </a:solidFill>
              </a:defRPr>
            </a:lvl1pPr>
            <a:lvl2pPr>
              <a:defRPr>
                <a:solidFill>
                  <a:srgbClr val="464646"/>
                </a:solidFill>
              </a:defRPr>
            </a:lvl2pPr>
            <a:lvl3pPr>
              <a:buSzPct val="75000"/>
              <a:defRPr>
                <a:solidFill>
                  <a:srgbClr val="464646"/>
                </a:solidFill>
              </a:defRPr>
            </a:lvl3pPr>
            <a:lvl4pPr>
              <a:defRPr>
                <a:solidFill>
                  <a:srgbClr val="464646"/>
                </a:solidFill>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solidFill>
                  <a:srgbClr val="464646"/>
                </a:solidFill>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21pt Font</a:t>
            </a:r>
          </a:p>
          <a:p>
            <a:pPr lvl="3"/>
            <a:r>
              <a:rPr lang="en-US" dirty="0"/>
              <a:t>Fifth level - Segoe UI </a:t>
            </a:r>
            <a:r>
              <a:rPr lang="en-US" dirty="0" err="1"/>
              <a:t>Semilight</a:t>
            </a:r>
            <a:r>
              <a:rPr lang="en-US" dirty="0"/>
              <a:t> </a:t>
            </a:r>
            <a:br>
              <a:rPr lang="en-US" dirty="0"/>
            </a:br>
            <a:r>
              <a:rPr lang="en-US" dirty="0"/>
              <a:t>(Body) 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18pt Font</a:t>
            </a:r>
          </a:p>
        </p:txBody>
      </p:sp>
      <p:sp>
        <p:nvSpPr>
          <p:cNvPr id="4" name="Content Placeholder 3"/>
          <p:cNvSpPr>
            <a:spLocks noGrp="1"/>
          </p:cNvSpPr>
          <p:nvPr>
            <p:ph sz="quarter" idx="16" hasCustomPrompt="1"/>
          </p:nvPr>
        </p:nvSpPr>
        <p:spPr>
          <a:xfrm>
            <a:off x="6057900" y="1727959"/>
            <a:ext cx="2457450" cy="4291842"/>
          </a:xfrm>
          <a:solidFill>
            <a:schemeClr val="bg1">
              <a:lumMod val="95000"/>
            </a:schemeClr>
          </a:solidFill>
        </p:spPr>
        <p:txBody>
          <a:bodyPr tIns="548640"/>
          <a:lstStyle>
            <a:lvl1pPr marL="0" indent="0" algn="ctr">
              <a:buNone/>
              <a:defRPr baseline="0"/>
            </a:lvl1pPr>
            <a:lvl3pPr>
              <a:buSzPct val="75000"/>
              <a:defRPr/>
            </a:lvl3pPr>
            <a:lvl4pPr>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lvl5pPr>
          </a:lstStyle>
          <a:p>
            <a:pPr lvl="0"/>
            <a:r>
              <a:rPr lang="en-US" dirty="0"/>
              <a:t>Click icon to </a:t>
            </a:r>
            <a:br>
              <a:rPr lang="en-US" dirty="0"/>
            </a:br>
            <a:r>
              <a:rPr lang="en-US" dirty="0"/>
              <a:t>add photo</a:t>
            </a:r>
          </a:p>
        </p:txBody>
      </p:sp>
      <p:sp>
        <p:nvSpPr>
          <p:cNvPr id="12"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3"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4" name="Date Placeholder 3"/>
          <p:cNvSpPr>
            <a:spLocks noGrp="1"/>
          </p:cNvSpPr>
          <p:nvPr>
            <p:ph type="dt" sz="half" idx="10"/>
          </p:nvPr>
        </p:nvSpPr>
        <p:spPr>
          <a:xfrm>
            <a:off x="6197294" y="6477000"/>
            <a:ext cx="816269" cy="311150"/>
          </a:xfrm>
        </p:spPr>
        <p:txBody>
          <a:bodyPr/>
          <a:lstStyle>
            <a:lvl1pPr>
              <a:defRPr>
                <a:latin typeface="+mn-lt"/>
              </a:defRPr>
            </a:lvl1pPr>
          </a:lstStyle>
          <a:p>
            <a:fld id="{051207CA-2F4C-4300-959F-33BFE37EDEA2}" type="datetime1">
              <a:rPr lang="en-US" smtClean="0"/>
              <a:t>7/27/2026</a:t>
            </a:fld>
            <a:endParaRPr lang="en-US"/>
          </a:p>
        </p:txBody>
      </p:sp>
    </p:spTree>
    <p:extLst>
      <p:ext uri="{BB962C8B-B14F-4D97-AF65-F5344CB8AC3E}">
        <p14:creationId xmlns:p14="http://schemas.microsoft.com/office/powerpoint/2010/main" val="3405067208"/>
      </p:ext>
    </p:extLst>
  </p:cSld>
  <p:clrMapOvr>
    <a:masterClrMapping/>
  </p:clrMapOvr>
  <p:extLst>
    <p:ext uri="{DCECCB84-F9BA-43D5-87BE-67443E8EF086}">
      <p15:sldGuideLst xmlns:p15="http://schemas.microsoft.com/office/powerpoint/2012/main">
        <p15:guide id="1" orient="horz" pos="141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s Text_A">
    <p:spTree>
      <p:nvGrpSpPr>
        <p:cNvPr id="1" name=""/>
        <p:cNvGrpSpPr/>
        <p:nvPr/>
      </p:nvGrpSpPr>
      <p:grpSpPr>
        <a:xfrm>
          <a:off x="0" y="0"/>
          <a:ext cx="0" cy="0"/>
          <a:chOff x="0" y="0"/>
          <a:chExt cx="0" cy="0"/>
        </a:xfrm>
      </p:grpSpPr>
      <p:sp>
        <p:nvSpPr>
          <p:cNvPr id="10" name="Content Placeholder 3"/>
          <p:cNvSpPr>
            <a:spLocks noGrp="1"/>
          </p:cNvSpPr>
          <p:nvPr>
            <p:ph sz="quarter" idx="16" hasCustomPrompt="1"/>
          </p:nvPr>
        </p:nvSpPr>
        <p:spPr>
          <a:xfrm>
            <a:off x="4672012" y="1727959"/>
            <a:ext cx="3843338" cy="4291842"/>
          </a:xfrm>
        </p:spPr>
        <p:txBody>
          <a:bodyPr/>
          <a:lstStyle>
            <a:lvl3pPr>
              <a:buSzPct val="75000"/>
              <a:defRPr/>
            </a:lvl3pPr>
            <a:lvl4pPr>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a:t>
            </a:r>
            <a:br>
              <a:rPr lang="en-US" dirty="0"/>
            </a:br>
            <a:r>
              <a:rPr lang="en-US" dirty="0"/>
              <a:t>21pt Font</a:t>
            </a:r>
          </a:p>
          <a:p>
            <a:pPr lvl="3"/>
            <a:r>
              <a:rPr lang="en-US" dirty="0"/>
              <a:t>Fifth level - Segoe UI </a:t>
            </a:r>
            <a:r>
              <a:rPr lang="en-US" dirty="0" err="1"/>
              <a:t>Semilight</a:t>
            </a:r>
            <a:r>
              <a:rPr lang="en-US" dirty="0"/>
              <a:t> (Body) </a:t>
            </a:r>
            <a:br>
              <a:rPr lang="en-US" dirty="0"/>
            </a:br>
            <a:r>
              <a:rPr lang="en-US" dirty="0"/>
              <a:t>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a:t>
            </a:r>
            <a:br>
              <a:rPr lang="en-US" dirty="0"/>
            </a:br>
            <a:r>
              <a:rPr lang="en-US" dirty="0"/>
              <a:t>18pt Font</a:t>
            </a:r>
          </a:p>
        </p:txBody>
      </p:sp>
      <p:sp>
        <p:nvSpPr>
          <p:cNvPr id="14"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5"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6" name="Date Placeholder 3"/>
          <p:cNvSpPr>
            <a:spLocks noGrp="1"/>
          </p:cNvSpPr>
          <p:nvPr>
            <p:ph type="dt" sz="half" idx="10"/>
          </p:nvPr>
        </p:nvSpPr>
        <p:spPr>
          <a:xfrm>
            <a:off x="6197294" y="6477000"/>
            <a:ext cx="816269" cy="311150"/>
          </a:xfrm>
        </p:spPr>
        <p:txBody>
          <a:bodyPr/>
          <a:lstStyle>
            <a:lvl1pPr>
              <a:defRPr>
                <a:latin typeface="+mn-lt"/>
              </a:defRPr>
            </a:lvl1pPr>
          </a:lstStyle>
          <a:p>
            <a:fld id="{DA28B07F-D7AE-4819-AF70-AA4381406B35}" type="datetime1">
              <a:rPr lang="en-US" smtClean="0"/>
              <a:t>7/27/2026</a:t>
            </a:fld>
            <a:endParaRPr lang="en-US"/>
          </a:p>
        </p:txBody>
      </p:sp>
      <p:sp>
        <p:nvSpPr>
          <p:cNvPr id="18" name="Title 1"/>
          <p:cNvSpPr>
            <a:spLocks noGrp="1"/>
          </p:cNvSpPr>
          <p:nvPr>
            <p:ph type="title" hasCustomPrompt="1"/>
          </p:nvPr>
        </p:nvSpPr>
        <p:spPr>
          <a:xfrm>
            <a:off x="629842" y="419101"/>
            <a:ext cx="7885509" cy="609600"/>
          </a:xfrm>
        </p:spPr>
        <p:txBody>
          <a:bodyPr anchor="t" anchorCtr="0">
            <a:noAutofit/>
          </a:bodyPr>
          <a:lstStyle>
            <a:lvl1pPr>
              <a:spcBef>
                <a:spcPts val="750"/>
              </a:spcBef>
              <a:defRPr sz="3000"/>
            </a:lvl1pPr>
          </a:lstStyle>
          <a:p>
            <a:r>
              <a:rPr lang="en-US" dirty="0"/>
              <a:t>Main HEADING – Size 30pt font</a:t>
            </a:r>
          </a:p>
        </p:txBody>
      </p:sp>
      <p:sp>
        <p:nvSpPr>
          <p:cNvPr id="19" name="Subtitle 2"/>
          <p:cNvSpPr>
            <a:spLocks noGrp="1"/>
          </p:cNvSpPr>
          <p:nvPr>
            <p:ph type="subTitle" idx="1" hasCustomPrompt="1"/>
          </p:nvPr>
        </p:nvSpPr>
        <p:spPr>
          <a:xfrm>
            <a:off x="628650" y="1156460"/>
            <a:ext cx="7886700" cy="443740"/>
          </a:xfrm>
        </p:spPr>
        <p:txBody>
          <a:bodyPr tIns="0">
            <a:normAutofit/>
          </a:bodyPr>
          <a:lstStyle>
            <a:lvl1pPr marL="0" indent="0" algn="l">
              <a:buNone/>
              <a:defRPr sz="2100" b="1">
                <a:solidFill>
                  <a:srgbClr val="46464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
        <p:nvSpPr>
          <p:cNvPr id="20" name="Content Placeholder 3"/>
          <p:cNvSpPr>
            <a:spLocks noGrp="1"/>
          </p:cNvSpPr>
          <p:nvPr>
            <p:ph sz="quarter" idx="17" hasCustomPrompt="1"/>
          </p:nvPr>
        </p:nvSpPr>
        <p:spPr>
          <a:xfrm>
            <a:off x="628650" y="1727959"/>
            <a:ext cx="3843338" cy="4291842"/>
          </a:xfrm>
        </p:spPr>
        <p:txBody>
          <a:bodyPr/>
          <a:lstStyle>
            <a:lvl3pPr>
              <a:buSzPct val="75000"/>
              <a:defRPr/>
            </a:lvl3pPr>
            <a:lvl4pPr>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a:t>
            </a:r>
            <a:br>
              <a:rPr lang="en-US" dirty="0"/>
            </a:br>
            <a:r>
              <a:rPr lang="en-US" dirty="0"/>
              <a:t>21pt Font</a:t>
            </a:r>
          </a:p>
          <a:p>
            <a:pPr lvl="3"/>
            <a:r>
              <a:rPr lang="en-US" dirty="0"/>
              <a:t>Fifth level - Segoe UI </a:t>
            </a:r>
            <a:r>
              <a:rPr lang="en-US" dirty="0" err="1"/>
              <a:t>Semilight</a:t>
            </a:r>
            <a:r>
              <a:rPr lang="en-US" dirty="0"/>
              <a:t> (Body) </a:t>
            </a:r>
            <a:br>
              <a:rPr lang="en-US" dirty="0"/>
            </a:br>
            <a:r>
              <a:rPr lang="en-US" dirty="0"/>
              <a:t>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a:t>
            </a:r>
            <a:br>
              <a:rPr lang="en-US" dirty="0"/>
            </a:br>
            <a:r>
              <a:rPr lang="en-US" dirty="0"/>
              <a:t>18pt Font</a:t>
            </a:r>
          </a:p>
        </p:txBody>
      </p:sp>
    </p:spTree>
    <p:extLst>
      <p:ext uri="{BB962C8B-B14F-4D97-AF65-F5344CB8AC3E}">
        <p14:creationId xmlns:p14="http://schemas.microsoft.com/office/powerpoint/2010/main" val="543919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lumns Text_B">
    <p:spTree>
      <p:nvGrpSpPr>
        <p:cNvPr id="1" name=""/>
        <p:cNvGrpSpPr/>
        <p:nvPr/>
      </p:nvGrpSpPr>
      <p:grpSpPr>
        <a:xfrm>
          <a:off x="0" y="0"/>
          <a:ext cx="0" cy="0"/>
          <a:chOff x="0" y="0"/>
          <a:chExt cx="0" cy="0"/>
        </a:xfrm>
      </p:grpSpPr>
      <p:sp>
        <p:nvSpPr>
          <p:cNvPr id="4" name="Content Placeholder 3"/>
          <p:cNvSpPr>
            <a:spLocks noGrp="1"/>
          </p:cNvSpPr>
          <p:nvPr>
            <p:ph sz="half" idx="2" hasCustomPrompt="1"/>
          </p:nvPr>
        </p:nvSpPr>
        <p:spPr>
          <a:xfrm>
            <a:off x="629841" y="1707781"/>
            <a:ext cx="3827860" cy="4312020"/>
          </a:xfrm>
        </p:spPr>
        <p:txBody>
          <a:bodyPr/>
          <a:lstStyle>
            <a:lvl3pPr>
              <a:buSzPct val="75000"/>
              <a:defRPr/>
            </a:lvl3pPr>
            <a:lvl4pPr>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a:t>
            </a:r>
            <a:br>
              <a:rPr lang="en-US" dirty="0"/>
            </a:br>
            <a:r>
              <a:rPr lang="en-US" dirty="0"/>
              <a:t>21pt Font</a:t>
            </a:r>
          </a:p>
          <a:p>
            <a:pPr lvl="3"/>
            <a:r>
              <a:rPr lang="en-US" dirty="0"/>
              <a:t>Fifth level - Segoe UI </a:t>
            </a:r>
            <a:r>
              <a:rPr lang="en-US" dirty="0" err="1"/>
              <a:t>Semilight</a:t>
            </a:r>
            <a:r>
              <a:rPr lang="en-US" dirty="0"/>
              <a:t> (Body) </a:t>
            </a:r>
            <a:br>
              <a:rPr lang="en-US" dirty="0"/>
            </a:br>
            <a:r>
              <a:rPr lang="en-US" dirty="0"/>
              <a:t>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a:t>
            </a:r>
            <a:br>
              <a:rPr lang="en-US" dirty="0"/>
            </a:br>
            <a:r>
              <a:rPr lang="en-US" dirty="0"/>
              <a:t>18pt Font</a:t>
            </a:r>
          </a:p>
        </p:txBody>
      </p:sp>
      <p:sp>
        <p:nvSpPr>
          <p:cNvPr id="5" name="Text Placeholder 4"/>
          <p:cNvSpPr>
            <a:spLocks noGrp="1"/>
          </p:cNvSpPr>
          <p:nvPr>
            <p:ph type="body" sz="quarter" idx="3" hasCustomPrompt="1"/>
          </p:nvPr>
        </p:nvSpPr>
        <p:spPr>
          <a:xfrm>
            <a:off x="4700587" y="1143000"/>
            <a:ext cx="3815954" cy="457200"/>
          </a:xfrm>
        </p:spPr>
        <p:txBody>
          <a:bodyPr anchor="t" anchorCtr="0">
            <a:normAutofit/>
          </a:bodyPr>
          <a:lstStyle>
            <a:lvl1pPr marL="0" indent="0">
              <a:buNone/>
              <a:defRPr sz="2100" b="1">
                <a:solidFill>
                  <a:srgbClr val="46464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Second Heading - 21pt Font</a:t>
            </a:r>
          </a:p>
        </p:txBody>
      </p:sp>
      <p:sp>
        <p:nvSpPr>
          <p:cNvPr id="6" name="Content Placeholder 5"/>
          <p:cNvSpPr>
            <a:spLocks noGrp="1"/>
          </p:cNvSpPr>
          <p:nvPr>
            <p:ph sz="quarter" idx="4" hasCustomPrompt="1"/>
          </p:nvPr>
        </p:nvSpPr>
        <p:spPr>
          <a:xfrm>
            <a:off x="4700587" y="1707781"/>
            <a:ext cx="3815954" cy="4312020"/>
          </a:xfrm>
        </p:spPr>
        <p:txBody>
          <a:bodyPr/>
          <a:lstStyle>
            <a:lvl3pPr>
              <a:buSzPct val="75000"/>
              <a:defRPr/>
            </a:lvl3pPr>
            <a:lvl4pPr>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lvl5pPr>
          </a:lstStyle>
          <a:p>
            <a:pPr lvl="0"/>
            <a:r>
              <a:rPr lang="en-US" dirty="0"/>
              <a:t>Third level - Segoe UI </a:t>
            </a:r>
            <a:r>
              <a:rPr lang="en-US" dirty="0" err="1"/>
              <a:t>Semilight</a:t>
            </a:r>
            <a:r>
              <a:rPr lang="en-US" dirty="0"/>
              <a:t> (Headings) 24pt Font</a:t>
            </a:r>
          </a:p>
          <a:p>
            <a:pPr lvl="2"/>
            <a:r>
              <a:rPr lang="en-US" dirty="0"/>
              <a:t>Fourth level -  Segoe UI </a:t>
            </a:r>
            <a:r>
              <a:rPr lang="en-US" dirty="0" err="1"/>
              <a:t>Semilight</a:t>
            </a:r>
            <a:r>
              <a:rPr lang="en-US" dirty="0"/>
              <a:t> (Body) </a:t>
            </a:r>
            <a:br>
              <a:rPr lang="en-US" dirty="0"/>
            </a:br>
            <a:r>
              <a:rPr lang="en-US" dirty="0"/>
              <a:t>21pt Font</a:t>
            </a:r>
          </a:p>
          <a:p>
            <a:pPr lvl="3"/>
            <a:r>
              <a:rPr lang="en-US" dirty="0"/>
              <a:t>Fifth level - Segoe UI </a:t>
            </a:r>
            <a:r>
              <a:rPr lang="en-US" dirty="0" err="1"/>
              <a:t>Semilight</a:t>
            </a:r>
            <a:r>
              <a:rPr lang="en-US" dirty="0"/>
              <a:t> (Body) </a:t>
            </a:r>
            <a:br>
              <a:rPr lang="en-US" dirty="0"/>
            </a:br>
            <a:r>
              <a:rPr lang="en-US" dirty="0"/>
              <a:t>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 - Segoe UI </a:t>
            </a:r>
            <a:r>
              <a:rPr lang="en-US" dirty="0" err="1"/>
              <a:t>Semilight</a:t>
            </a:r>
            <a:r>
              <a:rPr lang="en-US" dirty="0"/>
              <a:t> (Body) </a:t>
            </a:r>
            <a:br>
              <a:rPr lang="en-US" dirty="0"/>
            </a:br>
            <a:r>
              <a:rPr lang="en-US" dirty="0"/>
              <a:t>18pt Font</a:t>
            </a:r>
          </a:p>
        </p:txBody>
      </p:sp>
      <p:sp>
        <p:nvSpPr>
          <p:cNvPr id="10" name="Title 1"/>
          <p:cNvSpPr>
            <a:spLocks noGrp="1"/>
          </p:cNvSpPr>
          <p:nvPr>
            <p:ph type="title" hasCustomPrompt="1"/>
          </p:nvPr>
        </p:nvSpPr>
        <p:spPr>
          <a:xfrm>
            <a:off x="629841" y="425820"/>
            <a:ext cx="7887668" cy="609600"/>
          </a:xfrm>
        </p:spPr>
        <p:txBody>
          <a:bodyPr anchor="t" anchorCtr="0">
            <a:normAutofit/>
          </a:bodyPr>
          <a:lstStyle>
            <a:lvl1pPr>
              <a:spcBef>
                <a:spcPts val="750"/>
              </a:spcBef>
              <a:defRPr sz="3000"/>
            </a:lvl1pPr>
          </a:lstStyle>
          <a:p>
            <a:r>
              <a:rPr lang="en-US" dirty="0"/>
              <a:t>Main HEADING – Size 30pt font</a:t>
            </a:r>
          </a:p>
        </p:txBody>
      </p:sp>
      <p:sp>
        <p:nvSpPr>
          <p:cNvPr id="11" name="Subtitle 2"/>
          <p:cNvSpPr>
            <a:spLocks noGrp="1"/>
          </p:cNvSpPr>
          <p:nvPr>
            <p:ph type="subTitle" idx="1" hasCustomPrompt="1"/>
          </p:nvPr>
        </p:nvSpPr>
        <p:spPr>
          <a:xfrm>
            <a:off x="628651" y="1143000"/>
            <a:ext cx="3829051" cy="457200"/>
          </a:xfrm>
        </p:spPr>
        <p:txBody>
          <a:bodyPr tIns="0">
            <a:normAutofit/>
          </a:bodyPr>
          <a:lstStyle>
            <a:lvl1pPr marL="0" indent="0" algn="l">
              <a:buNone/>
              <a:defRPr sz="2100" b="1">
                <a:solidFill>
                  <a:srgbClr val="46464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
        <p:nvSpPr>
          <p:cNvPr id="13"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4"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5" name="Date Placeholder 3"/>
          <p:cNvSpPr>
            <a:spLocks noGrp="1"/>
          </p:cNvSpPr>
          <p:nvPr>
            <p:ph type="dt" sz="half" idx="10"/>
          </p:nvPr>
        </p:nvSpPr>
        <p:spPr>
          <a:xfrm>
            <a:off x="6197294" y="6477000"/>
            <a:ext cx="816269" cy="311150"/>
          </a:xfrm>
        </p:spPr>
        <p:txBody>
          <a:bodyPr/>
          <a:lstStyle>
            <a:lvl1pPr>
              <a:defRPr>
                <a:latin typeface="+mn-lt"/>
              </a:defRPr>
            </a:lvl1pPr>
          </a:lstStyle>
          <a:p>
            <a:fld id="{FA38A4F3-563C-47A9-B14B-EB51FED3560D}" type="datetime1">
              <a:rPr lang="en-US" smtClean="0"/>
              <a:t>7/27/2026</a:t>
            </a:fld>
            <a:endParaRPr lang="en-US"/>
          </a:p>
        </p:txBody>
      </p:sp>
    </p:spTree>
    <p:extLst>
      <p:ext uri="{BB962C8B-B14F-4D97-AF65-F5344CB8AC3E}">
        <p14:creationId xmlns:p14="http://schemas.microsoft.com/office/powerpoint/2010/main" val="1572148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lumns Text">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29841" y="425820"/>
            <a:ext cx="7887668" cy="602880"/>
          </a:xfrm>
        </p:spPr>
        <p:txBody>
          <a:bodyPr anchor="t" anchorCtr="0">
            <a:normAutofit/>
          </a:bodyPr>
          <a:lstStyle>
            <a:lvl1pPr>
              <a:spcBef>
                <a:spcPts val="750"/>
              </a:spcBef>
              <a:defRPr sz="3000"/>
            </a:lvl1pPr>
          </a:lstStyle>
          <a:p>
            <a:r>
              <a:rPr lang="en-US" dirty="0"/>
              <a:t>Main HEADING – Size 30pt font</a:t>
            </a:r>
          </a:p>
        </p:txBody>
      </p:sp>
      <p:sp>
        <p:nvSpPr>
          <p:cNvPr id="11" name="Subtitle 2"/>
          <p:cNvSpPr>
            <a:spLocks noGrp="1"/>
          </p:cNvSpPr>
          <p:nvPr>
            <p:ph type="subTitle" idx="1" hasCustomPrompt="1"/>
          </p:nvPr>
        </p:nvSpPr>
        <p:spPr>
          <a:xfrm>
            <a:off x="628651" y="1143000"/>
            <a:ext cx="7888859" cy="457200"/>
          </a:xfrm>
        </p:spPr>
        <p:txBody>
          <a:bodyPr tIns="0">
            <a:normAutofit/>
          </a:bodyPr>
          <a:lstStyle>
            <a:lvl1pPr marL="0" indent="0" algn="l">
              <a:buNone/>
              <a:defRPr sz="2100" b="1">
                <a:solidFill>
                  <a:srgbClr val="46464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
        <p:nvSpPr>
          <p:cNvPr id="13"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4"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5" name="Date Placeholder 3"/>
          <p:cNvSpPr>
            <a:spLocks noGrp="1"/>
          </p:cNvSpPr>
          <p:nvPr>
            <p:ph type="dt" sz="half" idx="10"/>
          </p:nvPr>
        </p:nvSpPr>
        <p:spPr>
          <a:xfrm>
            <a:off x="6197294" y="6477000"/>
            <a:ext cx="816269" cy="311150"/>
          </a:xfrm>
        </p:spPr>
        <p:txBody>
          <a:bodyPr/>
          <a:lstStyle>
            <a:lvl1pPr>
              <a:defRPr>
                <a:latin typeface="+mn-lt"/>
              </a:defRPr>
            </a:lvl1pPr>
          </a:lstStyle>
          <a:p>
            <a:fld id="{086C6056-4D33-4223-B8C7-F2CFB7492950}" type="datetime1">
              <a:rPr lang="en-US" smtClean="0"/>
              <a:t>7/27/2026</a:t>
            </a:fld>
            <a:endParaRPr lang="en-US"/>
          </a:p>
        </p:txBody>
      </p:sp>
      <p:sp>
        <p:nvSpPr>
          <p:cNvPr id="17" name="Content Placeholder 3"/>
          <p:cNvSpPr>
            <a:spLocks noGrp="1"/>
          </p:cNvSpPr>
          <p:nvPr>
            <p:ph sz="quarter" idx="17" hasCustomPrompt="1"/>
          </p:nvPr>
        </p:nvSpPr>
        <p:spPr>
          <a:xfrm>
            <a:off x="628650" y="1727959"/>
            <a:ext cx="2455164" cy="4291842"/>
          </a:xfrm>
        </p:spPr>
        <p:txBody>
          <a:bodyPr/>
          <a:lstStyle>
            <a:lvl3pPr>
              <a:buSzPct val="75000"/>
              <a:defRPr/>
            </a:lvl3pPr>
            <a:lvl4pPr>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lvl5pPr>
          </a:lstStyle>
          <a:p>
            <a:pPr lvl="0"/>
            <a:r>
              <a:rPr lang="en-US" dirty="0"/>
              <a:t>Third level</a:t>
            </a:r>
          </a:p>
          <a:p>
            <a:pPr lvl="2"/>
            <a:r>
              <a:rPr lang="en-US" dirty="0"/>
              <a:t>Fourth level </a:t>
            </a:r>
          </a:p>
          <a:p>
            <a:pPr lvl="3"/>
            <a:r>
              <a:rPr lang="en-US" dirty="0"/>
              <a:t>Fifth level</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a:t>
            </a:r>
          </a:p>
        </p:txBody>
      </p:sp>
      <p:sp>
        <p:nvSpPr>
          <p:cNvPr id="18" name="Content Placeholder 3"/>
          <p:cNvSpPr>
            <a:spLocks noGrp="1"/>
          </p:cNvSpPr>
          <p:nvPr>
            <p:ph sz="quarter" idx="18" hasCustomPrompt="1"/>
          </p:nvPr>
        </p:nvSpPr>
        <p:spPr>
          <a:xfrm>
            <a:off x="3344418" y="1727959"/>
            <a:ext cx="2455164" cy="4291842"/>
          </a:xfrm>
        </p:spPr>
        <p:txBody>
          <a:bodyPr/>
          <a:lstStyle>
            <a:lvl3pPr>
              <a:buSzPct val="75000"/>
              <a:defRPr/>
            </a:lvl3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lvl5pPr>
          </a:lstStyle>
          <a:p>
            <a:pPr lvl="0"/>
            <a:r>
              <a:rPr lang="en-US" dirty="0"/>
              <a:t>Third level</a:t>
            </a:r>
          </a:p>
          <a:p>
            <a:pPr lvl="2"/>
            <a:r>
              <a:rPr lang="en-US" dirty="0"/>
              <a:t>Fourth level </a:t>
            </a:r>
          </a:p>
          <a:p>
            <a:pPr lvl="3"/>
            <a:r>
              <a:rPr lang="en-US" dirty="0"/>
              <a:t>Fifth level</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a:t>
            </a:r>
          </a:p>
        </p:txBody>
      </p:sp>
      <p:sp>
        <p:nvSpPr>
          <p:cNvPr id="19" name="Content Placeholder 3"/>
          <p:cNvSpPr>
            <a:spLocks noGrp="1"/>
          </p:cNvSpPr>
          <p:nvPr>
            <p:ph sz="quarter" idx="19" hasCustomPrompt="1"/>
          </p:nvPr>
        </p:nvSpPr>
        <p:spPr>
          <a:xfrm>
            <a:off x="6060186" y="1731167"/>
            <a:ext cx="2455164" cy="4291842"/>
          </a:xfrm>
        </p:spPr>
        <p:txBody>
          <a:bodyPr/>
          <a:lstStyle>
            <a:lvl3pPr>
              <a:buSzPct val="75000"/>
              <a:defRPr/>
            </a:lvl3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lvl5pPr>
          </a:lstStyle>
          <a:p>
            <a:pPr lvl="0"/>
            <a:r>
              <a:rPr lang="en-US" dirty="0"/>
              <a:t>Third level</a:t>
            </a:r>
          </a:p>
          <a:p>
            <a:pPr lvl="2"/>
            <a:r>
              <a:rPr lang="en-US" dirty="0"/>
              <a:t>Fourth level </a:t>
            </a:r>
          </a:p>
          <a:p>
            <a:pPr lvl="3"/>
            <a:r>
              <a:rPr lang="en-US" dirty="0"/>
              <a:t>Fifth level</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Sixth level</a:t>
            </a:r>
          </a:p>
        </p:txBody>
      </p:sp>
    </p:spTree>
    <p:extLst>
      <p:ext uri="{BB962C8B-B14F-4D97-AF65-F5344CB8AC3E}">
        <p14:creationId xmlns:p14="http://schemas.microsoft.com/office/powerpoint/2010/main" val="21110023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w/ Media Boxes">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29841" y="425820"/>
            <a:ext cx="7887668" cy="602880"/>
          </a:xfrm>
        </p:spPr>
        <p:txBody>
          <a:bodyPr anchor="t" anchorCtr="0">
            <a:normAutofit/>
          </a:bodyPr>
          <a:lstStyle>
            <a:lvl1pPr>
              <a:spcBef>
                <a:spcPts val="750"/>
              </a:spcBef>
              <a:defRPr sz="3000"/>
            </a:lvl1pPr>
          </a:lstStyle>
          <a:p>
            <a:r>
              <a:rPr lang="en-US" dirty="0"/>
              <a:t>Main HEADING – Size 30pt font</a:t>
            </a:r>
          </a:p>
        </p:txBody>
      </p:sp>
      <p:sp>
        <p:nvSpPr>
          <p:cNvPr id="9" name="Subtitle 2"/>
          <p:cNvSpPr>
            <a:spLocks noGrp="1"/>
          </p:cNvSpPr>
          <p:nvPr>
            <p:ph type="subTitle" idx="1" hasCustomPrompt="1"/>
          </p:nvPr>
        </p:nvSpPr>
        <p:spPr>
          <a:xfrm>
            <a:off x="628651" y="1143000"/>
            <a:ext cx="7888859" cy="457200"/>
          </a:xfrm>
        </p:spPr>
        <p:txBody>
          <a:bodyPr tIns="0">
            <a:normAutofit/>
          </a:bodyPr>
          <a:lstStyle>
            <a:lvl1pPr marL="0" indent="0" algn="l">
              <a:buNone/>
              <a:defRPr sz="2100" b="1">
                <a:solidFill>
                  <a:srgbClr val="464646"/>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dirty="0"/>
              <a:t>Second Heading - 21pt Font</a:t>
            </a:r>
          </a:p>
        </p:txBody>
      </p:sp>
      <p:sp>
        <p:nvSpPr>
          <p:cNvPr id="11"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12"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3" name="Date Placeholder 3"/>
          <p:cNvSpPr>
            <a:spLocks noGrp="1"/>
          </p:cNvSpPr>
          <p:nvPr>
            <p:ph type="dt" sz="half" idx="10"/>
          </p:nvPr>
        </p:nvSpPr>
        <p:spPr>
          <a:xfrm>
            <a:off x="6197294" y="6477000"/>
            <a:ext cx="816269" cy="311150"/>
          </a:xfrm>
        </p:spPr>
        <p:txBody>
          <a:bodyPr/>
          <a:lstStyle>
            <a:lvl1pPr>
              <a:defRPr>
                <a:latin typeface="+mn-lt"/>
              </a:defRPr>
            </a:lvl1pPr>
          </a:lstStyle>
          <a:p>
            <a:fld id="{827236FF-35DB-4ABB-8669-48D06388DB64}" type="datetime1">
              <a:rPr lang="en-US" smtClean="0"/>
              <a:t>7/27/2026</a:t>
            </a:fld>
            <a:endParaRPr lang="en-US"/>
          </a:p>
        </p:txBody>
      </p:sp>
      <p:sp>
        <p:nvSpPr>
          <p:cNvPr id="15" name="Media Placeholder 9"/>
          <p:cNvSpPr>
            <a:spLocks noGrp="1"/>
          </p:cNvSpPr>
          <p:nvPr>
            <p:ph type="media" sz="quarter" idx="13"/>
          </p:nvPr>
        </p:nvSpPr>
        <p:spPr>
          <a:xfrm>
            <a:off x="1432437" y="4688079"/>
            <a:ext cx="1481328" cy="1331722"/>
          </a:xfrm>
        </p:spPr>
        <p:txBody>
          <a:bodyPr>
            <a:normAutofit/>
          </a:bodyPr>
          <a:lstStyle>
            <a:lvl1pPr marL="0" indent="0" algn="ctr">
              <a:buFontTx/>
              <a:buNone/>
              <a:defRPr sz="1350">
                <a:solidFill>
                  <a:schemeClr val="tx2"/>
                </a:solidFill>
              </a:defRPr>
            </a:lvl1pPr>
          </a:lstStyle>
          <a:p>
            <a:r>
              <a:rPr lang="ja-JP" altLang="en-US"/>
              <a:t>メディアを追加</a:t>
            </a:r>
            <a:endParaRPr lang="en-US" dirty="0"/>
          </a:p>
        </p:txBody>
      </p:sp>
      <p:sp>
        <p:nvSpPr>
          <p:cNvPr id="16" name="Media Placeholder 12"/>
          <p:cNvSpPr>
            <a:spLocks noGrp="1"/>
          </p:cNvSpPr>
          <p:nvPr>
            <p:ph type="media" sz="quarter" idx="18"/>
          </p:nvPr>
        </p:nvSpPr>
        <p:spPr>
          <a:xfrm>
            <a:off x="3032523" y="4687888"/>
            <a:ext cx="1481138" cy="1331912"/>
          </a:xfrm>
        </p:spPr>
        <p:txBody>
          <a:bodyPr>
            <a:normAutofit/>
          </a:bodyPr>
          <a:lstStyle>
            <a:lvl1pPr marL="0" indent="0" algn="ctr">
              <a:buNone/>
              <a:defRPr sz="1350">
                <a:solidFill>
                  <a:schemeClr val="tx2"/>
                </a:solidFill>
              </a:defRPr>
            </a:lvl1pPr>
          </a:lstStyle>
          <a:p>
            <a:r>
              <a:rPr lang="ja-JP" altLang="en-US"/>
              <a:t>メディアを追加</a:t>
            </a:r>
            <a:endParaRPr lang="en-US" dirty="0"/>
          </a:p>
        </p:txBody>
      </p:sp>
      <p:sp>
        <p:nvSpPr>
          <p:cNvPr id="17" name="Media Placeholder 14"/>
          <p:cNvSpPr>
            <a:spLocks noGrp="1"/>
          </p:cNvSpPr>
          <p:nvPr>
            <p:ph type="media" sz="quarter" idx="19"/>
          </p:nvPr>
        </p:nvSpPr>
        <p:spPr>
          <a:xfrm>
            <a:off x="4632723" y="4687888"/>
            <a:ext cx="1481138" cy="1331912"/>
          </a:xfrm>
        </p:spPr>
        <p:txBody>
          <a:bodyPr>
            <a:normAutofit/>
          </a:bodyPr>
          <a:lstStyle>
            <a:lvl1pPr marL="0" indent="0" algn="ctr">
              <a:buNone/>
              <a:defRPr sz="1350">
                <a:solidFill>
                  <a:schemeClr val="tx2"/>
                </a:solidFill>
              </a:defRPr>
            </a:lvl1pPr>
          </a:lstStyle>
          <a:p>
            <a:r>
              <a:rPr lang="ja-JP" altLang="en-US"/>
              <a:t>メディアを追加</a:t>
            </a:r>
            <a:endParaRPr lang="en-US" dirty="0"/>
          </a:p>
        </p:txBody>
      </p:sp>
      <p:sp>
        <p:nvSpPr>
          <p:cNvPr id="18" name="Media Placeholder 16"/>
          <p:cNvSpPr>
            <a:spLocks noGrp="1"/>
          </p:cNvSpPr>
          <p:nvPr>
            <p:ph type="media" sz="quarter" idx="20"/>
          </p:nvPr>
        </p:nvSpPr>
        <p:spPr>
          <a:xfrm>
            <a:off x="6232923" y="4687888"/>
            <a:ext cx="1481138" cy="1331912"/>
          </a:xfrm>
        </p:spPr>
        <p:txBody>
          <a:bodyPr>
            <a:normAutofit/>
          </a:bodyPr>
          <a:lstStyle>
            <a:lvl1pPr marL="0" indent="0" algn="ctr">
              <a:buNone/>
              <a:defRPr sz="1350">
                <a:solidFill>
                  <a:schemeClr val="tx2"/>
                </a:solidFill>
              </a:defRPr>
            </a:lvl1pPr>
          </a:lstStyle>
          <a:p>
            <a:r>
              <a:rPr lang="ja-JP" altLang="en-US"/>
              <a:t>メディアを追加</a:t>
            </a:r>
            <a:endParaRPr lang="en-US" dirty="0"/>
          </a:p>
        </p:txBody>
      </p:sp>
    </p:spTree>
    <p:extLst>
      <p:ext uri="{BB962C8B-B14F-4D97-AF65-F5344CB8AC3E}">
        <p14:creationId xmlns:p14="http://schemas.microsoft.com/office/powerpoint/2010/main" val="5659666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Cus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431800"/>
            <a:ext cx="7886700" cy="596900"/>
          </a:xfrm>
        </p:spPr>
        <p:txBody>
          <a:bodyPr/>
          <a:lstStyle>
            <a:lvl1pPr>
              <a:spcBef>
                <a:spcPts val="750"/>
              </a:spcBef>
              <a:defRPr/>
            </a:lvl1pPr>
          </a:lstStyle>
          <a:p>
            <a:r>
              <a:rPr lang="en-US" dirty="0"/>
              <a:t>Main HEADING – Size 30pt font</a:t>
            </a:r>
          </a:p>
        </p:txBody>
      </p:sp>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9"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0" name="Date Placeholder 3"/>
          <p:cNvSpPr>
            <a:spLocks noGrp="1"/>
          </p:cNvSpPr>
          <p:nvPr>
            <p:ph type="dt" sz="half" idx="10"/>
          </p:nvPr>
        </p:nvSpPr>
        <p:spPr>
          <a:xfrm>
            <a:off x="6197294" y="6477000"/>
            <a:ext cx="816269" cy="311150"/>
          </a:xfrm>
        </p:spPr>
        <p:txBody>
          <a:bodyPr/>
          <a:lstStyle>
            <a:lvl1pPr>
              <a:defRPr>
                <a:latin typeface="+mn-lt"/>
              </a:defRPr>
            </a:lvl1pPr>
          </a:lstStyle>
          <a:p>
            <a:fld id="{DCC1CB69-A35B-4B77-B0C3-EEDF66512D48}" type="datetime1">
              <a:rPr lang="en-US" smtClean="0"/>
              <a:t>7/27/2026</a:t>
            </a:fld>
            <a:endParaRPr lang="en-US"/>
          </a:p>
        </p:txBody>
      </p:sp>
      <p:sp>
        <p:nvSpPr>
          <p:cNvPr id="13" name="Text Placeholder 2"/>
          <p:cNvSpPr>
            <a:spLocks noGrp="1"/>
          </p:cNvSpPr>
          <p:nvPr>
            <p:ph type="body" idx="13" hasCustomPrompt="1"/>
          </p:nvPr>
        </p:nvSpPr>
        <p:spPr>
          <a:xfrm>
            <a:off x="628651" y="1143001"/>
            <a:ext cx="7881937" cy="457200"/>
          </a:xfrm>
        </p:spPr>
        <p:txBody>
          <a:bodyPr>
            <a:normAutofit/>
          </a:bodyPr>
          <a:lstStyle>
            <a:lvl1pPr marL="0" indent="0" algn="l">
              <a:buNone/>
              <a:defRPr sz="2100" b="1">
                <a:solidFill>
                  <a:srgbClr val="464646"/>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Second Heading - 21pt Font</a:t>
            </a:r>
          </a:p>
        </p:txBody>
      </p:sp>
    </p:spTree>
    <p:extLst>
      <p:ext uri="{BB962C8B-B14F-4D97-AF65-F5344CB8AC3E}">
        <p14:creationId xmlns:p14="http://schemas.microsoft.com/office/powerpoint/2010/main" val="35919745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pyright Confidentiality Notice">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9"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0" name="Date Placeholder 3"/>
          <p:cNvSpPr>
            <a:spLocks noGrp="1"/>
          </p:cNvSpPr>
          <p:nvPr>
            <p:ph type="dt" sz="half" idx="10"/>
          </p:nvPr>
        </p:nvSpPr>
        <p:spPr>
          <a:xfrm>
            <a:off x="6197294" y="6477000"/>
            <a:ext cx="816269" cy="311150"/>
          </a:xfrm>
        </p:spPr>
        <p:txBody>
          <a:bodyPr/>
          <a:lstStyle>
            <a:lvl1pPr>
              <a:defRPr>
                <a:latin typeface="+mn-lt"/>
              </a:defRPr>
            </a:lvl1pPr>
          </a:lstStyle>
          <a:p>
            <a:fld id="{DCC1CB69-A35B-4B77-B0C3-EEDF66512D48}" type="datetime1">
              <a:rPr lang="en-US" smtClean="0"/>
              <a:t>7/27/2026</a:t>
            </a:fld>
            <a:endParaRPr lang="en-US"/>
          </a:p>
        </p:txBody>
      </p:sp>
      <p:sp>
        <p:nvSpPr>
          <p:cNvPr id="4" name="TextBox 3"/>
          <p:cNvSpPr txBox="1"/>
          <p:nvPr/>
        </p:nvSpPr>
        <p:spPr>
          <a:xfrm>
            <a:off x="628650" y="438551"/>
            <a:ext cx="7875270" cy="58477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3200" b="1" kern="1200" baseline="0" dirty="0">
                <a:solidFill>
                  <a:schemeClr val="tx1"/>
                </a:solidFill>
                <a:latin typeface="+mj-ea"/>
                <a:ea typeface="+mn-ea"/>
                <a:cs typeface="+mn-cs"/>
              </a:rPr>
              <a:t>著作権及び守秘義務について</a:t>
            </a:r>
            <a:endParaRPr lang="en-US" altLang="ja-JP" sz="3200" b="1" kern="1200" dirty="0">
              <a:solidFill>
                <a:schemeClr val="tx1"/>
              </a:solidFill>
              <a:latin typeface="+mj-ea"/>
              <a:ea typeface="+mn-ea"/>
              <a:cs typeface="+mn-cs"/>
            </a:endParaRPr>
          </a:p>
        </p:txBody>
      </p:sp>
      <p:sp>
        <p:nvSpPr>
          <p:cNvPr id="12" name="TextBox 11"/>
          <p:cNvSpPr txBox="1"/>
          <p:nvPr/>
        </p:nvSpPr>
        <p:spPr>
          <a:xfrm>
            <a:off x="628650" y="1889762"/>
            <a:ext cx="7646941" cy="3524042"/>
          </a:xfrm>
          <a:prstGeom prst="rect">
            <a:avLst/>
          </a:prstGeom>
          <a:noFill/>
        </p:spPr>
        <p:txBody>
          <a:bodyPr wrap="square" rtlCol="0">
            <a:spAutoFit/>
          </a:bodyPr>
          <a:lstStyle/>
          <a:p>
            <a:r>
              <a:rPr lang="ja-JP" altLang="en-US" sz="1400" dirty="0">
                <a:solidFill>
                  <a:srgbClr val="464646"/>
                </a:solidFill>
              </a:rPr>
              <a:t>本プレゼンテーション資料（以下「本資料」といいます）は、株式会社リガク及びその関係会社（以下総称して「弊社」といいます）の著作物であり、本資料の内容は、本資料の受領者のみを対象とし、対外厳秘です。</a:t>
            </a:r>
          </a:p>
          <a:p>
            <a:r>
              <a:rPr lang="ja-JP" altLang="en-US" sz="1400" dirty="0">
                <a:solidFill>
                  <a:srgbClr val="464646"/>
                </a:solidFill>
              </a:rPr>
              <a:t>受領者は、本資料を受領した時点で、以下の事項を認識し、合意するものとします。</a:t>
            </a:r>
            <a:endParaRPr lang="en-US" altLang="ja-JP" sz="1400" dirty="0">
              <a:solidFill>
                <a:srgbClr val="464646"/>
              </a:solidFill>
            </a:endParaRPr>
          </a:p>
          <a:p>
            <a:endParaRPr lang="ja-JP" altLang="en-US" sz="1400" dirty="0">
              <a:solidFill>
                <a:srgbClr val="464646"/>
              </a:solidFill>
            </a:endParaRPr>
          </a:p>
          <a:p>
            <a:pPr marL="265113" indent="-265113"/>
            <a:r>
              <a:rPr lang="en-US" altLang="ja-JP" sz="1400" dirty="0">
                <a:solidFill>
                  <a:srgbClr val="464646"/>
                </a:solidFill>
              </a:rPr>
              <a:t>(1)</a:t>
            </a:r>
            <a:r>
              <a:rPr lang="ja-JP" altLang="en-US" sz="1400" dirty="0">
                <a:solidFill>
                  <a:srgbClr val="464646"/>
                </a:solidFill>
              </a:rPr>
              <a:t>本資料は頒布を目的としているものではありません。もし、本資料を意図せずに頒布した場合、受領者は可及的速やかにこれを回収し、弊社に返却しなければなりません。</a:t>
            </a:r>
          </a:p>
          <a:p>
            <a:pPr marL="265113" indent="-265113"/>
            <a:endParaRPr lang="en-US" altLang="ja-JP" sz="1400" dirty="0">
              <a:solidFill>
                <a:srgbClr val="464646"/>
              </a:solidFill>
            </a:endParaRPr>
          </a:p>
          <a:p>
            <a:pPr marL="265113" indent="-265113"/>
            <a:r>
              <a:rPr lang="en-US" altLang="ja-JP" sz="1400" dirty="0">
                <a:solidFill>
                  <a:srgbClr val="464646"/>
                </a:solidFill>
              </a:rPr>
              <a:t>(2)</a:t>
            </a:r>
            <a:r>
              <a:rPr lang="ja-JP" altLang="en-US" sz="1400" dirty="0">
                <a:solidFill>
                  <a:srgbClr val="464646"/>
                </a:solidFill>
              </a:rPr>
              <a:t>受領者は、弊社の書面による同意がない限り、本資料の全部または一部を、展示、上映、</a:t>
            </a:r>
            <a:r>
              <a:rPr lang="en-US" altLang="ja-JP" sz="1400" dirty="0">
                <a:solidFill>
                  <a:srgbClr val="464646"/>
                </a:solidFill>
              </a:rPr>
              <a:t>FAX</a:t>
            </a:r>
            <a:r>
              <a:rPr lang="ja-JP" altLang="en-US" sz="1400" dirty="0">
                <a:solidFill>
                  <a:srgbClr val="464646"/>
                </a:solidFill>
              </a:rPr>
              <a:t>、複製、複写、譲渡、公衆送信、貸与、翻訳、翻案、二次的著作物の製作もしくは販売又は頒布をしてはなりません。</a:t>
            </a:r>
          </a:p>
          <a:p>
            <a:pPr marL="265113" indent="-265113"/>
            <a:endParaRPr lang="en-US" altLang="ja-JP" sz="1400" dirty="0">
              <a:solidFill>
                <a:srgbClr val="464646"/>
              </a:solidFill>
            </a:endParaRPr>
          </a:p>
          <a:p>
            <a:pPr marL="265113" indent="-265113"/>
            <a:r>
              <a:rPr lang="en-US" altLang="ja-JP" sz="1400" dirty="0">
                <a:solidFill>
                  <a:srgbClr val="464646"/>
                </a:solidFill>
              </a:rPr>
              <a:t>(3)</a:t>
            </a:r>
            <a:r>
              <a:rPr lang="ja-JP" altLang="en-US" sz="1400" dirty="0">
                <a:solidFill>
                  <a:srgbClr val="464646"/>
                </a:solidFill>
              </a:rPr>
              <a:t>本資料に記載されている情報の全てにつき、受領者は自らの機密情報を取扱うのと同等以上の注意をもって取扱わなければなりません。</a:t>
            </a:r>
          </a:p>
          <a:p>
            <a:pPr marL="0" marR="0" lvl="0" indent="0" algn="l" defTabSz="685800" rtl="0" eaLnBrk="1" fontAlgn="auto" latinLnBrk="0" hangingPunct="1">
              <a:lnSpc>
                <a:spcPct val="100000"/>
              </a:lnSpc>
              <a:spcBef>
                <a:spcPts val="0"/>
              </a:spcBef>
              <a:spcAft>
                <a:spcPts val="0"/>
              </a:spcAft>
              <a:buClrTx/>
              <a:buSzTx/>
              <a:buFontTx/>
              <a:buNone/>
              <a:tabLst/>
              <a:defRPr/>
            </a:pPr>
            <a:endParaRPr lang="en-US" altLang="ja-JP" sz="1350" dirty="0">
              <a:solidFill>
                <a:srgbClr val="464646"/>
              </a:solidFill>
              <a:ea typeface="ＭＳ Ｐゴシック" panose="020B0600070205080204" pitchFamily="34" charset="-128"/>
            </a:endParaRPr>
          </a:p>
          <a:p>
            <a:endParaRPr lang="en-US" sz="1350" dirty="0">
              <a:solidFill>
                <a:srgbClr val="464646"/>
              </a:solidFill>
            </a:endParaRPr>
          </a:p>
        </p:txBody>
      </p:sp>
    </p:spTree>
    <p:extLst>
      <p:ext uri="{BB962C8B-B14F-4D97-AF65-F5344CB8AC3E}">
        <p14:creationId xmlns:p14="http://schemas.microsoft.com/office/powerpoint/2010/main" val="18182288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pyright Notice">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9"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0" name="Date Placeholder 3"/>
          <p:cNvSpPr>
            <a:spLocks noGrp="1"/>
          </p:cNvSpPr>
          <p:nvPr>
            <p:ph type="dt" sz="half" idx="10"/>
          </p:nvPr>
        </p:nvSpPr>
        <p:spPr>
          <a:xfrm>
            <a:off x="6197294" y="6477000"/>
            <a:ext cx="816269" cy="311150"/>
          </a:xfrm>
        </p:spPr>
        <p:txBody>
          <a:bodyPr/>
          <a:lstStyle>
            <a:lvl1pPr>
              <a:defRPr>
                <a:latin typeface="+mn-lt"/>
              </a:defRPr>
            </a:lvl1pPr>
          </a:lstStyle>
          <a:p>
            <a:fld id="{DCC1CB69-A35B-4B77-B0C3-EEDF66512D48}" type="datetime1">
              <a:rPr lang="en-US" smtClean="0"/>
              <a:t>7/27/2026</a:t>
            </a:fld>
            <a:endParaRPr lang="en-US"/>
          </a:p>
        </p:txBody>
      </p:sp>
      <p:sp>
        <p:nvSpPr>
          <p:cNvPr id="4" name="TextBox 3"/>
          <p:cNvSpPr txBox="1"/>
          <p:nvPr/>
        </p:nvSpPr>
        <p:spPr>
          <a:xfrm>
            <a:off x="628650" y="426024"/>
            <a:ext cx="7875270" cy="584775"/>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ja-JP" altLang="en-US" sz="3200" b="1" baseline="0" dirty="0">
                <a:solidFill>
                  <a:schemeClr val="tx1"/>
                </a:solidFill>
                <a:latin typeface="+mj-ea"/>
                <a:ea typeface="+mj-ea"/>
              </a:rPr>
              <a:t>著作権について</a:t>
            </a:r>
          </a:p>
        </p:txBody>
      </p:sp>
      <p:sp>
        <p:nvSpPr>
          <p:cNvPr id="12" name="TextBox 11"/>
          <p:cNvSpPr txBox="1"/>
          <p:nvPr/>
        </p:nvSpPr>
        <p:spPr>
          <a:xfrm>
            <a:off x="628650" y="1889760"/>
            <a:ext cx="7875270" cy="2677656"/>
          </a:xfrm>
          <a:prstGeom prst="rect">
            <a:avLst/>
          </a:prstGeom>
          <a:noFill/>
        </p:spPr>
        <p:txBody>
          <a:bodyPr wrap="square" rtlCol="0">
            <a:spAutoFit/>
          </a:bodyPr>
          <a:lstStyle/>
          <a:p>
            <a:pPr marL="0" indent="0" algn="l">
              <a:buNone/>
            </a:pPr>
            <a:r>
              <a:rPr lang="en-US" altLang="ja-JP" sz="1400" dirty="0">
                <a:solidFill>
                  <a:srgbClr val="464646"/>
                </a:solidFill>
                <a:ea typeface="ＭＳ Ｐゴシック" panose="020B0600070205080204" pitchFamily="34" charset="-128"/>
              </a:rPr>
              <a:t>© 2020 Rigaku Corporation and its Global Subsidiaries. All Rights Reserved.</a:t>
            </a:r>
          </a:p>
          <a:p>
            <a:pPr marL="0" indent="0" algn="l">
              <a:buNone/>
            </a:pPr>
            <a:endParaRPr lang="en-US" altLang="ja-JP" sz="1400" dirty="0">
              <a:solidFill>
                <a:srgbClr val="464646"/>
              </a:solidFill>
              <a:ea typeface="ＭＳ Ｐゴシック" panose="020B0600070205080204" pitchFamily="34" charset="-128"/>
            </a:endParaRPr>
          </a:p>
          <a:p>
            <a:pPr marL="0" indent="0" algn="l">
              <a:buNone/>
            </a:pPr>
            <a:r>
              <a:rPr lang="ja-JP" altLang="en-US" sz="1400" dirty="0">
                <a:solidFill>
                  <a:srgbClr val="464646"/>
                </a:solidFill>
                <a:ea typeface="ＭＳ Ｐゴシック" panose="020B0600070205080204" pitchFamily="34" charset="-128"/>
              </a:rPr>
              <a:t>株式会社リガク及びその関係会社（以下総称して「弊社」といいます）が販促及び教育活動のために使用するテキスト、写真、動画、音声並びにそれらを組み合わせた視聴覚資料及び文書（弊社</a:t>
            </a:r>
            <a:r>
              <a:rPr lang="en-US" altLang="ja-JP" sz="1400" dirty="0">
                <a:solidFill>
                  <a:srgbClr val="464646"/>
                </a:solidFill>
                <a:ea typeface="ＭＳ Ｐゴシック" panose="020B0600070205080204" pitchFamily="34" charset="-128"/>
              </a:rPr>
              <a:t>Web</a:t>
            </a:r>
            <a:r>
              <a:rPr lang="ja-JP" altLang="en-US" sz="1400" dirty="0">
                <a:solidFill>
                  <a:srgbClr val="464646"/>
                </a:solidFill>
                <a:ea typeface="ＭＳ Ｐゴシック" panose="020B0600070205080204" pitchFamily="34" charset="-128"/>
              </a:rPr>
              <a:t>サイトに含まれる各種の素材を含む）は、弊社の著作物として、日本、米国を含む各国の法律によって保護されています。</a:t>
            </a:r>
            <a:endParaRPr lang="en-US" altLang="ja-JP" sz="1400" dirty="0">
              <a:solidFill>
                <a:srgbClr val="464646"/>
              </a:solidFill>
              <a:ea typeface="ＭＳ Ｐゴシック" panose="020B0600070205080204" pitchFamily="34" charset="-128"/>
            </a:endParaRPr>
          </a:p>
          <a:p>
            <a:pPr marL="0" indent="0" algn="l">
              <a:buNone/>
            </a:pPr>
            <a:endParaRPr lang="ja-JP" altLang="en-US" sz="1400" dirty="0">
              <a:solidFill>
                <a:srgbClr val="464646"/>
              </a:solidFill>
              <a:ea typeface="ＭＳ Ｐゴシック" panose="020B0600070205080204" pitchFamily="34" charset="-128"/>
            </a:endParaRPr>
          </a:p>
          <a:p>
            <a:pPr marL="0" indent="0" algn="l">
              <a:buNone/>
            </a:pPr>
            <a:r>
              <a:rPr lang="ja-JP" altLang="en-US" sz="1400" dirty="0">
                <a:solidFill>
                  <a:srgbClr val="464646"/>
                </a:solidFill>
                <a:ea typeface="ＭＳ Ｐゴシック" panose="020B0600070205080204" pitchFamily="34" charset="-128"/>
              </a:rPr>
              <a:t>営利目的か非営利目的かに関わらず、弊社の許可を得ることなく、弊社に帰属するテキスト、写真、マルチメディア、パワーポイント、動画又は視聴覚プログラムを、展示、上映、複製、複写、頒布、譲渡、公衆送信、貸与、翻訳、翻案、二次的著作物の制作又は販売をした者は、著作権法に違反し、著作権侵害の責任（損害賠償責任を含む）を負うものとします。</a:t>
            </a:r>
          </a:p>
          <a:p>
            <a:pPr marL="0" indent="0" algn="l">
              <a:buNone/>
            </a:pPr>
            <a:r>
              <a:rPr lang="ja-JP" altLang="en-US" sz="1400" dirty="0">
                <a:solidFill>
                  <a:srgbClr val="464646"/>
                </a:solidFill>
                <a:ea typeface="ＭＳ Ｐゴシック" panose="020B0600070205080204" pitchFamily="34" charset="-128"/>
              </a:rPr>
              <a:t>本内容について質問等がございましたら</a:t>
            </a:r>
            <a:r>
              <a:rPr lang="en-US" altLang="ja-JP" sz="1400" dirty="0">
                <a:solidFill>
                  <a:srgbClr val="464646"/>
                </a:solidFill>
                <a:ea typeface="ＭＳ Ｐゴシック" panose="020B0600070205080204" pitchFamily="34" charset="-128"/>
              </a:rPr>
              <a:t>info@rigaku.co.jp</a:t>
            </a:r>
            <a:r>
              <a:rPr lang="ja-JP" altLang="en-US" sz="1400" dirty="0">
                <a:solidFill>
                  <a:srgbClr val="464646"/>
                </a:solidFill>
                <a:ea typeface="ＭＳ Ｐゴシック" panose="020B0600070205080204" pitchFamily="34" charset="-128"/>
              </a:rPr>
              <a:t>までお問い合わせください。</a:t>
            </a:r>
          </a:p>
        </p:txBody>
      </p:sp>
    </p:spTree>
    <p:extLst>
      <p:ext uri="{BB962C8B-B14F-4D97-AF65-F5344CB8AC3E}">
        <p14:creationId xmlns:p14="http://schemas.microsoft.com/office/powerpoint/2010/main" val="2794073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pyright Confidentiality Notice">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9"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0" name="Date Placeholder 3"/>
          <p:cNvSpPr>
            <a:spLocks noGrp="1"/>
          </p:cNvSpPr>
          <p:nvPr>
            <p:ph type="dt" sz="half" idx="10"/>
          </p:nvPr>
        </p:nvSpPr>
        <p:spPr>
          <a:xfrm>
            <a:off x="6197294" y="6477000"/>
            <a:ext cx="816269" cy="311150"/>
          </a:xfrm>
        </p:spPr>
        <p:txBody>
          <a:bodyPr/>
          <a:lstStyle>
            <a:lvl1pPr>
              <a:defRPr>
                <a:latin typeface="+mn-lt"/>
              </a:defRPr>
            </a:lvl1pPr>
          </a:lstStyle>
          <a:p>
            <a:fld id="{DCC1CB69-A35B-4B77-B0C3-EEDF66512D48}" type="datetime1">
              <a:rPr lang="en-US" smtClean="0"/>
              <a:t>7/27/2026</a:t>
            </a:fld>
            <a:endParaRPr lang="en-US"/>
          </a:p>
        </p:txBody>
      </p:sp>
      <p:sp>
        <p:nvSpPr>
          <p:cNvPr id="4" name="TextBox 3"/>
          <p:cNvSpPr txBox="1"/>
          <p:nvPr/>
        </p:nvSpPr>
        <p:spPr>
          <a:xfrm>
            <a:off x="628650" y="375921"/>
            <a:ext cx="7875270" cy="553998"/>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3000" b="1" dirty="0">
                <a:solidFill>
                  <a:schemeClr val="tx1"/>
                </a:solidFill>
                <a:latin typeface="+mj-lt"/>
                <a:ea typeface="ＭＳ Ｐゴシック" panose="020B0600070205080204" pitchFamily="34" charset="-128"/>
              </a:rPr>
              <a:t>COPYRIGHT</a:t>
            </a:r>
            <a:r>
              <a:rPr lang="en-US" sz="3000" b="1" baseline="0" dirty="0">
                <a:solidFill>
                  <a:schemeClr val="tx1"/>
                </a:solidFill>
                <a:latin typeface="+mj-lt"/>
                <a:ea typeface="ＭＳ Ｐゴシック" panose="020B0600070205080204" pitchFamily="34" charset="-128"/>
              </a:rPr>
              <a:t> CONFIDENTIALITY NOTICE</a:t>
            </a:r>
            <a:endParaRPr lang="en-US" sz="3000" b="1" dirty="0">
              <a:solidFill>
                <a:schemeClr val="tx1"/>
              </a:solidFill>
              <a:latin typeface="+mj-lt"/>
            </a:endParaRPr>
          </a:p>
        </p:txBody>
      </p:sp>
      <p:sp>
        <p:nvSpPr>
          <p:cNvPr id="12" name="TextBox 11"/>
          <p:cNvSpPr txBox="1"/>
          <p:nvPr/>
        </p:nvSpPr>
        <p:spPr>
          <a:xfrm>
            <a:off x="628650" y="1889762"/>
            <a:ext cx="7646941" cy="1962076"/>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ja-JP" sz="1350" dirty="0">
                <a:solidFill>
                  <a:srgbClr val="464646"/>
                </a:solidFill>
                <a:ea typeface="ＭＳ Ｐゴシック" panose="020B0600070205080204" pitchFamily="34" charset="-128"/>
              </a:rPr>
              <a:t>This presentation is the property of Rigaku Corporation and its subsidiaries (the “Company”) and is strictly confidential. It contains information intended only for the person(s) to whom it is transmitted. With receipt of this information, recipient(s) acknowledges and agrees that: (1) this document is not intended to be distributed, and if distributed inadvertently, will be returned to the Company as soon as possible; (2) the recipient will not copy, fax, reproduce, divulge, or distribute this confidential information, in whole or in part, without the express written consent of the Company; (3) all of the information herein will be treated as confidential material with no less care than that afforded to its own confidential material.</a:t>
            </a:r>
          </a:p>
          <a:p>
            <a:endParaRPr lang="en-US" sz="1350" dirty="0">
              <a:solidFill>
                <a:srgbClr val="464646"/>
              </a:solidFill>
            </a:endParaRPr>
          </a:p>
        </p:txBody>
      </p:sp>
      <p:sp>
        <p:nvSpPr>
          <p:cNvPr id="7" name="TextBox 6"/>
          <p:cNvSpPr txBox="1"/>
          <p:nvPr userDrawn="1"/>
        </p:nvSpPr>
        <p:spPr>
          <a:xfrm>
            <a:off x="628650" y="375921"/>
            <a:ext cx="7875270" cy="553998"/>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3000" b="1" dirty="0">
                <a:solidFill>
                  <a:schemeClr val="tx1"/>
                </a:solidFill>
                <a:latin typeface="+mj-lt"/>
                <a:ea typeface="ＭＳ Ｐゴシック" panose="020B0600070205080204" pitchFamily="34" charset="-128"/>
              </a:rPr>
              <a:t>COPYRIGHT</a:t>
            </a:r>
            <a:r>
              <a:rPr lang="en-US" sz="3000" b="1" baseline="0" dirty="0">
                <a:solidFill>
                  <a:schemeClr val="tx1"/>
                </a:solidFill>
                <a:latin typeface="+mj-lt"/>
                <a:ea typeface="ＭＳ Ｐゴシック" panose="020B0600070205080204" pitchFamily="34" charset="-128"/>
              </a:rPr>
              <a:t> CONFIDENTIALITY NOTICE</a:t>
            </a:r>
            <a:endParaRPr lang="en-US" sz="3000" b="1" dirty="0">
              <a:solidFill>
                <a:schemeClr val="tx1"/>
              </a:solidFill>
              <a:latin typeface="+mj-lt"/>
            </a:endParaRPr>
          </a:p>
        </p:txBody>
      </p:sp>
    </p:spTree>
    <p:extLst>
      <p:ext uri="{BB962C8B-B14F-4D97-AF65-F5344CB8AC3E}">
        <p14:creationId xmlns:p14="http://schemas.microsoft.com/office/powerpoint/2010/main" val="14717867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Copyright Notice">
    <p:spTree>
      <p:nvGrpSpPr>
        <p:cNvPr id="1" name=""/>
        <p:cNvGrpSpPr/>
        <p:nvPr/>
      </p:nvGrpSpPr>
      <p:grpSpPr>
        <a:xfrm>
          <a:off x="0" y="0"/>
          <a:ext cx="0" cy="0"/>
          <a:chOff x="0" y="0"/>
          <a:chExt cx="0" cy="0"/>
        </a:xfrm>
      </p:grpSpPr>
      <p:sp>
        <p:nvSpPr>
          <p:cNvPr id="8" name="Slide Number Placeholder 5"/>
          <p:cNvSpPr>
            <a:spLocks noGrp="1"/>
          </p:cNvSpPr>
          <p:nvPr>
            <p:ph type="sldNum" sz="quarter" idx="12"/>
          </p:nvPr>
        </p:nvSpPr>
        <p:spPr>
          <a:xfrm>
            <a:off x="8543525"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9" name="Footer Placeholder 4"/>
          <p:cNvSpPr>
            <a:spLocks noGrp="1"/>
          </p:cNvSpPr>
          <p:nvPr>
            <p:ph type="ftr" sz="quarter" idx="11"/>
          </p:nvPr>
        </p:nvSpPr>
        <p:spPr>
          <a:xfrm>
            <a:off x="6694078" y="6487628"/>
            <a:ext cx="1823432" cy="300522"/>
          </a:xfrm>
        </p:spPr>
        <p:txBody>
          <a:bodyPr/>
          <a:lstStyle>
            <a:lvl1pPr>
              <a:defRPr>
                <a:latin typeface="+mj-lt"/>
              </a:defRPr>
            </a:lvl1pPr>
          </a:lstStyle>
          <a:p>
            <a:r>
              <a:rPr lang="en-US"/>
              <a:t>© 2020 Rigaku Corporation. All rights reserved</a:t>
            </a:r>
            <a:endParaRPr lang="en-US" dirty="0"/>
          </a:p>
        </p:txBody>
      </p:sp>
      <p:sp>
        <p:nvSpPr>
          <p:cNvPr id="10" name="Date Placeholder 3"/>
          <p:cNvSpPr>
            <a:spLocks noGrp="1"/>
          </p:cNvSpPr>
          <p:nvPr>
            <p:ph type="dt" sz="half" idx="10"/>
          </p:nvPr>
        </p:nvSpPr>
        <p:spPr>
          <a:xfrm>
            <a:off x="6197294" y="6477000"/>
            <a:ext cx="816269" cy="311150"/>
          </a:xfrm>
        </p:spPr>
        <p:txBody>
          <a:bodyPr/>
          <a:lstStyle>
            <a:lvl1pPr>
              <a:defRPr>
                <a:latin typeface="+mn-lt"/>
              </a:defRPr>
            </a:lvl1pPr>
          </a:lstStyle>
          <a:p>
            <a:fld id="{DCC1CB69-A35B-4B77-B0C3-EEDF66512D48}" type="datetime1">
              <a:rPr lang="en-US" smtClean="0"/>
              <a:t>7/27/2026</a:t>
            </a:fld>
            <a:endParaRPr lang="en-US"/>
          </a:p>
        </p:txBody>
      </p:sp>
      <p:sp>
        <p:nvSpPr>
          <p:cNvPr id="4" name="TextBox 3"/>
          <p:cNvSpPr txBox="1"/>
          <p:nvPr/>
        </p:nvSpPr>
        <p:spPr>
          <a:xfrm>
            <a:off x="628650" y="375920"/>
            <a:ext cx="7875270" cy="553998"/>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3000" b="1" dirty="0">
                <a:solidFill>
                  <a:schemeClr val="tx1"/>
                </a:solidFill>
                <a:latin typeface="+mj-lt"/>
                <a:ea typeface="ＭＳ Ｐゴシック" panose="020B0600070205080204" pitchFamily="34" charset="-128"/>
              </a:rPr>
              <a:t>COPYRIGHT</a:t>
            </a:r>
            <a:r>
              <a:rPr lang="en-US" sz="3000" b="1" baseline="0" dirty="0">
                <a:solidFill>
                  <a:schemeClr val="tx1"/>
                </a:solidFill>
                <a:latin typeface="+mj-lt"/>
                <a:ea typeface="ＭＳ Ｐゴシック" panose="020B0600070205080204" pitchFamily="34" charset="-128"/>
              </a:rPr>
              <a:t> NOTICE</a:t>
            </a:r>
            <a:endParaRPr lang="en-US" sz="3000" b="1" dirty="0">
              <a:solidFill>
                <a:schemeClr val="tx1"/>
              </a:solidFill>
              <a:latin typeface="+mj-lt"/>
            </a:endParaRPr>
          </a:p>
        </p:txBody>
      </p:sp>
      <p:sp>
        <p:nvSpPr>
          <p:cNvPr id="12" name="TextBox 11"/>
          <p:cNvSpPr txBox="1"/>
          <p:nvPr/>
        </p:nvSpPr>
        <p:spPr>
          <a:xfrm>
            <a:off x="628650" y="1889760"/>
            <a:ext cx="7875270" cy="3231654"/>
          </a:xfrm>
          <a:prstGeom prst="rect">
            <a:avLst/>
          </a:prstGeom>
          <a:noFill/>
        </p:spPr>
        <p:txBody>
          <a:bodyPr wrap="square" rtlCol="0">
            <a:spAutoFit/>
          </a:bodyPr>
          <a:lstStyle/>
          <a:p>
            <a:pPr marL="0" indent="0" algn="l">
              <a:buNone/>
            </a:pPr>
            <a:r>
              <a:rPr lang="en-US" altLang="ja-JP" sz="1200" dirty="0">
                <a:solidFill>
                  <a:srgbClr val="464646"/>
                </a:solidFill>
                <a:ea typeface="ＭＳ Ｐゴシック" panose="020B0600070205080204" pitchFamily="34" charset="-128"/>
              </a:rPr>
              <a:t>© 2020 Rigaku Corporation and its Global Subsidiaries. All Rights Reserved.</a:t>
            </a:r>
          </a:p>
          <a:p>
            <a:pPr marL="0" indent="0" algn="l">
              <a:buNone/>
            </a:pPr>
            <a:endParaRPr lang="en-US" altLang="ja-JP" sz="1200" dirty="0">
              <a:solidFill>
                <a:srgbClr val="464646"/>
              </a:solidFill>
              <a:ea typeface="ＭＳ Ｐゴシック" panose="020B0600070205080204" pitchFamily="34" charset="-128"/>
            </a:endParaRPr>
          </a:p>
          <a:p>
            <a:pPr marL="0" indent="0" algn="l">
              <a:buNone/>
            </a:pPr>
            <a:r>
              <a:rPr lang="en-US" altLang="ja-JP" sz="1200" dirty="0">
                <a:solidFill>
                  <a:srgbClr val="464646"/>
                </a:solidFill>
                <a:ea typeface="ＭＳ Ｐゴシック" panose="020B0600070205080204" pitchFamily="34" charset="-128"/>
              </a:rPr>
              <a:t>The textual, photographic, video, audio, and combined audiovisual materials and documents resulting from the promotional or educational activities of Rigaku Corporation and its Global Subsidiaries, including the material contained on the various Corporate Web sites, are protected under U.S., Japanese and international laws as copyrighted works. Anyone who displays, reproduces, copies, creates derivative works, or sells our textual, photographic, multimedia, PowerPoint, video or audiovisual programs for commercial or non-commercial purposes without our permission violates the copyright laws and is liable for copyright infringement.</a:t>
            </a:r>
          </a:p>
          <a:p>
            <a:pPr marL="0" indent="0" algn="l">
              <a:buNone/>
            </a:pPr>
            <a:endParaRPr lang="en-US" altLang="ja-JP" sz="1200" dirty="0">
              <a:solidFill>
                <a:srgbClr val="464646"/>
              </a:solidFill>
              <a:ea typeface="ＭＳ Ｐゴシック" panose="020B0600070205080204" pitchFamily="34" charset="-128"/>
            </a:endParaRPr>
          </a:p>
          <a:p>
            <a:pPr marL="0" indent="0" algn="l">
              <a:buNone/>
            </a:pPr>
            <a:r>
              <a:rPr lang="en-US" altLang="ja-JP" sz="1200" dirty="0">
                <a:solidFill>
                  <a:srgbClr val="464646"/>
                </a:solidFill>
                <a:ea typeface="ＭＳ Ｐゴシック" panose="020B0600070205080204" pitchFamily="34" charset="-128"/>
              </a:rPr>
              <a:t>Likewise, Rigaku Corporation (and its Global Subsidiaries) trademarks and service marks are protected by state, federal, and international trademark laws. Any person who uses our marks for commercial or non-commercial purposes without our permission on goods or services in such a way that it dilutes the distinctive quality of our marks or that creates the likelihood of confusion with our marks is liable for trademark infringement.</a:t>
            </a:r>
          </a:p>
          <a:p>
            <a:pPr marL="0" indent="0" algn="l">
              <a:buNone/>
            </a:pPr>
            <a:endParaRPr lang="en-US" altLang="ja-JP" sz="1200" dirty="0">
              <a:solidFill>
                <a:srgbClr val="464646"/>
              </a:solidFill>
              <a:ea typeface="ＭＳ Ｐゴシック" panose="020B0600070205080204" pitchFamily="34" charset="-128"/>
            </a:endParaRPr>
          </a:p>
          <a:p>
            <a:pPr marL="0" indent="0" algn="l">
              <a:buNone/>
            </a:pPr>
            <a:r>
              <a:rPr lang="en-US" altLang="ja-JP" sz="1200" dirty="0">
                <a:solidFill>
                  <a:srgbClr val="464646"/>
                </a:solidFill>
                <a:ea typeface="ＭＳ Ｐゴシック" panose="020B0600070205080204" pitchFamily="34" charset="-128"/>
              </a:rPr>
              <a:t>Liability for copyright or trademark infringement involves the potential for significant civil damages, including, in particular cases, statutory damages, liability for up to three times actual damages, and attorney’s fees.</a:t>
            </a:r>
          </a:p>
          <a:p>
            <a:pPr marL="0" indent="0" algn="l">
              <a:buNone/>
            </a:pPr>
            <a:r>
              <a:rPr lang="en-US" altLang="ja-JP" sz="1200" dirty="0">
                <a:solidFill>
                  <a:srgbClr val="464646"/>
                </a:solidFill>
                <a:ea typeface="ＭＳ Ｐゴシック" panose="020B0600070205080204" pitchFamily="34" charset="-128"/>
              </a:rPr>
              <a:t>If you have any questions regarding this notice, please send an email to info@rigaku.com.</a:t>
            </a:r>
            <a:endParaRPr lang="en-US" altLang="en-US" sz="1200" dirty="0">
              <a:solidFill>
                <a:srgbClr val="464646"/>
              </a:solidFill>
            </a:endParaRPr>
          </a:p>
        </p:txBody>
      </p:sp>
      <p:sp>
        <p:nvSpPr>
          <p:cNvPr id="7" name="TextBox 6"/>
          <p:cNvSpPr txBox="1"/>
          <p:nvPr userDrawn="1"/>
        </p:nvSpPr>
        <p:spPr>
          <a:xfrm>
            <a:off x="628650" y="375920"/>
            <a:ext cx="7875270" cy="553998"/>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3000" b="1" dirty="0">
                <a:solidFill>
                  <a:schemeClr val="tx1"/>
                </a:solidFill>
                <a:latin typeface="+mj-lt"/>
                <a:ea typeface="ＭＳ Ｐゴシック" panose="020B0600070205080204" pitchFamily="34" charset="-128"/>
              </a:rPr>
              <a:t>COPYRIGHT</a:t>
            </a:r>
            <a:r>
              <a:rPr lang="en-US" sz="3000" b="1" baseline="0" dirty="0">
                <a:solidFill>
                  <a:schemeClr val="tx1"/>
                </a:solidFill>
                <a:latin typeface="+mj-lt"/>
                <a:ea typeface="ＭＳ Ｐゴシック" panose="020B0600070205080204" pitchFamily="34" charset="-128"/>
              </a:rPr>
              <a:t> NOTICE</a:t>
            </a:r>
            <a:endParaRPr lang="en-US" sz="3000" b="1" dirty="0">
              <a:solidFill>
                <a:schemeClr val="tx1"/>
              </a:solidFill>
              <a:latin typeface="+mj-lt"/>
            </a:endParaRPr>
          </a:p>
        </p:txBody>
      </p:sp>
    </p:spTree>
    <p:extLst>
      <p:ext uri="{BB962C8B-B14F-4D97-AF65-F5344CB8AC3E}">
        <p14:creationId xmlns:p14="http://schemas.microsoft.com/office/powerpoint/2010/main" val="9970533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サブタイトルなしTitle &amp;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8650" y="431800"/>
            <a:ext cx="7886700" cy="596900"/>
          </a:xfrm>
        </p:spPr>
        <p:txBody>
          <a:bodyPr/>
          <a:lstStyle>
            <a:lvl1pPr>
              <a:spcBef>
                <a:spcPts val="750"/>
              </a:spcBef>
              <a:defRPr/>
            </a:lvl1pPr>
          </a:lstStyle>
          <a:p>
            <a:r>
              <a:rPr lang="ja-JP" altLang="en-US" dirty="0"/>
              <a:t>タイトル</a:t>
            </a:r>
            <a:r>
              <a:rPr lang="en-US" dirty="0"/>
              <a:t>Main HEADING – Size 40pt font</a:t>
            </a:r>
          </a:p>
        </p:txBody>
      </p:sp>
      <p:sp>
        <p:nvSpPr>
          <p:cNvPr id="3" name="Content Placeholder 2"/>
          <p:cNvSpPr>
            <a:spLocks noGrp="1"/>
          </p:cNvSpPr>
          <p:nvPr>
            <p:ph idx="1" hasCustomPrompt="1"/>
          </p:nvPr>
        </p:nvSpPr>
        <p:spPr>
          <a:xfrm>
            <a:off x="628650" y="1397877"/>
            <a:ext cx="7886700" cy="4621925"/>
          </a:xfrm>
        </p:spPr>
        <p:txBody>
          <a:bodyPr/>
          <a:lstStyle>
            <a:lvl1pPr>
              <a:spcBef>
                <a:spcPts val="900"/>
              </a:spcBef>
              <a:defRPr baseline="0">
                <a:solidFill>
                  <a:srgbClr val="464646"/>
                </a:solidFill>
              </a:defRPr>
            </a:lvl1pPr>
            <a:lvl2pPr>
              <a:defRPr>
                <a:solidFill>
                  <a:srgbClr val="464646"/>
                </a:solidFill>
              </a:defRPr>
            </a:lvl2pPr>
            <a:lvl3pPr>
              <a:buSzPct val="75000"/>
              <a:defRPr baseline="0">
                <a:solidFill>
                  <a:srgbClr val="464646"/>
                </a:solidFill>
              </a:defRPr>
            </a:lvl3pPr>
            <a:lvl4pPr>
              <a:defRPr baseline="0">
                <a:solidFill>
                  <a:srgbClr val="464646"/>
                </a:solidFill>
              </a:defRPr>
            </a:lvl4pPr>
            <a:lvl5pPr marL="1371600" marR="0"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baseline="0">
                <a:solidFill>
                  <a:srgbClr val="464646"/>
                </a:solidFill>
              </a:defRPr>
            </a:lvl5pPr>
          </a:lstStyle>
          <a:p>
            <a:pPr lvl="0"/>
            <a:r>
              <a:rPr lang="ja-JP" altLang="en-US" dirty="0"/>
              <a:t>箇条書き</a:t>
            </a:r>
            <a:r>
              <a:rPr lang="en-US" dirty="0"/>
              <a:t>Third level - Segoe UI </a:t>
            </a:r>
            <a:r>
              <a:rPr lang="en-US" dirty="0" err="1"/>
              <a:t>Semilight</a:t>
            </a:r>
            <a:r>
              <a:rPr lang="en-US" dirty="0"/>
              <a:t> (Body) 28pt Font</a:t>
            </a:r>
          </a:p>
          <a:p>
            <a:pPr lvl="2"/>
            <a:r>
              <a:rPr lang="ja-JP" altLang="en-US" dirty="0"/>
              <a:t>箇条書き</a:t>
            </a:r>
            <a:r>
              <a:rPr lang="en-US" dirty="0"/>
              <a:t>Fourth level -  Segoe UI </a:t>
            </a:r>
            <a:r>
              <a:rPr lang="en-US" dirty="0" err="1"/>
              <a:t>Semilight</a:t>
            </a:r>
            <a:r>
              <a:rPr lang="en-US" dirty="0"/>
              <a:t> (Body) 20pt Font</a:t>
            </a:r>
          </a:p>
          <a:p>
            <a:pPr lvl="3"/>
            <a:r>
              <a:rPr lang="ja-JP" altLang="en-US" dirty="0"/>
              <a:t>箇条書き</a:t>
            </a:r>
            <a:r>
              <a:rPr lang="en-US" dirty="0"/>
              <a:t>Fifth level - Segoe UI </a:t>
            </a:r>
            <a:r>
              <a:rPr lang="en-US" dirty="0" err="1"/>
              <a:t>Semilight</a:t>
            </a:r>
            <a:r>
              <a:rPr lang="en-US" dirty="0"/>
              <a:t> (Body) 18pt Font</a:t>
            </a:r>
          </a:p>
          <a:p>
            <a:pPr marL="1371600" marR="0" lvl="4"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ja-JP" altLang="en-US" dirty="0"/>
              <a:t>箇条書き</a:t>
            </a:r>
            <a:r>
              <a:rPr lang="en-US" dirty="0"/>
              <a:t>Sixth level - Segoe UI </a:t>
            </a:r>
            <a:r>
              <a:rPr lang="en-US" dirty="0" err="1"/>
              <a:t>Semilight</a:t>
            </a:r>
            <a:r>
              <a:rPr lang="en-US" dirty="0"/>
              <a:t> (Body) 18pt Font</a:t>
            </a:r>
          </a:p>
        </p:txBody>
      </p:sp>
      <p:sp>
        <p:nvSpPr>
          <p:cNvPr id="8" name="Slide Number Placeholder 5"/>
          <p:cNvSpPr>
            <a:spLocks noGrp="1"/>
          </p:cNvSpPr>
          <p:nvPr>
            <p:ph type="sldNum" sz="quarter" idx="12"/>
          </p:nvPr>
        </p:nvSpPr>
        <p:spPr>
          <a:xfrm>
            <a:off x="8543524" y="6477001"/>
            <a:ext cx="309803" cy="311150"/>
          </a:xfrm>
        </p:spPr>
        <p:txBody>
          <a:bodyPr/>
          <a:lstStyle>
            <a:lvl1pPr>
              <a:defRPr>
                <a:latin typeface="+mj-lt"/>
              </a:defRPr>
            </a:lvl1pPr>
          </a:lstStyle>
          <a:p>
            <a:fld id="{D44D3F4E-7F9B-4AD4-ADA0-3F21E9F7E4F4}" type="slidenum">
              <a:rPr lang="en-US" smtClean="0"/>
              <a:pPr/>
              <a:t>‹#›</a:t>
            </a:fld>
            <a:endParaRPr lang="en-US" dirty="0"/>
          </a:p>
        </p:txBody>
      </p:sp>
      <p:sp>
        <p:nvSpPr>
          <p:cNvPr id="9" name="Footer Placeholder 4"/>
          <p:cNvSpPr>
            <a:spLocks noGrp="1"/>
          </p:cNvSpPr>
          <p:nvPr>
            <p:ph type="ftr" sz="quarter" idx="11"/>
          </p:nvPr>
        </p:nvSpPr>
        <p:spPr>
          <a:xfrm>
            <a:off x="6694077" y="6487628"/>
            <a:ext cx="1823432" cy="300522"/>
          </a:xfrm>
        </p:spPr>
        <p:txBody>
          <a:bodyPr/>
          <a:lstStyle>
            <a:lvl1pPr>
              <a:defRPr>
                <a:latin typeface="+mj-lt"/>
              </a:defRPr>
            </a:lvl1pPr>
          </a:lstStyle>
          <a:p>
            <a:r>
              <a:rPr lang="en-US"/>
              <a:t>© 2020 Rigaku Corporation. All rights reserved</a:t>
            </a:r>
            <a:endParaRPr lang="en-US" dirty="0"/>
          </a:p>
        </p:txBody>
      </p:sp>
      <p:sp>
        <p:nvSpPr>
          <p:cNvPr id="10" name="Date Placeholder 3"/>
          <p:cNvSpPr>
            <a:spLocks noGrp="1"/>
          </p:cNvSpPr>
          <p:nvPr>
            <p:ph type="dt" sz="half" idx="10"/>
          </p:nvPr>
        </p:nvSpPr>
        <p:spPr>
          <a:xfrm>
            <a:off x="6197293" y="6477000"/>
            <a:ext cx="816269" cy="311150"/>
          </a:xfrm>
        </p:spPr>
        <p:txBody>
          <a:bodyPr/>
          <a:lstStyle>
            <a:lvl1pPr>
              <a:defRPr>
                <a:latin typeface="+mn-lt"/>
              </a:defRPr>
            </a:lvl1pPr>
          </a:lstStyle>
          <a:p>
            <a:fld id="{DCC1CB69-A35B-4B77-B0C3-EEDF66512D48}" type="datetime1">
              <a:rPr lang="en-US" smtClean="0"/>
              <a:t>7/27/2026</a:t>
            </a:fld>
            <a:endParaRPr lang="en-US"/>
          </a:p>
        </p:txBody>
      </p:sp>
    </p:spTree>
    <p:extLst>
      <p:ext uri="{BB962C8B-B14F-4D97-AF65-F5344CB8AC3E}">
        <p14:creationId xmlns:p14="http://schemas.microsoft.com/office/powerpoint/2010/main" val="3419418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2286" y="6400800"/>
            <a:ext cx="9141714" cy="457200"/>
          </a:xfrm>
          <a:prstGeom prst="rect">
            <a:avLst/>
          </a:prstGeom>
          <a:solidFill>
            <a:srgbClr val="009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atin typeface="+mj-lt"/>
            </a:endParaRPr>
          </a:p>
        </p:txBody>
      </p:sp>
      <p:sp>
        <p:nvSpPr>
          <p:cNvPr id="2" name="Title Placeholder 1"/>
          <p:cNvSpPr>
            <a:spLocks noGrp="1"/>
          </p:cNvSpPr>
          <p:nvPr>
            <p:ph type="title"/>
          </p:nvPr>
        </p:nvSpPr>
        <p:spPr>
          <a:xfrm>
            <a:off x="628650" y="427336"/>
            <a:ext cx="7886700" cy="601367"/>
          </a:xfrm>
          <a:prstGeom prst="rect">
            <a:avLst/>
          </a:prstGeom>
        </p:spPr>
        <p:txBody>
          <a:bodyPr vert="horz" lIns="91440" tIns="45720" rIns="91440" bIns="0" rtlCol="0" anchor="t" anchorCtr="0">
            <a:noAutofit/>
          </a:bodyPr>
          <a:lstStyle/>
          <a:p>
            <a:r>
              <a:rPr lang="ja-JP" altLang="en-US" dirty="0"/>
              <a:t>タイトル</a:t>
            </a:r>
            <a:r>
              <a:rPr lang="en-US" dirty="0"/>
              <a:t>Main HEADING – Size 30pt font</a:t>
            </a:r>
          </a:p>
        </p:txBody>
      </p:sp>
      <p:sp>
        <p:nvSpPr>
          <p:cNvPr id="3" name="Text Placeholder 2"/>
          <p:cNvSpPr>
            <a:spLocks noGrp="1"/>
          </p:cNvSpPr>
          <p:nvPr>
            <p:ph type="body" idx="1"/>
          </p:nvPr>
        </p:nvSpPr>
        <p:spPr>
          <a:xfrm>
            <a:off x="628650" y="1143002"/>
            <a:ext cx="7886700" cy="4876801"/>
          </a:xfrm>
          <a:prstGeom prst="rect">
            <a:avLst/>
          </a:prstGeom>
        </p:spPr>
        <p:txBody>
          <a:bodyPr vert="horz" lIns="91440" tIns="45720" rIns="91440" bIns="45720" rtlCol="0">
            <a:normAutofit/>
          </a:bodyPr>
          <a:lstStyle/>
          <a:p>
            <a:pPr lvl="0"/>
            <a:r>
              <a:rPr lang="en-US" dirty="0"/>
              <a:t>Second level - Segoe UI </a:t>
            </a:r>
            <a:r>
              <a:rPr lang="en-US" dirty="0" err="1"/>
              <a:t>Semilight</a:t>
            </a:r>
            <a:r>
              <a:rPr lang="en-US" dirty="0"/>
              <a:t> (Headings) 24pt Font</a:t>
            </a:r>
          </a:p>
          <a:p>
            <a:pPr lvl="1"/>
            <a:r>
              <a:rPr lang="en-US" dirty="0"/>
              <a:t>Third level -  Segoe UI </a:t>
            </a:r>
            <a:r>
              <a:rPr lang="en-US" dirty="0" err="1"/>
              <a:t>Semilight</a:t>
            </a:r>
            <a:r>
              <a:rPr lang="en-US" dirty="0"/>
              <a:t> (Body) 21pt Font</a:t>
            </a:r>
          </a:p>
          <a:p>
            <a:pPr lvl="2"/>
            <a:r>
              <a:rPr lang="en-US" dirty="0"/>
              <a:t>Fourth level - Segoe UI </a:t>
            </a:r>
            <a:r>
              <a:rPr lang="en-US" dirty="0" err="1"/>
              <a:t>Semilight</a:t>
            </a:r>
            <a:r>
              <a:rPr lang="en-US" dirty="0"/>
              <a:t> (Body) 18pt Font</a:t>
            </a:r>
          </a:p>
          <a:p>
            <a:pPr marL="1097280" marR="0" lvl="2" indent="-274320" algn="l" defTabSz="685800" rtl="0" eaLnBrk="1" fontAlgn="auto" latinLnBrk="0" hangingPunct="1">
              <a:lnSpc>
                <a:spcPct val="110000"/>
              </a:lnSpc>
              <a:spcBef>
                <a:spcPts val="750"/>
              </a:spcBef>
              <a:spcAft>
                <a:spcPts val="0"/>
              </a:spcAft>
              <a:buClrTx/>
              <a:buSzTx/>
              <a:buFont typeface="Roboto" panose="02000000000000000000" pitchFamily="2" charset="0"/>
              <a:buChar char="−"/>
              <a:tabLst/>
              <a:defRPr/>
            </a:pPr>
            <a:r>
              <a:rPr lang="en-US" dirty="0"/>
              <a:t>Fifth level - Segoe UI </a:t>
            </a:r>
            <a:r>
              <a:rPr lang="en-US" dirty="0" err="1"/>
              <a:t>Semilight</a:t>
            </a:r>
            <a:r>
              <a:rPr lang="en-US" dirty="0"/>
              <a:t> (Body) 18pt Font</a:t>
            </a:r>
          </a:p>
        </p:txBody>
      </p:sp>
      <p:sp>
        <p:nvSpPr>
          <p:cNvPr id="4" name="Date Placeholder 3"/>
          <p:cNvSpPr>
            <a:spLocks noGrp="1"/>
          </p:cNvSpPr>
          <p:nvPr>
            <p:ph type="dt" sz="half" idx="2"/>
          </p:nvPr>
        </p:nvSpPr>
        <p:spPr>
          <a:xfrm>
            <a:off x="6203237" y="6477000"/>
            <a:ext cx="816269" cy="311150"/>
          </a:xfrm>
          <a:prstGeom prst="rect">
            <a:avLst/>
          </a:prstGeom>
        </p:spPr>
        <p:txBody>
          <a:bodyPr vert="horz" lIns="91440" tIns="45720" rIns="0" bIns="45720" rtlCol="0" anchor="ctr"/>
          <a:lstStyle>
            <a:lvl1pPr algn="r">
              <a:defRPr sz="450">
                <a:solidFill>
                  <a:schemeClr val="bg1"/>
                </a:solidFill>
                <a:latin typeface="+mj-lt"/>
              </a:defRPr>
            </a:lvl1pPr>
          </a:lstStyle>
          <a:p>
            <a:fld id="{132B25E7-DEA7-4D5B-B47A-22EBA008311B}" type="datetime1">
              <a:rPr lang="en-US" smtClean="0"/>
              <a:t>7/27/2026</a:t>
            </a:fld>
            <a:endParaRPr lang="en-US" dirty="0"/>
          </a:p>
        </p:txBody>
      </p:sp>
      <p:sp>
        <p:nvSpPr>
          <p:cNvPr id="5" name="Footer Placeholder 4"/>
          <p:cNvSpPr>
            <a:spLocks noGrp="1"/>
          </p:cNvSpPr>
          <p:nvPr>
            <p:ph type="ftr" sz="quarter" idx="3"/>
          </p:nvPr>
        </p:nvSpPr>
        <p:spPr>
          <a:xfrm>
            <a:off x="6694078" y="6487628"/>
            <a:ext cx="1823432" cy="300522"/>
          </a:xfrm>
          <a:prstGeom prst="rect">
            <a:avLst/>
          </a:prstGeom>
        </p:spPr>
        <p:txBody>
          <a:bodyPr vert="horz" lIns="0" tIns="45720" rIns="91440" bIns="45720" rtlCol="0" anchor="ctr"/>
          <a:lstStyle>
            <a:lvl1pPr algn="r">
              <a:defRPr sz="450" cap="all" baseline="0">
                <a:solidFill>
                  <a:schemeClr val="bg1"/>
                </a:solidFill>
                <a:latin typeface="+mj-lt"/>
              </a:defRPr>
            </a:lvl1pPr>
          </a:lstStyle>
          <a:p>
            <a:r>
              <a:rPr lang="en-US"/>
              <a:t>© 2020 Rigaku Corporation. All rights reserved</a:t>
            </a:r>
            <a:endParaRPr lang="en-US" dirty="0">
              <a:cs typeface="Segoe UI Semilight" panose="020B0402040204020203" pitchFamily="34" charset="0"/>
            </a:endParaRPr>
          </a:p>
        </p:txBody>
      </p:sp>
      <p:sp>
        <p:nvSpPr>
          <p:cNvPr id="6" name="Slide Number Placeholder 5"/>
          <p:cNvSpPr>
            <a:spLocks noGrp="1"/>
          </p:cNvSpPr>
          <p:nvPr>
            <p:ph type="sldNum" sz="quarter" idx="4"/>
          </p:nvPr>
        </p:nvSpPr>
        <p:spPr>
          <a:xfrm>
            <a:off x="8543525" y="6477001"/>
            <a:ext cx="309803" cy="311150"/>
          </a:xfrm>
          <a:prstGeom prst="rect">
            <a:avLst/>
          </a:prstGeom>
        </p:spPr>
        <p:txBody>
          <a:bodyPr vert="horz" lIns="91440" tIns="0" rIns="91440" bIns="0" rtlCol="0" anchor="ctr"/>
          <a:lstStyle>
            <a:lvl1pPr algn="ctr">
              <a:defRPr sz="600">
                <a:solidFill>
                  <a:schemeClr val="bg1"/>
                </a:solidFill>
                <a:latin typeface="+mj-lt"/>
              </a:defRPr>
            </a:lvl1pPr>
          </a:lstStyle>
          <a:p>
            <a:fld id="{D44D3F4E-7F9B-4AD4-ADA0-3F21E9F7E4F4}" type="slidenum">
              <a:rPr lang="en-US" smtClean="0"/>
              <a:pPr/>
              <a:t>‹#›</a:t>
            </a:fld>
            <a:endParaRPr lang="en-US" dirty="0"/>
          </a:p>
        </p:txBody>
      </p:sp>
      <p:sp>
        <p:nvSpPr>
          <p:cNvPr id="7" name="Rectangle 6"/>
          <p:cNvSpPr/>
          <p:nvPr/>
        </p:nvSpPr>
        <p:spPr>
          <a:xfrm>
            <a:off x="2286" y="0"/>
            <a:ext cx="9141714" cy="82296"/>
          </a:xfrm>
          <a:prstGeom prst="rect">
            <a:avLst/>
          </a:prstGeom>
          <a:solidFill>
            <a:srgbClr val="009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8" name="Oval 17"/>
          <p:cNvSpPr/>
          <p:nvPr/>
        </p:nvSpPr>
        <p:spPr>
          <a:xfrm>
            <a:off x="8552498" y="6487628"/>
            <a:ext cx="300990" cy="30560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aseline="-25000" dirty="0"/>
          </a:p>
        </p:txBody>
      </p:sp>
      <p:pic>
        <p:nvPicPr>
          <p:cNvPr id="16" name="Picture 15"/>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329375" y="6509725"/>
            <a:ext cx="1214664" cy="249760"/>
          </a:xfrm>
          <a:prstGeom prst="rect">
            <a:avLst/>
          </a:prstGeom>
        </p:spPr>
      </p:pic>
      <p:sp>
        <p:nvSpPr>
          <p:cNvPr id="12" name="Oval 11"/>
          <p:cNvSpPr/>
          <p:nvPr/>
        </p:nvSpPr>
        <p:spPr>
          <a:xfrm>
            <a:off x="8552498" y="6487628"/>
            <a:ext cx="300990" cy="305602"/>
          </a:xfrm>
          <a:prstGeom prst="ellipse">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baseline="-25000" dirty="0"/>
          </a:p>
        </p:txBody>
      </p:sp>
      <p:pic>
        <p:nvPicPr>
          <p:cNvPr id="14" name="Picture 13"/>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329375" y="6509725"/>
            <a:ext cx="1214664" cy="249760"/>
          </a:xfrm>
          <a:prstGeom prst="rect">
            <a:avLst/>
          </a:prstGeom>
        </p:spPr>
      </p:pic>
    </p:spTree>
    <p:extLst>
      <p:ext uri="{BB962C8B-B14F-4D97-AF65-F5344CB8AC3E}">
        <p14:creationId xmlns:p14="http://schemas.microsoft.com/office/powerpoint/2010/main" val="506508347"/>
      </p:ext>
    </p:extLst>
  </p:cSld>
  <p:clrMap bg1="lt1" tx1="dk1" bg2="lt2" tx2="dk2" accent1="accent1" accent2="accent2" accent3="accent3" accent4="accent4" accent5="accent5" accent6="accent6" hlink="hlink" folHlink="folHlink"/>
  <p:sldLayoutIdLst>
    <p:sldLayoutId id="2147483997" r:id="rId1"/>
    <p:sldLayoutId id="2147484000" r:id="rId2"/>
    <p:sldLayoutId id="2147483999" r:id="rId3"/>
    <p:sldLayoutId id="2147484020" r:id="rId4"/>
    <p:sldLayoutId id="2147484006" r:id="rId5"/>
    <p:sldLayoutId id="2147484021" r:id="rId6"/>
    <p:sldLayoutId id="2147484002" r:id="rId7"/>
    <p:sldLayoutId id="2147484003" r:id="rId8"/>
    <p:sldLayoutId id="2147484004" r:id="rId9"/>
    <p:sldLayoutId id="2147484005" r:id="rId10"/>
    <p:sldLayoutId id="2147484007" r:id="rId11"/>
    <p:sldLayoutId id="2147484008" r:id="rId12"/>
    <p:sldLayoutId id="2147484009" r:id="rId13"/>
    <p:sldLayoutId id="2147484010" r:id="rId14"/>
    <p:sldLayoutId id="2147484011" r:id="rId15"/>
    <p:sldLayoutId id="2147484012" r:id="rId16"/>
    <p:sldLayoutId id="2147484013" r:id="rId17"/>
    <p:sldLayoutId id="2147484014" r:id="rId18"/>
    <p:sldLayoutId id="2147484015" r:id="rId19"/>
    <p:sldLayoutId id="2147484016" r:id="rId20"/>
    <p:sldLayoutId id="2147484018" r:id="rId21"/>
    <p:sldLayoutId id="2147484019" r:id="rId22"/>
    <p:sldLayoutId id="2147484022" r:id="rId23"/>
    <p:sldLayoutId id="2147484023" r:id="rId24"/>
    <p:sldLayoutId id="2147484024" r:id="rId25"/>
  </p:sldLayoutIdLst>
  <p:hf hdr="0" dt="0"/>
  <p:txStyles>
    <p:titleStyle>
      <a:lvl1pPr algn="l" defTabSz="685800" rtl="0" eaLnBrk="1" latinLnBrk="0" hangingPunct="1">
        <a:lnSpc>
          <a:spcPct val="90000"/>
        </a:lnSpc>
        <a:spcBef>
          <a:spcPct val="0"/>
        </a:spcBef>
        <a:buNone/>
        <a:defRPr kumimoji="1" sz="3000" b="1" kern="1200" cap="none" baseline="0">
          <a:solidFill>
            <a:srgbClr val="041E42"/>
          </a:solidFill>
          <a:latin typeface="+mj-lt"/>
          <a:ea typeface="+mj-ea"/>
          <a:cs typeface="+mj-cs"/>
        </a:defRPr>
      </a:lvl1pPr>
    </p:titleStyle>
    <p:bodyStyle>
      <a:lvl1pPr marL="274320" indent="-274320" algn="l" defTabSz="685800" rtl="0" eaLnBrk="1" latinLnBrk="0" hangingPunct="1">
        <a:lnSpc>
          <a:spcPct val="110000"/>
        </a:lnSpc>
        <a:spcBef>
          <a:spcPts val="750"/>
        </a:spcBef>
        <a:spcAft>
          <a:spcPts val="0"/>
        </a:spcAft>
        <a:buFont typeface="Arial" panose="020B0604020202020204" pitchFamily="34" charset="0"/>
        <a:buChar char="•"/>
        <a:tabLst/>
        <a:defRPr kumimoji="1" sz="2400" kern="1200" baseline="0">
          <a:solidFill>
            <a:srgbClr val="464646"/>
          </a:solidFill>
          <a:latin typeface="+mn-lt"/>
          <a:ea typeface="+mn-ea"/>
          <a:cs typeface="+mn-cs"/>
        </a:defRPr>
      </a:lvl1pPr>
      <a:lvl2pPr marL="548640" indent="-274320" algn="l" defTabSz="685800" rtl="0" eaLnBrk="1" latinLnBrk="0" hangingPunct="1">
        <a:lnSpc>
          <a:spcPct val="110000"/>
        </a:lnSpc>
        <a:spcBef>
          <a:spcPts val="750"/>
        </a:spcBef>
        <a:spcAft>
          <a:spcPts val="0"/>
        </a:spcAft>
        <a:buFont typeface="Calibri" panose="020F0502020204030204" pitchFamily="34" charset="0"/>
        <a:buChar char="◦"/>
        <a:defRPr kumimoji="1" sz="1800" kern="1200">
          <a:solidFill>
            <a:srgbClr val="464646"/>
          </a:solidFill>
          <a:latin typeface="+mn-lt"/>
          <a:ea typeface="+mn-ea"/>
          <a:cs typeface="+mn-cs"/>
        </a:defRPr>
      </a:lvl2pPr>
      <a:lvl3pPr marL="822960" indent="-274320" algn="l" defTabSz="685800" rtl="0" eaLnBrk="1" latinLnBrk="0" hangingPunct="1">
        <a:lnSpc>
          <a:spcPct val="110000"/>
        </a:lnSpc>
        <a:spcBef>
          <a:spcPts val="750"/>
        </a:spcBef>
        <a:spcAft>
          <a:spcPts val="0"/>
        </a:spcAft>
        <a:buFont typeface="Courier New" panose="02070309020205020404" pitchFamily="49" charset="0"/>
        <a:buChar char="-"/>
        <a:defRPr kumimoji="1" sz="2100" u="none" kern="1200" baseline="0">
          <a:solidFill>
            <a:srgbClr val="464646"/>
          </a:solidFill>
          <a:latin typeface="+mn-lt"/>
          <a:ea typeface="+mn-ea"/>
          <a:cs typeface="+mn-cs"/>
        </a:defRPr>
      </a:lvl3pPr>
      <a:lvl4pPr marL="1097280" indent="-274320" algn="l" defTabSz="685800" rtl="0" eaLnBrk="1" latinLnBrk="0" hangingPunct="1">
        <a:lnSpc>
          <a:spcPct val="110000"/>
        </a:lnSpc>
        <a:spcBef>
          <a:spcPts val="750"/>
        </a:spcBef>
        <a:spcAft>
          <a:spcPts val="0"/>
        </a:spcAft>
        <a:buFont typeface="Roboto" panose="02000000000000000000" pitchFamily="2" charset="0"/>
        <a:buChar char="−"/>
        <a:defRPr kumimoji="1" sz="1800" kern="1200">
          <a:solidFill>
            <a:srgbClr val="464646"/>
          </a:solidFill>
          <a:latin typeface="+mn-lt"/>
          <a:ea typeface="Roboto" pitchFamily="2" charset="0"/>
          <a:cs typeface="+mn-cs"/>
        </a:defRPr>
      </a:lvl4pPr>
      <a:lvl5pPr marL="1097280" marR="0" indent="0" algn="l" defTabSz="685800" rtl="0" eaLnBrk="1" fontAlgn="auto" latinLnBrk="0" hangingPunct="1">
        <a:lnSpc>
          <a:spcPct val="110000"/>
        </a:lnSpc>
        <a:spcBef>
          <a:spcPts val="750"/>
        </a:spcBef>
        <a:spcAft>
          <a:spcPts val="0"/>
        </a:spcAft>
        <a:buClrTx/>
        <a:buSzTx/>
        <a:buFont typeface="Roboto" panose="02000000000000000000" pitchFamily="2" charset="0"/>
        <a:buNone/>
        <a:tabLst/>
        <a:defRPr kumimoji="1" sz="1800" kern="1200">
          <a:solidFill>
            <a:srgbClr val="464646"/>
          </a:solidFill>
          <a:latin typeface="+mn-lt"/>
          <a:ea typeface="Roboto" pitchFamily="2" charset="0"/>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1" orient="horz" pos="4080" userDrawn="1">
          <p15:clr>
            <a:srgbClr val="F26B43"/>
          </p15:clr>
        </p15:guide>
        <p15:guide id="52" orient="horz" pos="4272" userDrawn="1">
          <p15:clr>
            <a:srgbClr val="F26B43"/>
          </p15:clr>
        </p15:guide>
        <p15:guide id="53" orient="horz" pos="3792" userDrawn="1">
          <p15:clr>
            <a:srgbClr val="F26B43"/>
          </p15:clr>
        </p15:guide>
        <p15:guide id="54" pos="396" userDrawn="1">
          <p15:clr>
            <a:srgbClr val="F26B43"/>
          </p15:clr>
        </p15:guide>
        <p15:guide id="55" orient="horz" pos="144" userDrawn="1">
          <p15:clr>
            <a:srgbClr val="F26B43"/>
          </p15:clr>
        </p15:guide>
        <p15:guide id="56" orient="horz" pos="264" userDrawn="1">
          <p15:clr>
            <a:srgbClr val="F26B43"/>
          </p15:clr>
        </p15:guide>
        <p15:guide id="57" orient="horz" pos="48" userDrawn="1">
          <p15:clr>
            <a:srgbClr val="F26B43"/>
          </p15:clr>
        </p15:guide>
        <p15:guide id="58" orient="horz" pos="648" userDrawn="1">
          <p15:clr>
            <a:srgbClr val="F26B43"/>
          </p15:clr>
        </p15:guide>
        <p15:guide id="59" orient="horz" pos="720" userDrawn="1">
          <p15:clr>
            <a:srgbClr val="F26B43"/>
          </p15:clr>
        </p15:guide>
        <p15:guide id="60" orient="horz" pos="4032" userDrawn="1">
          <p15:clr>
            <a:srgbClr val="F26B43"/>
          </p15:clr>
        </p15:guide>
        <p15:guide id="61" pos="5364" userDrawn="1">
          <p15:clr>
            <a:srgbClr val="F26B43"/>
          </p15:clr>
        </p15:guide>
        <p15:guide id="62" orient="horz" pos="1008" userDrawn="1">
          <p15:clr>
            <a:srgbClr val="F26B43"/>
          </p15:clr>
        </p15:guide>
        <p15:guide id="63" orient="horz" pos="13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9.png"/><Relationship Id="rId4"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5.png"/><Relationship Id="rId4"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6.mp4"/><Relationship Id="rId1" Type="http://schemas.microsoft.com/office/2007/relationships/media" Target="../media/media6.mp4"/><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23.png"/><Relationship Id="rId4"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Rigaku-Global/SLSII/issues/1283" TargetMode="External"/><Relationship Id="rId2" Type="http://schemas.openxmlformats.org/officeDocument/2006/relationships/notesSlide" Target="../notesSlides/notesSlide14.xml"/><Relationship Id="rId1" Type="http://schemas.openxmlformats.org/officeDocument/2006/relationships/slideLayout" Target="../slideLayouts/slideLayout25.xml"/><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Rigaku-Global/SLSII/issues/801" TargetMode="External"/><Relationship Id="rId2" Type="http://schemas.openxmlformats.org/officeDocument/2006/relationships/notesSlide" Target="../notesSlides/notesSlide16.xml"/><Relationship Id="rId1" Type="http://schemas.openxmlformats.org/officeDocument/2006/relationships/slideLayout" Target="../slideLayouts/slideLayout25.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25.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Rigaku-Global/SLSII/issues/1271" TargetMode="External"/><Relationship Id="rId2" Type="http://schemas.openxmlformats.org/officeDocument/2006/relationships/notesSlide" Target="../notesSlides/notesSlide18.xml"/><Relationship Id="rId1" Type="http://schemas.openxmlformats.org/officeDocument/2006/relationships/slideLayout" Target="../slideLayouts/slideLayout25.xml"/><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5.xml"/><Relationship Id="rId5" Type="http://schemas.openxmlformats.org/officeDocument/2006/relationships/image" Target="../media/image38.png"/><Relationship Id="rId4" Type="http://schemas.openxmlformats.org/officeDocument/2006/relationships/hyperlink" Target="https://github.com/Rigaku-Global/SLSII/issues/1183"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Rigaku-Global/SLSII/issues/806" TargetMode="External"/><Relationship Id="rId2" Type="http://schemas.openxmlformats.org/officeDocument/2006/relationships/notesSlide" Target="../notesSlides/notesSlide20.xml"/><Relationship Id="rId1" Type="http://schemas.openxmlformats.org/officeDocument/2006/relationships/slideLayout" Target="../slideLayouts/slideLayout25.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9.mp4"/><Relationship Id="rId1" Type="http://schemas.microsoft.com/office/2007/relationships/media" Target="../media/media9.mp4"/><Relationship Id="rId5" Type="http://schemas.openxmlformats.org/officeDocument/2006/relationships/image" Target="../media/image40.png"/><Relationship Id="rId4"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92FB3A67-7900-4986-9290-7CD01445B352}"/>
              </a:ext>
            </a:extLst>
          </p:cNvPr>
          <p:cNvSpPr>
            <a:spLocks noGrp="1"/>
          </p:cNvSpPr>
          <p:nvPr>
            <p:ph type="sldNum" sz="quarter" idx="12"/>
          </p:nvPr>
        </p:nvSpPr>
        <p:spPr/>
        <p:txBody>
          <a:bodyPr/>
          <a:lstStyle/>
          <a:p>
            <a:fld id="{D44D3F4E-7F9B-4AD4-ADA0-3F21E9F7E4F4}" type="slidenum">
              <a:rPr lang="en-US" smtClean="0"/>
              <a:pPr/>
              <a:t>1</a:t>
            </a:fld>
            <a:endParaRPr lang="en-US" dirty="0"/>
          </a:p>
        </p:txBody>
      </p:sp>
      <p:sp>
        <p:nvSpPr>
          <p:cNvPr id="4" name="フッター プレースホルダー 3">
            <a:extLst>
              <a:ext uri="{FF2B5EF4-FFF2-40B4-BE49-F238E27FC236}">
                <a16:creationId xmlns:a16="http://schemas.microsoft.com/office/drawing/2014/main" id="{CE8038EA-9088-4404-97BD-D900F2D98BAB}"/>
              </a:ext>
            </a:extLst>
          </p:cNvPr>
          <p:cNvSpPr>
            <a:spLocks noGrp="1"/>
          </p:cNvSpPr>
          <p:nvPr>
            <p:ph type="ftr" sz="quarter" idx="11"/>
          </p:nvPr>
        </p:nvSpPr>
        <p:spPr/>
        <p:txBody>
          <a:bodyPr/>
          <a:lstStyle/>
          <a:p>
            <a:r>
              <a:rPr lang="en-US"/>
              <a:t>© 2020 Rigaku Corporation. All rights reserved</a:t>
            </a:r>
            <a:endParaRPr lang="en-US" dirty="0"/>
          </a:p>
        </p:txBody>
      </p:sp>
      <p:sp>
        <p:nvSpPr>
          <p:cNvPr id="5" name="テキスト プレースホルダー 4">
            <a:extLst>
              <a:ext uri="{FF2B5EF4-FFF2-40B4-BE49-F238E27FC236}">
                <a16:creationId xmlns:a16="http://schemas.microsoft.com/office/drawing/2014/main" id="{261E0E57-3D27-41F1-AA0E-2BED557FBDF8}"/>
              </a:ext>
            </a:extLst>
          </p:cNvPr>
          <p:cNvSpPr>
            <a:spLocks noGrp="1"/>
          </p:cNvSpPr>
          <p:nvPr>
            <p:ph type="body" sz="quarter" idx="20"/>
          </p:nvPr>
        </p:nvSpPr>
        <p:spPr/>
        <p:txBody>
          <a:bodyPr>
            <a:normAutofit/>
          </a:bodyPr>
          <a:lstStyle/>
          <a:p>
            <a:r>
              <a:rPr kumimoji="1" lang="en-US" altLang="ja-JP" dirty="0"/>
              <a:t>2025</a:t>
            </a:r>
            <a:r>
              <a:rPr lang="ja-JP" altLang="en-US" dirty="0"/>
              <a:t> </a:t>
            </a:r>
            <a:r>
              <a:rPr lang="en-US" altLang="ja-JP" dirty="0"/>
              <a:t>Dec.</a:t>
            </a:r>
            <a:r>
              <a:rPr lang="ja-JP" altLang="en-US" dirty="0"/>
              <a:t> </a:t>
            </a:r>
            <a:r>
              <a:rPr lang="en-US" altLang="ja-JP" dirty="0"/>
              <a:t>4th</a:t>
            </a:r>
            <a:endParaRPr kumimoji="1" lang="ja-JP" altLang="en-US" dirty="0"/>
          </a:p>
        </p:txBody>
      </p:sp>
      <p:sp>
        <p:nvSpPr>
          <p:cNvPr id="6" name="テキスト プレースホルダー 5">
            <a:extLst>
              <a:ext uri="{FF2B5EF4-FFF2-40B4-BE49-F238E27FC236}">
                <a16:creationId xmlns:a16="http://schemas.microsoft.com/office/drawing/2014/main" id="{CFB322B1-BF71-4F9F-AF4E-140345798B59}"/>
              </a:ext>
            </a:extLst>
          </p:cNvPr>
          <p:cNvSpPr>
            <a:spLocks noGrp="1"/>
          </p:cNvSpPr>
          <p:nvPr>
            <p:ph type="body" sz="quarter" idx="21"/>
          </p:nvPr>
        </p:nvSpPr>
        <p:spPr/>
        <p:txBody>
          <a:bodyPr/>
          <a:lstStyle/>
          <a:p>
            <a:r>
              <a:rPr lang="en-US" altLang="ja-JP" dirty="0"/>
              <a:t>Yingnan</a:t>
            </a:r>
            <a:r>
              <a:rPr lang="zh-CN" altLang="en-US" dirty="0"/>
              <a:t> </a:t>
            </a:r>
            <a:r>
              <a:rPr lang="en-US" altLang="ja-JP" dirty="0"/>
              <a:t>Bing, ASD</a:t>
            </a:r>
            <a:endParaRPr lang="ja-JP" altLang="en-US" dirty="0"/>
          </a:p>
          <a:p>
            <a:r>
              <a:rPr kumimoji="1" lang="en-US" altLang="ja-JP" dirty="0"/>
              <a:t>Rigaku Corporation</a:t>
            </a:r>
          </a:p>
        </p:txBody>
      </p:sp>
      <p:sp>
        <p:nvSpPr>
          <p:cNvPr id="7" name="タイトル 6">
            <a:extLst>
              <a:ext uri="{FF2B5EF4-FFF2-40B4-BE49-F238E27FC236}">
                <a16:creationId xmlns:a16="http://schemas.microsoft.com/office/drawing/2014/main" id="{AC6789F3-BE19-4206-9701-CF0BCB219AF3}"/>
              </a:ext>
            </a:extLst>
          </p:cNvPr>
          <p:cNvSpPr>
            <a:spLocks noGrp="1"/>
          </p:cNvSpPr>
          <p:nvPr>
            <p:ph type="title"/>
          </p:nvPr>
        </p:nvSpPr>
        <p:spPr/>
        <p:txBody>
          <a:bodyPr/>
          <a:lstStyle/>
          <a:p>
            <a:r>
              <a:rPr lang="en-US" altLang="zh-TW" dirty="0"/>
              <a:t>SLSII v5.2</a:t>
            </a:r>
            <a:r>
              <a:rPr lang="ja-JP" altLang="en-US" dirty="0"/>
              <a:t> </a:t>
            </a:r>
            <a:r>
              <a:rPr lang="en-US" altLang="ja-JP" dirty="0"/>
              <a:t>new features</a:t>
            </a:r>
            <a:br>
              <a:rPr lang="en-US" altLang="zh-TW" dirty="0"/>
            </a:br>
            <a:endParaRPr kumimoji="1" lang="ja-JP" altLang="en-US" dirty="0"/>
          </a:p>
        </p:txBody>
      </p:sp>
    </p:spTree>
    <p:extLst>
      <p:ext uri="{BB962C8B-B14F-4D97-AF65-F5344CB8AC3E}">
        <p14:creationId xmlns:p14="http://schemas.microsoft.com/office/powerpoint/2010/main" val="26638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58AB8-3E27-B8F7-3225-8AD0AA9CD1F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600323-06C7-12E1-0E53-9B7092BD9138}"/>
              </a:ext>
            </a:extLst>
          </p:cNvPr>
          <p:cNvSpPr>
            <a:spLocks noGrp="1"/>
          </p:cNvSpPr>
          <p:nvPr>
            <p:ph type="title"/>
          </p:nvPr>
        </p:nvSpPr>
        <p:spPr/>
        <p:txBody>
          <a:bodyPr>
            <a:noAutofit/>
          </a:bodyPr>
          <a:lstStyle/>
          <a:p>
            <a:r>
              <a:rPr lang="en-US" altLang="zh-CN" sz="2100" dirty="0">
                <a:latin typeface="+mj-ea"/>
              </a:rPr>
              <a:t>Self Introduction</a:t>
            </a:r>
            <a:endParaRPr lang="ja-JP" altLang="en-US" sz="2100" dirty="0"/>
          </a:p>
        </p:txBody>
      </p:sp>
      <p:sp>
        <p:nvSpPr>
          <p:cNvPr id="3" name="コンテンツ プレースホルダー 2">
            <a:extLst>
              <a:ext uri="{FF2B5EF4-FFF2-40B4-BE49-F238E27FC236}">
                <a16:creationId xmlns:a16="http://schemas.microsoft.com/office/drawing/2014/main" id="{BEE11742-8B2B-8108-11D3-E664EB69A56A}"/>
              </a:ext>
            </a:extLst>
          </p:cNvPr>
          <p:cNvSpPr>
            <a:spLocks noGrp="1"/>
          </p:cNvSpPr>
          <p:nvPr>
            <p:ph idx="1"/>
          </p:nvPr>
        </p:nvSpPr>
        <p:spPr>
          <a:xfrm>
            <a:off x="301451" y="1821920"/>
            <a:ext cx="9590525" cy="4354810"/>
          </a:xfrm>
        </p:spPr>
        <p:txBody>
          <a:bodyPr>
            <a:normAutofit/>
          </a:bodyPr>
          <a:lstStyle/>
          <a:p>
            <a:pPr>
              <a:buFont typeface="Wingdings" panose="05000000000000000000" pitchFamily="2" charset="2"/>
              <a:buChar char="l"/>
            </a:pPr>
            <a:r>
              <a:rPr lang="en-US" altLang="zh-CN" sz="1800" dirty="0">
                <a:solidFill>
                  <a:schemeClr val="tx2">
                    <a:lumMod val="50000"/>
                  </a:schemeClr>
                </a:solidFill>
                <a:latin typeface="+mn-ea"/>
              </a:rPr>
              <a:t>Name                                     </a:t>
            </a:r>
            <a:r>
              <a:rPr lang="zh-CN" altLang="en-US" sz="1800" dirty="0">
                <a:solidFill>
                  <a:schemeClr val="tx2">
                    <a:lumMod val="50000"/>
                  </a:schemeClr>
                </a:solidFill>
                <a:latin typeface="+mn-ea"/>
              </a:rPr>
              <a:t>📛邴英男</a:t>
            </a:r>
            <a:r>
              <a:rPr lang="en-US" altLang="zh-CN" sz="1800" dirty="0">
                <a:solidFill>
                  <a:schemeClr val="tx2">
                    <a:lumMod val="50000"/>
                  </a:schemeClr>
                </a:solidFill>
                <a:latin typeface="+mn-ea"/>
              </a:rPr>
              <a:t>       Bing </a:t>
            </a:r>
            <a:r>
              <a:rPr lang="en-US" altLang="zh-CN" sz="1800" dirty="0" err="1">
                <a:solidFill>
                  <a:schemeClr val="tx2">
                    <a:lumMod val="50000"/>
                  </a:schemeClr>
                </a:solidFill>
                <a:latin typeface="+mn-ea"/>
              </a:rPr>
              <a:t>yingnan</a:t>
            </a:r>
            <a:r>
              <a:rPr lang="en-US" altLang="zh-CN" sz="1800" dirty="0">
                <a:solidFill>
                  <a:schemeClr val="tx2">
                    <a:lumMod val="50000"/>
                  </a:schemeClr>
                </a:solidFill>
                <a:latin typeface="+mn-ea"/>
              </a:rPr>
              <a:t>               </a:t>
            </a:r>
          </a:p>
          <a:p>
            <a:pPr marL="0" indent="0">
              <a:buNone/>
            </a:pPr>
            <a:endParaRPr lang="en-US" altLang="zh-CN" sz="1800" dirty="0">
              <a:solidFill>
                <a:schemeClr val="tx2">
                  <a:lumMod val="50000"/>
                </a:schemeClr>
              </a:solidFill>
              <a:latin typeface="+mn-ea"/>
            </a:endParaRPr>
          </a:p>
          <a:p>
            <a:pPr>
              <a:buFont typeface="Wingdings" panose="05000000000000000000" pitchFamily="2" charset="2"/>
              <a:buChar char="l"/>
            </a:pPr>
            <a:r>
              <a:rPr lang="en-US" altLang="ja-JP" sz="1800" dirty="0">
                <a:solidFill>
                  <a:schemeClr val="tx2">
                    <a:lumMod val="50000"/>
                  </a:schemeClr>
                </a:solidFill>
                <a:latin typeface="+mn-ea"/>
              </a:rPr>
              <a:t>Department</a:t>
            </a:r>
            <a:r>
              <a:rPr lang="ja-JP" altLang="en-US" sz="1800" dirty="0">
                <a:solidFill>
                  <a:schemeClr val="tx2">
                    <a:lumMod val="50000"/>
                  </a:schemeClr>
                </a:solidFill>
                <a:latin typeface="+mn-ea"/>
              </a:rPr>
              <a:t>　　　　　</a:t>
            </a:r>
            <a:r>
              <a:rPr lang="en-US" altLang="ja-JP" sz="1800" dirty="0">
                <a:solidFill>
                  <a:schemeClr val="tx2">
                    <a:lumMod val="50000"/>
                  </a:schemeClr>
                </a:solidFill>
                <a:latin typeface="+mn-ea"/>
              </a:rPr>
              <a:t>             </a:t>
            </a:r>
            <a:r>
              <a:rPr lang="ja-JP" altLang="en-US" sz="1800" dirty="0">
                <a:solidFill>
                  <a:schemeClr val="tx2">
                    <a:lumMod val="50000"/>
                  </a:schemeClr>
                </a:solidFill>
                <a:latin typeface="+mn-ea"/>
              </a:rPr>
              <a:t>👥</a:t>
            </a:r>
            <a:r>
              <a:rPr lang="en-US" altLang="zh-CN" sz="1800" dirty="0">
                <a:solidFill>
                  <a:schemeClr val="tx2">
                    <a:lumMod val="50000"/>
                  </a:schemeClr>
                </a:solidFill>
                <a:latin typeface="+mn-ea"/>
              </a:rPr>
              <a:t> Analysis Application </a:t>
            </a:r>
            <a:r>
              <a:rPr lang="en-US" altLang="ja-JP" sz="1800" dirty="0">
                <a:solidFill>
                  <a:schemeClr val="tx2">
                    <a:lumMod val="50000"/>
                  </a:schemeClr>
                </a:solidFill>
                <a:latin typeface="+mn-ea"/>
              </a:rPr>
              <a:t>Section</a:t>
            </a:r>
          </a:p>
          <a:p>
            <a:pPr>
              <a:buFont typeface="Wingdings" panose="05000000000000000000" pitchFamily="2" charset="2"/>
              <a:buChar char="l"/>
            </a:pPr>
            <a:endParaRPr lang="en-US" altLang="ja-JP" sz="1800" dirty="0">
              <a:solidFill>
                <a:schemeClr val="tx2">
                  <a:lumMod val="50000"/>
                </a:schemeClr>
              </a:solidFill>
              <a:latin typeface="+mn-ea"/>
            </a:endParaRPr>
          </a:p>
          <a:p>
            <a:pPr>
              <a:buFont typeface="Wingdings" panose="05000000000000000000" pitchFamily="2" charset="2"/>
              <a:buChar char="l"/>
            </a:pPr>
            <a:r>
              <a:rPr lang="en-US" altLang="ja-JP" sz="1800" dirty="0">
                <a:solidFill>
                  <a:schemeClr val="tx2">
                    <a:lumMod val="50000"/>
                  </a:schemeClr>
                </a:solidFill>
                <a:latin typeface="+mn-ea"/>
              </a:rPr>
              <a:t>Education                               </a:t>
            </a:r>
            <a:r>
              <a:rPr lang="ja-JP" altLang="en-US" sz="1800" dirty="0">
                <a:solidFill>
                  <a:schemeClr val="tx2">
                    <a:lumMod val="50000"/>
                  </a:schemeClr>
                </a:solidFill>
                <a:latin typeface="+mn-ea"/>
              </a:rPr>
              <a:t>🧠</a:t>
            </a:r>
            <a:r>
              <a:rPr lang="en-US" altLang="zh-CN" sz="1600" dirty="0">
                <a:solidFill>
                  <a:schemeClr val="tx2">
                    <a:lumMod val="50000"/>
                  </a:schemeClr>
                </a:solidFill>
                <a:latin typeface="+mn-ea"/>
              </a:rPr>
              <a:t>Generative AI, Nagoya Institute of Technology</a:t>
            </a:r>
          </a:p>
          <a:p>
            <a:pPr>
              <a:buFont typeface="Wingdings" panose="05000000000000000000" pitchFamily="2" charset="2"/>
              <a:buChar char="l"/>
            </a:pPr>
            <a:endParaRPr lang="en-US" altLang="ja-JP" sz="1600" dirty="0">
              <a:solidFill>
                <a:schemeClr val="tx2">
                  <a:lumMod val="50000"/>
                </a:schemeClr>
              </a:solidFill>
              <a:latin typeface="+mn-ea"/>
            </a:endParaRPr>
          </a:p>
          <a:p>
            <a:pPr>
              <a:buFont typeface="Wingdings" panose="05000000000000000000" pitchFamily="2" charset="2"/>
              <a:buChar char="l"/>
            </a:pPr>
            <a:r>
              <a:rPr lang="en-US" altLang="ja-JP" sz="1800" dirty="0">
                <a:solidFill>
                  <a:schemeClr val="tx2">
                    <a:lumMod val="50000"/>
                  </a:schemeClr>
                </a:solidFill>
                <a:latin typeface="+mn-ea"/>
              </a:rPr>
              <a:t>Hobby                                    </a:t>
            </a:r>
            <a:r>
              <a:rPr lang="ja-JP" altLang="it-IT" sz="1800" dirty="0">
                <a:solidFill>
                  <a:schemeClr val="tx2">
                    <a:lumMod val="50000"/>
                  </a:schemeClr>
                </a:solidFill>
                <a:latin typeface="+mn-ea"/>
              </a:rPr>
              <a:t>🎸 </a:t>
            </a:r>
            <a:r>
              <a:rPr lang="it-IT" altLang="ja-JP" sz="1800" dirty="0">
                <a:solidFill>
                  <a:schemeClr val="tx2">
                    <a:lumMod val="50000"/>
                  </a:schemeClr>
                </a:solidFill>
                <a:latin typeface="+mn-ea"/>
              </a:rPr>
              <a:t>Band · </a:t>
            </a:r>
            <a:r>
              <a:rPr lang="ja-JP" altLang="it-IT" sz="1800" dirty="0">
                <a:solidFill>
                  <a:schemeClr val="tx2">
                    <a:lumMod val="50000"/>
                  </a:schemeClr>
                </a:solidFill>
                <a:latin typeface="+mn-ea"/>
              </a:rPr>
              <a:t>🎹 </a:t>
            </a:r>
            <a:r>
              <a:rPr lang="it-IT" altLang="ja-JP" sz="1800" dirty="0">
                <a:solidFill>
                  <a:schemeClr val="tx2">
                    <a:lumMod val="50000"/>
                  </a:schemeClr>
                </a:solidFill>
                <a:latin typeface="+mn-ea"/>
              </a:rPr>
              <a:t>Piano Improvisation</a:t>
            </a:r>
            <a:endParaRPr lang="en-US" altLang="ja-JP" sz="1350" dirty="0">
              <a:solidFill>
                <a:schemeClr val="tx2">
                  <a:lumMod val="50000"/>
                </a:schemeClr>
              </a:solidFill>
              <a:latin typeface="+mn-ea"/>
            </a:endParaRPr>
          </a:p>
          <a:p>
            <a:pPr marL="0" indent="0">
              <a:buNone/>
            </a:pPr>
            <a:endParaRPr lang="en-US" altLang="ja-JP" sz="1350" dirty="0">
              <a:solidFill>
                <a:schemeClr val="tx2">
                  <a:lumMod val="50000"/>
                </a:schemeClr>
              </a:solidFill>
              <a:latin typeface="+mn-ea"/>
            </a:endParaRPr>
          </a:p>
          <a:p>
            <a:pPr marL="0" indent="0">
              <a:buNone/>
            </a:pPr>
            <a:endParaRPr lang="en-US" altLang="ja-JP" sz="1350" dirty="0">
              <a:solidFill>
                <a:schemeClr val="tx2">
                  <a:lumMod val="50000"/>
                </a:schemeClr>
              </a:solidFill>
              <a:latin typeface="+mn-ea"/>
            </a:endParaRPr>
          </a:p>
        </p:txBody>
      </p:sp>
      <p:sp>
        <p:nvSpPr>
          <p:cNvPr id="4" name="スライド番号プレースホルダー 3">
            <a:extLst>
              <a:ext uri="{FF2B5EF4-FFF2-40B4-BE49-F238E27FC236}">
                <a16:creationId xmlns:a16="http://schemas.microsoft.com/office/drawing/2014/main" id="{F4D51628-D1B6-53E9-55E6-C78263B9C9B6}"/>
              </a:ext>
            </a:extLst>
          </p:cNvPr>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2</a:t>
            </a:fld>
            <a:endParaRPr lang="en-US">
              <a:solidFill>
                <a:srgbClr val="FFFFFF"/>
              </a:solidFill>
              <a:latin typeface="Segoe UI Semilight"/>
              <a:ea typeface="メイリオ"/>
            </a:endParaRPr>
          </a:p>
        </p:txBody>
      </p:sp>
      <p:sp>
        <p:nvSpPr>
          <p:cNvPr id="5" name="フッター プレースホルダー 4">
            <a:extLst>
              <a:ext uri="{FF2B5EF4-FFF2-40B4-BE49-F238E27FC236}">
                <a16:creationId xmlns:a16="http://schemas.microsoft.com/office/drawing/2014/main" id="{51D6F3EC-D905-1F2E-01E6-BEE22CC8BD3E}"/>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Tree>
    <p:extLst>
      <p:ext uri="{BB962C8B-B14F-4D97-AF65-F5344CB8AC3E}">
        <p14:creationId xmlns:p14="http://schemas.microsoft.com/office/powerpoint/2010/main" val="3020010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0BB0A-39CD-B362-9042-3F0456B9EDD7}"/>
              </a:ext>
            </a:extLst>
          </p:cNvPr>
          <p:cNvSpPr>
            <a:spLocks noGrp="1"/>
          </p:cNvSpPr>
          <p:nvPr>
            <p:ph type="title"/>
          </p:nvPr>
        </p:nvSpPr>
        <p:spPr/>
        <p:txBody>
          <a:bodyPr/>
          <a:lstStyle/>
          <a:p>
            <a:r>
              <a:rPr kumimoji="1" lang="en-US" altLang="zh-CN" dirty="0"/>
              <a:t>Agenda</a:t>
            </a:r>
            <a:endParaRPr kumimoji="1" lang="ja-JP" altLang="en-US" dirty="0"/>
          </a:p>
        </p:txBody>
      </p:sp>
      <p:sp>
        <p:nvSpPr>
          <p:cNvPr id="3" name="Content Placeholder 2">
            <a:extLst>
              <a:ext uri="{FF2B5EF4-FFF2-40B4-BE49-F238E27FC236}">
                <a16:creationId xmlns:a16="http://schemas.microsoft.com/office/drawing/2014/main" id="{62AFF44E-0786-3F8C-52BE-D1910766402C}"/>
              </a:ext>
            </a:extLst>
          </p:cNvPr>
          <p:cNvSpPr>
            <a:spLocks noGrp="1"/>
          </p:cNvSpPr>
          <p:nvPr>
            <p:ph idx="1"/>
          </p:nvPr>
        </p:nvSpPr>
        <p:spPr/>
        <p:txBody>
          <a:bodyPr/>
          <a:lstStyle/>
          <a:p>
            <a:r>
              <a:rPr kumimoji="1" lang="en-US" altLang="ja-JP" dirty="0"/>
              <a:t>10:00-10:30 introduction</a:t>
            </a:r>
          </a:p>
          <a:p>
            <a:endParaRPr kumimoji="1" lang="en-US" altLang="ja-JP" dirty="0"/>
          </a:p>
          <a:p>
            <a:r>
              <a:rPr lang="en-US" altLang="ja-JP" dirty="0"/>
              <a:t>10:30- QA</a:t>
            </a:r>
            <a:endParaRPr kumimoji="1" lang="ja-JP" altLang="en-US" dirty="0"/>
          </a:p>
        </p:txBody>
      </p:sp>
      <p:sp>
        <p:nvSpPr>
          <p:cNvPr id="4" name="Slide Number Placeholder 3">
            <a:extLst>
              <a:ext uri="{FF2B5EF4-FFF2-40B4-BE49-F238E27FC236}">
                <a16:creationId xmlns:a16="http://schemas.microsoft.com/office/drawing/2014/main" id="{D2A44E67-C65C-3DD4-2AC0-8EEE063AACA8}"/>
              </a:ext>
            </a:extLst>
          </p:cNvPr>
          <p:cNvSpPr>
            <a:spLocks noGrp="1"/>
          </p:cNvSpPr>
          <p:nvPr>
            <p:ph type="sldNum" sz="quarter" idx="12"/>
          </p:nvPr>
        </p:nvSpPr>
        <p:spPr/>
        <p:txBody>
          <a:bodyPr/>
          <a:lstStyle/>
          <a:p>
            <a:fld id="{D44D3F4E-7F9B-4AD4-ADA0-3F21E9F7E4F4}" type="slidenum">
              <a:rPr lang="en-US" smtClean="0"/>
              <a:pPr/>
              <a:t>3</a:t>
            </a:fld>
            <a:endParaRPr lang="en-US" dirty="0"/>
          </a:p>
        </p:txBody>
      </p:sp>
      <p:sp>
        <p:nvSpPr>
          <p:cNvPr id="5" name="Footer Placeholder 4">
            <a:extLst>
              <a:ext uri="{FF2B5EF4-FFF2-40B4-BE49-F238E27FC236}">
                <a16:creationId xmlns:a16="http://schemas.microsoft.com/office/drawing/2014/main" id="{65EA9091-10DC-D7CD-3806-F01D6DF12B82}"/>
              </a:ext>
            </a:extLst>
          </p:cNvPr>
          <p:cNvSpPr>
            <a:spLocks noGrp="1"/>
          </p:cNvSpPr>
          <p:nvPr>
            <p:ph type="ftr" sz="quarter" idx="11"/>
          </p:nvPr>
        </p:nvSpPr>
        <p:spPr/>
        <p:txBody>
          <a:bodyPr/>
          <a:lstStyle/>
          <a:p>
            <a:r>
              <a:rPr lang="en-US"/>
              <a:t>© 2020 Rigaku Corporation. All rights reserved</a:t>
            </a:r>
            <a:endParaRPr lang="en-US" dirty="0"/>
          </a:p>
        </p:txBody>
      </p:sp>
      <p:sp>
        <p:nvSpPr>
          <p:cNvPr id="6" name="Text Placeholder 5">
            <a:extLst>
              <a:ext uri="{FF2B5EF4-FFF2-40B4-BE49-F238E27FC236}">
                <a16:creationId xmlns:a16="http://schemas.microsoft.com/office/drawing/2014/main" id="{3EB38231-7BF6-03F7-971F-F8DD5705657C}"/>
              </a:ext>
            </a:extLst>
          </p:cNvPr>
          <p:cNvSpPr>
            <a:spLocks noGrp="1"/>
          </p:cNvSpPr>
          <p:nvPr>
            <p:ph type="body" idx="13"/>
          </p:nvPr>
        </p:nvSpPr>
        <p:spPr/>
        <p:txBody>
          <a:bodyPr/>
          <a:lstStyle/>
          <a:p>
            <a:endParaRPr kumimoji="1" lang="ja-JP" altLang="en-US" dirty="0"/>
          </a:p>
        </p:txBody>
      </p:sp>
    </p:spTree>
    <p:extLst>
      <p:ext uri="{BB962C8B-B14F-4D97-AF65-F5344CB8AC3E}">
        <p14:creationId xmlns:p14="http://schemas.microsoft.com/office/powerpoint/2010/main" val="783550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AC8B376-3955-67B8-6467-187C80ADE494}"/>
              </a:ext>
            </a:extLst>
          </p:cNvPr>
          <p:cNvSpPr>
            <a:spLocks noGrp="1"/>
          </p:cNvSpPr>
          <p:nvPr>
            <p:ph type="body" sz="half" idx="2"/>
          </p:nvPr>
        </p:nvSpPr>
        <p:spPr/>
        <p:txBody>
          <a:bodyPr/>
          <a:lstStyle/>
          <a:p>
            <a:r>
              <a:rPr kumimoji="1" lang="en-US" altLang="ja-JP" dirty="0"/>
              <a:t>Ver5.2 New features</a:t>
            </a:r>
            <a:endParaRPr kumimoji="1" lang="ja-JP" altLang="en-US" dirty="0"/>
          </a:p>
        </p:txBody>
      </p:sp>
      <p:sp>
        <p:nvSpPr>
          <p:cNvPr id="3" name="スライド番号プレースホルダー 2">
            <a:extLst>
              <a:ext uri="{FF2B5EF4-FFF2-40B4-BE49-F238E27FC236}">
                <a16:creationId xmlns:a16="http://schemas.microsoft.com/office/drawing/2014/main" id="{F8865ED4-5D4B-A89F-41D9-2801D3D063E8}"/>
              </a:ext>
            </a:extLst>
          </p:cNvPr>
          <p:cNvSpPr>
            <a:spLocks noGrp="1"/>
          </p:cNvSpPr>
          <p:nvPr>
            <p:ph type="sldNum" sz="quarter" idx="12"/>
          </p:nvPr>
        </p:nvSpPr>
        <p:spPr/>
        <p:txBody>
          <a:bodyPr/>
          <a:lstStyle/>
          <a:p>
            <a:fld id="{D44D3F4E-7F9B-4AD4-ADA0-3F21E9F7E4F4}" type="slidenum">
              <a:rPr lang="en-US" smtClean="0"/>
              <a:pPr/>
              <a:t>4</a:t>
            </a:fld>
            <a:endParaRPr lang="en-US" dirty="0"/>
          </a:p>
        </p:txBody>
      </p:sp>
      <p:sp>
        <p:nvSpPr>
          <p:cNvPr id="4" name="フッター プレースホルダー 3">
            <a:extLst>
              <a:ext uri="{FF2B5EF4-FFF2-40B4-BE49-F238E27FC236}">
                <a16:creationId xmlns:a16="http://schemas.microsoft.com/office/drawing/2014/main" id="{434E47DE-8BB5-7757-7701-5463E40B8A34}"/>
              </a:ext>
            </a:extLst>
          </p:cNvPr>
          <p:cNvSpPr>
            <a:spLocks noGrp="1"/>
          </p:cNvSpPr>
          <p:nvPr>
            <p:ph type="ftr" sz="quarter" idx="11"/>
          </p:nvPr>
        </p:nvSpPr>
        <p:spPr/>
        <p:txBody>
          <a:bodyPr/>
          <a:lstStyle/>
          <a:p>
            <a:r>
              <a:rPr lang="en-US"/>
              <a:t>© 2020 Rigaku Corporation. All rights reserved</a:t>
            </a:r>
            <a:endParaRPr lang="en-US" dirty="0"/>
          </a:p>
        </p:txBody>
      </p:sp>
    </p:spTree>
    <p:extLst>
      <p:ext uri="{BB962C8B-B14F-4D97-AF65-F5344CB8AC3E}">
        <p14:creationId xmlns:p14="http://schemas.microsoft.com/office/powerpoint/2010/main" val="549296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61E4D-78F8-5A4E-6DBC-7B86E189FE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956F3F0-540A-6864-BA42-D89E9FCAB627}"/>
              </a:ext>
            </a:extLst>
          </p:cNvPr>
          <p:cNvSpPr>
            <a:spLocks noGrp="1"/>
          </p:cNvSpPr>
          <p:nvPr>
            <p:ph type="title"/>
          </p:nvPr>
        </p:nvSpPr>
        <p:spPr/>
        <p:txBody>
          <a:bodyPr>
            <a:normAutofit/>
          </a:bodyPr>
          <a:lstStyle/>
          <a:p>
            <a:r>
              <a:rPr lang="en-US" altLang="ja-JP" sz="2100" dirty="0">
                <a:latin typeface="+mj-ea"/>
              </a:rPr>
              <a:t>Powder XRD:</a:t>
            </a:r>
            <a:r>
              <a:rPr lang="ja-JP" altLang="en-US" sz="2100" dirty="0">
                <a:latin typeface="+mj-ea"/>
              </a:rPr>
              <a:t> </a:t>
            </a:r>
            <a:r>
              <a:rPr lang="en-US" altLang="ja-JP" sz="2100" dirty="0">
                <a:latin typeface="+mj-ea"/>
              </a:rPr>
              <a:t>Toggle peak shift correction (v5.2)</a:t>
            </a:r>
            <a:endParaRPr lang="ja-JP" altLang="en-US" sz="2100" dirty="0">
              <a:latin typeface="+mj-ea"/>
            </a:endParaRPr>
          </a:p>
        </p:txBody>
      </p:sp>
      <p:sp>
        <p:nvSpPr>
          <p:cNvPr id="3" name="コンテンツ プレースホルダー 2">
            <a:extLst>
              <a:ext uri="{FF2B5EF4-FFF2-40B4-BE49-F238E27FC236}">
                <a16:creationId xmlns:a16="http://schemas.microsoft.com/office/drawing/2014/main" id="{FFB76ECB-AB3B-37AF-9ACC-20877125B5C3}"/>
              </a:ext>
            </a:extLst>
          </p:cNvPr>
          <p:cNvSpPr>
            <a:spLocks noGrp="1"/>
          </p:cNvSpPr>
          <p:nvPr>
            <p:ph idx="1"/>
          </p:nvPr>
        </p:nvSpPr>
        <p:spPr>
          <a:xfrm>
            <a:off x="628650" y="1391478"/>
            <a:ext cx="8372240" cy="4201674"/>
          </a:xfrm>
        </p:spPr>
        <p:txBody>
          <a:bodyPr>
            <a:noAutofit/>
          </a:bodyPr>
          <a:lstStyle/>
          <a:p>
            <a:r>
              <a:rPr lang="en-US" altLang="ja-JP" sz="1800" dirty="0">
                <a:solidFill>
                  <a:schemeClr val="tx2"/>
                </a:solidFill>
                <a:latin typeface="+mn-ea"/>
              </a:rPr>
              <a:t>Functionality to apply/non-apply peak shift (angle) correction  (v5.2: customer request</a:t>
            </a:r>
            <a:r>
              <a:rPr lang="ja-JP" altLang="en-US" sz="1800" dirty="0">
                <a:solidFill>
                  <a:schemeClr val="tx2"/>
                </a:solidFill>
                <a:latin typeface="+mn-ea"/>
              </a:rPr>
              <a:t>）</a:t>
            </a:r>
            <a:br>
              <a:rPr lang="en-US" altLang="ja-JP" sz="1800" dirty="0">
                <a:solidFill>
                  <a:schemeClr val="tx2"/>
                </a:solidFill>
                <a:latin typeface="+mn-ea"/>
              </a:rPr>
            </a:br>
            <a:r>
              <a:rPr lang="en-US" altLang="ja-JP" sz="1800" dirty="0">
                <a:solidFill>
                  <a:schemeClr val="tx2"/>
                </a:solidFill>
                <a:latin typeface="+mn-ea"/>
              </a:rPr>
              <a:t>Apply peak shift correction after Rietveld analysis to measured profile and display it</a:t>
            </a:r>
          </a:p>
        </p:txBody>
      </p:sp>
      <p:sp>
        <p:nvSpPr>
          <p:cNvPr id="4" name="スライド番号プレースホルダー 3">
            <a:extLst>
              <a:ext uri="{FF2B5EF4-FFF2-40B4-BE49-F238E27FC236}">
                <a16:creationId xmlns:a16="http://schemas.microsoft.com/office/drawing/2014/main" id="{244D66EB-0688-82D9-06D1-12D887402AB3}"/>
              </a:ext>
            </a:extLst>
          </p:cNvPr>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5</a:t>
            </a:fld>
            <a:endParaRPr lang="en-US">
              <a:solidFill>
                <a:srgbClr val="FFFFFF"/>
              </a:solidFill>
              <a:latin typeface="Segoe UI Semilight"/>
              <a:ea typeface="メイリオ"/>
            </a:endParaRPr>
          </a:p>
        </p:txBody>
      </p:sp>
      <p:sp>
        <p:nvSpPr>
          <p:cNvPr id="5" name="フッター プレースホルダー 4">
            <a:extLst>
              <a:ext uri="{FF2B5EF4-FFF2-40B4-BE49-F238E27FC236}">
                <a16:creationId xmlns:a16="http://schemas.microsoft.com/office/drawing/2014/main" id="{48AE9271-DE18-E700-0A7E-BF86377D7ED0}"/>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pic>
        <p:nvPicPr>
          <p:cNvPr id="8" name="図 7">
            <a:extLst>
              <a:ext uri="{FF2B5EF4-FFF2-40B4-BE49-F238E27FC236}">
                <a16:creationId xmlns:a16="http://schemas.microsoft.com/office/drawing/2014/main" id="{AC88D51D-9F32-E307-1C4E-02F9B88041DE}"/>
              </a:ext>
            </a:extLst>
          </p:cNvPr>
          <p:cNvPicPr>
            <a:picLocks noChangeAspect="1"/>
          </p:cNvPicPr>
          <p:nvPr/>
        </p:nvPicPr>
        <p:blipFill>
          <a:blip r:embed="rId3"/>
          <a:stretch>
            <a:fillRect/>
          </a:stretch>
        </p:blipFill>
        <p:spPr>
          <a:xfrm>
            <a:off x="456705" y="3450913"/>
            <a:ext cx="4185000" cy="2202374"/>
          </a:xfrm>
          <a:prstGeom prst="rect">
            <a:avLst/>
          </a:prstGeom>
          <a:ln>
            <a:solidFill>
              <a:schemeClr val="accent1"/>
            </a:solidFill>
          </a:ln>
        </p:spPr>
      </p:pic>
      <p:pic>
        <p:nvPicPr>
          <p:cNvPr id="11" name="図 10">
            <a:extLst>
              <a:ext uri="{FF2B5EF4-FFF2-40B4-BE49-F238E27FC236}">
                <a16:creationId xmlns:a16="http://schemas.microsoft.com/office/drawing/2014/main" id="{24AF6B43-645D-F94A-EF7E-B66A50BD9FC4}"/>
              </a:ext>
            </a:extLst>
          </p:cNvPr>
          <p:cNvPicPr>
            <a:picLocks noChangeAspect="1"/>
          </p:cNvPicPr>
          <p:nvPr/>
        </p:nvPicPr>
        <p:blipFill>
          <a:blip r:embed="rId4"/>
          <a:stretch>
            <a:fillRect/>
          </a:stretch>
        </p:blipFill>
        <p:spPr>
          <a:xfrm>
            <a:off x="4815890" y="3450913"/>
            <a:ext cx="4185000" cy="2192607"/>
          </a:xfrm>
          <a:prstGeom prst="rect">
            <a:avLst/>
          </a:prstGeom>
          <a:ln>
            <a:solidFill>
              <a:schemeClr val="accent1"/>
            </a:solidFill>
          </a:ln>
        </p:spPr>
      </p:pic>
      <p:sp>
        <p:nvSpPr>
          <p:cNvPr id="12" name="テキスト ボックス 11">
            <a:extLst>
              <a:ext uri="{FF2B5EF4-FFF2-40B4-BE49-F238E27FC236}">
                <a16:creationId xmlns:a16="http://schemas.microsoft.com/office/drawing/2014/main" id="{E1957A12-862E-910C-D446-E0C1AAA14D37}"/>
              </a:ext>
            </a:extLst>
          </p:cNvPr>
          <p:cNvSpPr txBox="1"/>
          <p:nvPr/>
        </p:nvSpPr>
        <p:spPr>
          <a:xfrm>
            <a:off x="1781193" y="5653286"/>
            <a:ext cx="1397480" cy="300082"/>
          </a:xfrm>
          <a:prstGeom prst="rect">
            <a:avLst/>
          </a:prstGeom>
          <a:noFill/>
          <a:ln>
            <a:solidFill>
              <a:schemeClr val="accent1"/>
            </a:solidFill>
          </a:ln>
        </p:spPr>
        <p:txBody>
          <a:bodyPr wrap="square" rtlCol="0">
            <a:spAutoFit/>
          </a:bodyPr>
          <a:lstStyle/>
          <a:p>
            <a:pPr algn="ctr"/>
            <a:r>
              <a:rPr kumimoji="1" lang="en-US" altLang="ja-JP" sz="1350" dirty="0"/>
              <a:t>Correction off</a:t>
            </a:r>
            <a:endParaRPr kumimoji="1" lang="ja-JP" altLang="en-US" sz="1350" dirty="0"/>
          </a:p>
        </p:txBody>
      </p:sp>
      <p:sp>
        <p:nvSpPr>
          <p:cNvPr id="13" name="テキスト ボックス 12">
            <a:extLst>
              <a:ext uri="{FF2B5EF4-FFF2-40B4-BE49-F238E27FC236}">
                <a16:creationId xmlns:a16="http://schemas.microsoft.com/office/drawing/2014/main" id="{2D3048C7-47FD-4BAC-8A49-50ECB9B74955}"/>
              </a:ext>
            </a:extLst>
          </p:cNvPr>
          <p:cNvSpPr txBox="1"/>
          <p:nvPr/>
        </p:nvSpPr>
        <p:spPr>
          <a:xfrm>
            <a:off x="6265068" y="5643520"/>
            <a:ext cx="1397480" cy="300082"/>
          </a:xfrm>
          <a:prstGeom prst="rect">
            <a:avLst/>
          </a:prstGeom>
          <a:noFill/>
          <a:ln>
            <a:solidFill>
              <a:schemeClr val="accent1"/>
            </a:solidFill>
          </a:ln>
        </p:spPr>
        <p:txBody>
          <a:bodyPr wrap="square" rtlCol="0">
            <a:spAutoFit/>
          </a:bodyPr>
          <a:lstStyle/>
          <a:p>
            <a:pPr algn="ctr"/>
            <a:r>
              <a:rPr kumimoji="1" lang="en-US" altLang="ja-JP" sz="1350" dirty="0"/>
              <a:t>Correction on</a:t>
            </a:r>
            <a:endParaRPr kumimoji="1" lang="ja-JP" altLang="en-US" sz="1350" dirty="0"/>
          </a:p>
        </p:txBody>
      </p:sp>
      <p:grpSp>
        <p:nvGrpSpPr>
          <p:cNvPr id="15" name="グループ化 14">
            <a:extLst>
              <a:ext uri="{FF2B5EF4-FFF2-40B4-BE49-F238E27FC236}">
                <a16:creationId xmlns:a16="http://schemas.microsoft.com/office/drawing/2014/main" id="{63F4C7FE-E966-A82C-301C-61B4F0480A93}"/>
              </a:ext>
            </a:extLst>
          </p:cNvPr>
          <p:cNvGrpSpPr/>
          <p:nvPr/>
        </p:nvGrpSpPr>
        <p:grpSpPr>
          <a:xfrm>
            <a:off x="456705" y="2676133"/>
            <a:ext cx="2459759" cy="752492"/>
            <a:chOff x="608940" y="1839746"/>
            <a:chExt cx="3279678" cy="1003323"/>
          </a:xfrm>
        </p:grpSpPr>
        <p:pic>
          <p:nvPicPr>
            <p:cNvPr id="7" name="図 6">
              <a:extLst>
                <a:ext uri="{FF2B5EF4-FFF2-40B4-BE49-F238E27FC236}">
                  <a16:creationId xmlns:a16="http://schemas.microsoft.com/office/drawing/2014/main" id="{C408FF45-F02F-41C4-43B4-28DCABAF323F}"/>
                </a:ext>
              </a:extLst>
            </p:cNvPr>
            <p:cNvPicPr>
              <a:picLocks noChangeAspect="1"/>
            </p:cNvPicPr>
            <p:nvPr/>
          </p:nvPicPr>
          <p:blipFill>
            <a:blip r:embed="rId5"/>
            <a:stretch>
              <a:fillRect/>
            </a:stretch>
          </p:blipFill>
          <p:spPr>
            <a:xfrm>
              <a:off x="608940" y="1839746"/>
              <a:ext cx="3279678" cy="1003323"/>
            </a:xfrm>
            <a:prstGeom prst="rect">
              <a:avLst/>
            </a:prstGeom>
            <a:ln>
              <a:solidFill>
                <a:schemeClr val="accent1"/>
              </a:solidFill>
            </a:ln>
          </p:spPr>
        </p:pic>
        <p:sp>
          <p:nvSpPr>
            <p:cNvPr id="14" name="正方形/長方形 13">
              <a:extLst>
                <a:ext uri="{FF2B5EF4-FFF2-40B4-BE49-F238E27FC236}">
                  <a16:creationId xmlns:a16="http://schemas.microsoft.com/office/drawing/2014/main" id="{8F332275-AE24-4147-D097-80FAA1A5C095}"/>
                </a:ext>
              </a:extLst>
            </p:cNvPr>
            <p:cNvSpPr/>
            <p:nvPr/>
          </p:nvSpPr>
          <p:spPr>
            <a:xfrm>
              <a:off x="1848451" y="2341407"/>
              <a:ext cx="1208785" cy="35525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grpSp>
    </p:spTree>
    <p:extLst>
      <p:ext uri="{BB962C8B-B14F-4D97-AF65-F5344CB8AC3E}">
        <p14:creationId xmlns:p14="http://schemas.microsoft.com/office/powerpoint/2010/main" val="2549056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AD3A16B-E1DB-C4BC-74A1-DDD15F15D7F0}"/>
              </a:ext>
            </a:extLst>
          </p:cNvPr>
          <p:cNvSpPr>
            <a:spLocks noGrp="1"/>
          </p:cNvSpPr>
          <p:nvPr>
            <p:ph type="sldNum" sz="quarter" idx="12"/>
          </p:nvPr>
        </p:nvSpPr>
        <p:spPr/>
        <p:txBody>
          <a:bodyPr/>
          <a:lstStyle/>
          <a:p>
            <a:fld id="{D44D3F4E-7F9B-4AD4-ADA0-3F21E9F7E4F4}" type="slidenum">
              <a:rPr lang="en-US" smtClean="0"/>
              <a:pPr/>
              <a:t>6</a:t>
            </a:fld>
            <a:endParaRPr lang="en-US" dirty="0"/>
          </a:p>
        </p:txBody>
      </p:sp>
      <p:sp>
        <p:nvSpPr>
          <p:cNvPr id="5" name="Footer Placeholder 4">
            <a:extLst>
              <a:ext uri="{FF2B5EF4-FFF2-40B4-BE49-F238E27FC236}">
                <a16:creationId xmlns:a16="http://schemas.microsoft.com/office/drawing/2014/main" id="{2849F5F7-4379-7794-3B48-F72E3D7A72BB}"/>
              </a:ext>
            </a:extLst>
          </p:cNvPr>
          <p:cNvSpPr>
            <a:spLocks noGrp="1"/>
          </p:cNvSpPr>
          <p:nvPr>
            <p:ph type="ftr" sz="quarter" idx="11"/>
          </p:nvPr>
        </p:nvSpPr>
        <p:spPr/>
        <p:txBody>
          <a:bodyPr/>
          <a:lstStyle/>
          <a:p>
            <a:r>
              <a:rPr lang="en-US"/>
              <a:t>© 2020 Rigaku Corporation. All rights reserved</a:t>
            </a:r>
            <a:endParaRPr lang="en-US" dirty="0"/>
          </a:p>
        </p:txBody>
      </p:sp>
      <p:pic>
        <p:nvPicPr>
          <p:cNvPr id="6" name="freecompress-Media1">
            <a:hlinkClick r:id="" action="ppaction://media"/>
            <a:extLst>
              <a:ext uri="{FF2B5EF4-FFF2-40B4-BE49-F238E27FC236}">
                <a16:creationId xmlns:a16="http://schemas.microsoft.com/office/drawing/2014/main" id="{100243F4-CB93-FD66-DDEF-41EE228C4269}"/>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0" y="365573"/>
            <a:ext cx="9144000" cy="6267003"/>
          </a:xfrm>
        </p:spPr>
      </p:pic>
    </p:spTree>
    <p:extLst>
      <p:ext uri="{BB962C8B-B14F-4D97-AF65-F5344CB8AC3E}">
        <p14:creationId xmlns:p14="http://schemas.microsoft.com/office/powerpoint/2010/main" val="2357884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333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18991-544E-5CFB-1C0C-99E5509099D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A4C4B21-D761-3884-78B6-1229239E697B}"/>
              </a:ext>
            </a:extLst>
          </p:cNvPr>
          <p:cNvSpPr>
            <a:spLocks noGrp="1"/>
          </p:cNvSpPr>
          <p:nvPr>
            <p:ph type="title"/>
          </p:nvPr>
        </p:nvSpPr>
        <p:spPr/>
        <p:txBody>
          <a:bodyPr>
            <a:noAutofit/>
          </a:bodyPr>
          <a:lstStyle/>
          <a:p>
            <a:r>
              <a:rPr lang="en-US" altLang="ja-JP" sz="2100" dirty="0">
                <a:latin typeface="+mj-ea"/>
              </a:rPr>
              <a:t>Powder XRD:</a:t>
            </a:r>
            <a:r>
              <a:rPr lang="ja-JP" altLang="en-US" sz="2100" dirty="0">
                <a:latin typeface="+mj-ea"/>
              </a:rPr>
              <a:t> </a:t>
            </a:r>
            <a:r>
              <a:rPr lang="en-US" altLang="ja-JP" sz="2100" dirty="0">
                <a:latin typeface="+mj-ea"/>
              </a:rPr>
              <a:t>Register amorphous phase on finding amorphous peak</a:t>
            </a:r>
            <a:r>
              <a:rPr lang="ja-JP" altLang="en-US" sz="2100" dirty="0">
                <a:latin typeface="+mj-ea"/>
              </a:rPr>
              <a:t> </a:t>
            </a:r>
            <a:r>
              <a:rPr lang="en-US" altLang="ja-JP" sz="2100" dirty="0">
                <a:latin typeface="+mj-ea"/>
              </a:rPr>
              <a:t>(v5.2)</a:t>
            </a:r>
            <a:endParaRPr lang="ja-JP" altLang="en-US" sz="2100" dirty="0">
              <a:latin typeface="+mj-ea"/>
            </a:endParaRPr>
          </a:p>
        </p:txBody>
      </p:sp>
      <p:sp>
        <p:nvSpPr>
          <p:cNvPr id="3" name="コンテンツ プレースホルダー 2">
            <a:extLst>
              <a:ext uri="{FF2B5EF4-FFF2-40B4-BE49-F238E27FC236}">
                <a16:creationId xmlns:a16="http://schemas.microsoft.com/office/drawing/2014/main" id="{92D01F67-CD14-F799-39B1-BA2A0851FEB5}"/>
              </a:ext>
            </a:extLst>
          </p:cNvPr>
          <p:cNvSpPr>
            <a:spLocks noGrp="1"/>
          </p:cNvSpPr>
          <p:nvPr>
            <p:ph idx="1"/>
          </p:nvPr>
        </p:nvSpPr>
        <p:spPr>
          <a:xfrm>
            <a:off x="628650" y="1527580"/>
            <a:ext cx="7886700" cy="3919800"/>
          </a:xfrm>
        </p:spPr>
        <p:txBody>
          <a:bodyPr>
            <a:noAutofit/>
          </a:bodyPr>
          <a:lstStyle/>
          <a:p>
            <a:r>
              <a:rPr lang="en-US" altLang="ja-JP" sz="1800" dirty="0">
                <a:solidFill>
                  <a:schemeClr val="tx2"/>
                </a:solidFill>
                <a:latin typeface="+mn-ea"/>
              </a:rPr>
              <a:t>Add an option to register/delete amorphous phase on finding/discarding amorphous peaks.</a:t>
            </a:r>
          </a:p>
        </p:txBody>
      </p:sp>
      <p:sp>
        <p:nvSpPr>
          <p:cNvPr id="4" name="スライド番号プレースホルダー 3">
            <a:extLst>
              <a:ext uri="{FF2B5EF4-FFF2-40B4-BE49-F238E27FC236}">
                <a16:creationId xmlns:a16="http://schemas.microsoft.com/office/drawing/2014/main" id="{C0806D76-F751-AE0F-06A6-C4F9B37F325A}"/>
              </a:ext>
            </a:extLst>
          </p:cNvPr>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7</a:t>
            </a:fld>
            <a:endParaRPr lang="en-US">
              <a:solidFill>
                <a:srgbClr val="FFFFFF"/>
              </a:solidFill>
              <a:latin typeface="Segoe UI Semilight"/>
              <a:ea typeface="メイリオ"/>
            </a:endParaRPr>
          </a:p>
        </p:txBody>
      </p:sp>
      <p:sp>
        <p:nvSpPr>
          <p:cNvPr id="5" name="フッター プレースホルダー 4">
            <a:extLst>
              <a:ext uri="{FF2B5EF4-FFF2-40B4-BE49-F238E27FC236}">
                <a16:creationId xmlns:a16="http://schemas.microsoft.com/office/drawing/2014/main" id="{32752B40-6825-6166-B115-5BD76DAAD73B}"/>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pic>
        <p:nvPicPr>
          <p:cNvPr id="7" name="freecompress-Media2">
            <a:hlinkClick r:id="" action="ppaction://media"/>
            <a:extLst>
              <a:ext uri="{FF2B5EF4-FFF2-40B4-BE49-F238E27FC236}">
                <a16:creationId xmlns:a16="http://schemas.microsoft.com/office/drawing/2014/main" id="{058D82AB-A090-60DC-F72B-E85F3E8616C4}"/>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106997" y="2272448"/>
            <a:ext cx="6590040" cy="4146234"/>
          </a:xfrm>
          <a:prstGeom prst="rect">
            <a:avLst/>
          </a:prstGeom>
        </p:spPr>
      </p:pic>
    </p:spTree>
    <p:extLst>
      <p:ext uri="{BB962C8B-B14F-4D97-AF65-F5344CB8AC3E}">
        <p14:creationId xmlns:p14="http://schemas.microsoft.com/office/powerpoint/2010/main" val="245671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8634"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68D3CDD-4B22-CC64-22BC-731E0218FAD8}"/>
              </a:ext>
            </a:extLst>
          </p:cNvPr>
          <p:cNvSpPr>
            <a:spLocks noGrp="1"/>
          </p:cNvSpPr>
          <p:nvPr>
            <p:ph type="sldNum" sz="quarter" idx="12"/>
          </p:nvPr>
        </p:nvSpPr>
        <p:spPr/>
        <p:txBody>
          <a:bodyPr/>
          <a:lstStyle/>
          <a:p>
            <a:fld id="{D44D3F4E-7F9B-4AD4-ADA0-3F21E9F7E4F4}" type="slidenum">
              <a:rPr lang="en-US" smtClean="0"/>
              <a:pPr/>
              <a:t>8</a:t>
            </a:fld>
            <a:endParaRPr lang="en-US" dirty="0"/>
          </a:p>
        </p:txBody>
      </p:sp>
      <p:sp>
        <p:nvSpPr>
          <p:cNvPr id="5" name="Footer Placeholder 4">
            <a:extLst>
              <a:ext uri="{FF2B5EF4-FFF2-40B4-BE49-F238E27FC236}">
                <a16:creationId xmlns:a16="http://schemas.microsoft.com/office/drawing/2014/main" id="{4E01454A-2577-8860-5355-3AC43960B2B1}"/>
              </a:ext>
            </a:extLst>
          </p:cNvPr>
          <p:cNvSpPr>
            <a:spLocks noGrp="1"/>
          </p:cNvSpPr>
          <p:nvPr>
            <p:ph type="ftr" sz="quarter" idx="11"/>
          </p:nvPr>
        </p:nvSpPr>
        <p:spPr/>
        <p:txBody>
          <a:bodyPr/>
          <a:lstStyle/>
          <a:p>
            <a:r>
              <a:rPr lang="en-US"/>
              <a:t>© 2020 Rigaku Corporation. All rights reserved</a:t>
            </a:r>
            <a:endParaRPr lang="en-US" dirty="0"/>
          </a:p>
        </p:txBody>
      </p:sp>
      <p:pic>
        <p:nvPicPr>
          <p:cNvPr id="6" name="freecompress-Media3">
            <a:hlinkClick r:id="" action="ppaction://media"/>
            <a:extLst>
              <a:ext uri="{FF2B5EF4-FFF2-40B4-BE49-F238E27FC236}">
                <a16:creationId xmlns:a16="http://schemas.microsoft.com/office/drawing/2014/main" id="{A3BAFF59-AEDC-4EA0-13A5-A2980F920E85}"/>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0" y="1134888"/>
            <a:ext cx="9144000" cy="4914348"/>
          </a:xfrm>
        </p:spPr>
      </p:pic>
    </p:spTree>
    <p:extLst>
      <p:ext uri="{BB962C8B-B14F-4D97-AF65-F5344CB8AC3E}">
        <p14:creationId xmlns:p14="http://schemas.microsoft.com/office/powerpoint/2010/main" val="358287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62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34F3E-B890-79F4-2DCF-DE64A49C04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5014A19-C577-E275-045A-E01D1896320C}"/>
              </a:ext>
            </a:extLst>
          </p:cNvPr>
          <p:cNvSpPr>
            <a:spLocks noGrp="1"/>
          </p:cNvSpPr>
          <p:nvPr>
            <p:ph type="title"/>
          </p:nvPr>
        </p:nvSpPr>
        <p:spPr/>
        <p:txBody>
          <a:bodyPr>
            <a:normAutofit/>
          </a:bodyPr>
          <a:lstStyle/>
          <a:p>
            <a:r>
              <a:rPr lang="en-US" altLang="ja-JP" sz="2100" dirty="0">
                <a:latin typeface="+mn-ea"/>
              </a:rPr>
              <a:t>Data Manager:</a:t>
            </a:r>
            <a:r>
              <a:rPr lang="ja-JP" altLang="en-US" sz="2100" dirty="0">
                <a:latin typeface="+mn-ea"/>
              </a:rPr>
              <a:t> </a:t>
            </a:r>
            <a:r>
              <a:rPr lang="en-US" altLang="ja-JP" sz="2100" dirty="0">
                <a:latin typeface="+mn-ea"/>
              </a:rPr>
              <a:t>Similarity check</a:t>
            </a:r>
            <a:r>
              <a:rPr lang="ja-JP" altLang="en-US" sz="2100" dirty="0">
                <a:latin typeface="+mn-ea"/>
              </a:rPr>
              <a:t> </a:t>
            </a:r>
            <a:r>
              <a:rPr lang="en-US" altLang="ja-JP" sz="2100" dirty="0">
                <a:latin typeface="+mn-ea"/>
              </a:rPr>
              <a:t>(ver5.2)</a:t>
            </a:r>
            <a:endParaRPr lang="ja-JP" altLang="en-US" sz="2100" dirty="0"/>
          </a:p>
        </p:txBody>
      </p:sp>
      <p:sp>
        <p:nvSpPr>
          <p:cNvPr id="3" name="コンテンツ プレースホルダー 2">
            <a:extLst>
              <a:ext uri="{FF2B5EF4-FFF2-40B4-BE49-F238E27FC236}">
                <a16:creationId xmlns:a16="http://schemas.microsoft.com/office/drawing/2014/main" id="{F51010E9-E700-87D4-3255-7C1E1FB61653}"/>
              </a:ext>
            </a:extLst>
          </p:cNvPr>
          <p:cNvSpPr>
            <a:spLocks noGrp="1"/>
          </p:cNvSpPr>
          <p:nvPr>
            <p:ph idx="1"/>
          </p:nvPr>
        </p:nvSpPr>
        <p:spPr>
          <a:xfrm>
            <a:off x="628651" y="1673352"/>
            <a:ext cx="6275732" cy="3895344"/>
          </a:xfrm>
        </p:spPr>
        <p:txBody>
          <a:bodyPr>
            <a:normAutofit/>
          </a:bodyPr>
          <a:lstStyle/>
          <a:p>
            <a:pPr marL="0" indent="0">
              <a:buNone/>
            </a:pPr>
            <a:r>
              <a:rPr lang="en-US" altLang="ja-JP" sz="1800" dirty="0">
                <a:solidFill>
                  <a:schemeClr val="tx2">
                    <a:lumMod val="50000"/>
                  </a:schemeClr>
                </a:solidFill>
                <a:latin typeface="+mn-ea"/>
              </a:rPr>
              <a:t>Functionality to judge pass/fail based on similarity to the reference data</a:t>
            </a:r>
            <a:r>
              <a:rPr lang="ja-JP" altLang="en-US" sz="1800" dirty="0">
                <a:solidFill>
                  <a:schemeClr val="tx2">
                    <a:lumMod val="50000"/>
                  </a:schemeClr>
                </a:solidFill>
                <a:latin typeface="+mn-ea"/>
              </a:rPr>
              <a:t> </a:t>
            </a:r>
            <a:r>
              <a:rPr lang="en-US" altLang="ja-JP" sz="1800" dirty="0">
                <a:solidFill>
                  <a:schemeClr val="tx2">
                    <a:lumMod val="50000"/>
                  </a:schemeClr>
                </a:solidFill>
                <a:latin typeface="+mn-ea"/>
              </a:rPr>
              <a:t>(AstraZeneca requested)</a:t>
            </a:r>
          </a:p>
          <a:p>
            <a:pPr marL="0" indent="0">
              <a:buNone/>
            </a:pPr>
            <a:endParaRPr lang="en-US" altLang="ja-JP" sz="1800" dirty="0">
              <a:solidFill>
                <a:schemeClr val="tx2">
                  <a:lumMod val="50000"/>
                </a:schemeClr>
              </a:solidFill>
              <a:latin typeface="+mn-ea"/>
            </a:endParaRPr>
          </a:p>
          <a:p>
            <a:pPr marL="0" indent="0">
              <a:buNone/>
            </a:pPr>
            <a:endParaRPr lang="en-US" altLang="ja-JP" sz="1800" dirty="0">
              <a:solidFill>
                <a:schemeClr val="tx2">
                  <a:lumMod val="50000"/>
                </a:schemeClr>
              </a:solidFill>
              <a:latin typeface="+mn-ea"/>
            </a:endParaRPr>
          </a:p>
          <a:p>
            <a:pPr marL="0" indent="0">
              <a:buNone/>
            </a:pPr>
            <a:endParaRPr lang="en-US" altLang="ja-JP" sz="1800" dirty="0">
              <a:solidFill>
                <a:schemeClr val="tx2">
                  <a:lumMod val="50000"/>
                </a:schemeClr>
              </a:solidFill>
              <a:latin typeface="+mn-ea"/>
            </a:endParaRPr>
          </a:p>
          <a:p>
            <a:pPr marL="0" indent="0">
              <a:buNone/>
            </a:pPr>
            <a:endParaRPr lang="en-US" altLang="ja-JP" sz="1800" dirty="0">
              <a:solidFill>
                <a:schemeClr val="tx2">
                  <a:lumMod val="50000"/>
                </a:schemeClr>
              </a:solidFill>
              <a:latin typeface="+mn-ea"/>
            </a:endParaRPr>
          </a:p>
        </p:txBody>
      </p:sp>
      <p:sp>
        <p:nvSpPr>
          <p:cNvPr id="4" name="スライド番号プレースホルダー 3">
            <a:extLst>
              <a:ext uri="{FF2B5EF4-FFF2-40B4-BE49-F238E27FC236}">
                <a16:creationId xmlns:a16="http://schemas.microsoft.com/office/drawing/2014/main" id="{90FBC20D-FEFE-0488-9408-743A670A1F31}"/>
              </a:ext>
            </a:extLst>
          </p:cNvPr>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9</a:t>
            </a:fld>
            <a:endParaRPr lang="en-US">
              <a:solidFill>
                <a:srgbClr val="FFFFFF"/>
              </a:solidFill>
              <a:latin typeface="Segoe UI Semilight"/>
              <a:ea typeface="メイリオ"/>
            </a:endParaRPr>
          </a:p>
        </p:txBody>
      </p:sp>
      <p:sp>
        <p:nvSpPr>
          <p:cNvPr id="5" name="フッター プレースホルダー 4">
            <a:extLst>
              <a:ext uri="{FF2B5EF4-FFF2-40B4-BE49-F238E27FC236}">
                <a16:creationId xmlns:a16="http://schemas.microsoft.com/office/drawing/2014/main" id="{86FEBC59-5B6C-A5B6-8AF0-9307A9F75B18}"/>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pic>
        <p:nvPicPr>
          <p:cNvPr id="1026" name="Picture 2" descr="similarityCheck">
            <a:extLst>
              <a:ext uri="{FF2B5EF4-FFF2-40B4-BE49-F238E27FC236}">
                <a16:creationId xmlns:a16="http://schemas.microsoft.com/office/drawing/2014/main" id="{DC0E367A-0188-3C49-4588-B514D9A9F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5356" y="2542141"/>
            <a:ext cx="4342322" cy="2642507"/>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69132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B579FDB-FBE5-625A-37F8-54679CEBF45E}"/>
              </a:ext>
            </a:extLst>
          </p:cNvPr>
          <p:cNvSpPr>
            <a:spLocks noGrp="1"/>
          </p:cNvSpPr>
          <p:nvPr>
            <p:ph type="sldNum" sz="quarter" idx="12"/>
          </p:nvPr>
        </p:nvSpPr>
        <p:spPr/>
        <p:txBody>
          <a:bodyPr/>
          <a:lstStyle/>
          <a:p>
            <a:fld id="{D44D3F4E-7F9B-4AD4-ADA0-3F21E9F7E4F4}" type="slidenum">
              <a:rPr lang="en-US" smtClean="0"/>
              <a:pPr/>
              <a:t>10</a:t>
            </a:fld>
            <a:endParaRPr lang="en-US" dirty="0"/>
          </a:p>
        </p:txBody>
      </p:sp>
      <p:sp>
        <p:nvSpPr>
          <p:cNvPr id="5" name="フッター プレースホルダー 4">
            <a:extLst>
              <a:ext uri="{FF2B5EF4-FFF2-40B4-BE49-F238E27FC236}">
                <a16:creationId xmlns:a16="http://schemas.microsoft.com/office/drawing/2014/main" id="{CB8837B5-DA64-69C4-AFCA-9DD0FC1508D4}"/>
              </a:ext>
            </a:extLst>
          </p:cNvPr>
          <p:cNvSpPr>
            <a:spLocks noGrp="1"/>
          </p:cNvSpPr>
          <p:nvPr>
            <p:ph type="ftr" sz="quarter" idx="11"/>
          </p:nvPr>
        </p:nvSpPr>
        <p:spPr/>
        <p:txBody>
          <a:bodyPr/>
          <a:lstStyle/>
          <a:p>
            <a:r>
              <a:rPr lang="en-US"/>
              <a:t>© 2020 Rigaku Corporation. All rights reserved</a:t>
            </a:r>
            <a:endParaRPr lang="en-US" dirty="0"/>
          </a:p>
        </p:txBody>
      </p:sp>
      <p:pic>
        <p:nvPicPr>
          <p:cNvPr id="6" name="freecompress-Media4">
            <a:hlinkClick r:id="" action="ppaction://media"/>
            <a:extLst>
              <a:ext uri="{FF2B5EF4-FFF2-40B4-BE49-F238E27FC236}">
                <a16:creationId xmlns:a16="http://schemas.microsoft.com/office/drawing/2014/main" id="{282CF5BD-D587-368A-5C89-2DF4F45B8C56}"/>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0" y="1254945"/>
            <a:ext cx="9144000" cy="4892261"/>
          </a:xfrm>
        </p:spPr>
      </p:pic>
    </p:spTree>
    <p:extLst>
      <p:ext uri="{BB962C8B-B14F-4D97-AF65-F5344CB8AC3E}">
        <p14:creationId xmlns:p14="http://schemas.microsoft.com/office/powerpoint/2010/main" val="400910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082"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F5B70-3D6F-1C4D-451E-8E1DDF1029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7D75F18-69C7-BA2E-9FE4-1D617BEE1BFE}"/>
              </a:ext>
            </a:extLst>
          </p:cNvPr>
          <p:cNvSpPr>
            <a:spLocks noGrp="1"/>
          </p:cNvSpPr>
          <p:nvPr>
            <p:ph type="title"/>
          </p:nvPr>
        </p:nvSpPr>
        <p:spPr/>
        <p:txBody>
          <a:bodyPr>
            <a:noAutofit/>
          </a:bodyPr>
          <a:lstStyle/>
          <a:p>
            <a:r>
              <a:rPr lang="en-US" altLang="ja-JP" sz="2100" dirty="0">
                <a:latin typeface="+mn-ea"/>
              </a:rPr>
              <a:t>Data Manager:</a:t>
            </a:r>
            <a:r>
              <a:rPr lang="ja-JP" altLang="en-US" sz="2100" dirty="0">
                <a:latin typeface="+mn-ea"/>
              </a:rPr>
              <a:t> </a:t>
            </a:r>
            <a:r>
              <a:rPr lang="en-US" altLang="ja-JP" sz="2100" dirty="0">
                <a:latin typeface="+mn-ea"/>
              </a:rPr>
              <a:t>Pass/Fail check based on range calculation (ver5.2)</a:t>
            </a:r>
            <a:endParaRPr lang="ja-JP" altLang="en-US" sz="2100" dirty="0"/>
          </a:p>
        </p:txBody>
      </p:sp>
      <p:sp>
        <p:nvSpPr>
          <p:cNvPr id="4" name="スライド番号プレースホルダー 3">
            <a:extLst>
              <a:ext uri="{FF2B5EF4-FFF2-40B4-BE49-F238E27FC236}">
                <a16:creationId xmlns:a16="http://schemas.microsoft.com/office/drawing/2014/main" id="{98A432F4-954A-0D77-A1B3-47CB34CD873D}"/>
              </a:ext>
            </a:extLst>
          </p:cNvPr>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11</a:t>
            </a:fld>
            <a:endParaRPr lang="en-US">
              <a:solidFill>
                <a:srgbClr val="FFFFFF"/>
              </a:solidFill>
              <a:latin typeface="Segoe UI Semilight"/>
              <a:ea typeface="メイリオ"/>
            </a:endParaRPr>
          </a:p>
        </p:txBody>
      </p:sp>
      <p:sp>
        <p:nvSpPr>
          <p:cNvPr id="5" name="フッター プレースホルダー 4">
            <a:extLst>
              <a:ext uri="{FF2B5EF4-FFF2-40B4-BE49-F238E27FC236}">
                <a16:creationId xmlns:a16="http://schemas.microsoft.com/office/drawing/2014/main" id="{FDC02A07-21FC-7542-EA70-2DDD90BA5B3E}"/>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3" name="テキスト ボックス 2">
            <a:extLst>
              <a:ext uri="{FF2B5EF4-FFF2-40B4-BE49-F238E27FC236}">
                <a16:creationId xmlns:a16="http://schemas.microsoft.com/office/drawing/2014/main" id="{777F9F11-950C-A31A-F731-6C28015CB2F7}"/>
              </a:ext>
            </a:extLst>
          </p:cNvPr>
          <p:cNvSpPr txBox="1"/>
          <p:nvPr/>
        </p:nvSpPr>
        <p:spPr>
          <a:xfrm>
            <a:off x="414636" y="1692885"/>
            <a:ext cx="5084273" cy="2123658"/>
          </a:xfrm>
          <a:prstGeom prst="rect">
            <a:avLst/>
          </a:prstGeom>
          <a:noFill/>
        </p:spPr>
        <p:txBody>
          <a:bodyPr wrap="square" rtlCol="0">
            <a:spAutoFit/>
          </a:bodyPr>
          <a:lstStyle/>
          <a:p>
            <a:r>
              <a:rPr kumimoji="1" lang="en-US" altLang="ja-JP" dirty="0">
                <a:latin typeface="+mn-ea"/>
              </a:rPr>
              <a:t>Pass/Fail check based on Range Calculation (AstraZeneca requested)</a:t>
            </a:r>
          </a:p>
          <a:p>
            <a:pPr marL="257175" indent="-257175">
              <a:buFont typeface="Arial" panose="020B0604020202020204" pitchFamily="34" charset="0"/>
              <a:buChar char="•"/>
            </a:pPr>
            <a:r>
              <a:rPr kumimoji="1" lang="en-US" altLang="ja-JP" sz="1600" dirty="0">
                <a:latin typeface="+mn-ea"/>
              </a:rPr>
              <a:t>Compare the maximum intensity positions to the reference data, and judge as failure if the difference is beyond user specified value</a:t>
            </a:r>
          </a:p>
          <a:p>
            <a:pPr marL="257175" indent="-257175">
              <a:buFont typeface="Arial" panose="020B0604020202020204" pitchFamily="34" charset="0"/>
              <a:buChar char="•"/>
            </a:pPr>
            <a:r>
              <a:rPr kumimoji="1" lang="en-US" altLang="ja-JP" sz="1600" dirty="0">
                <a:latin typeface="+mn-ea"/>
              </a:rPr>
              <a:t>Implement fixed format report</a:t>
            </a:r>
          </a:p>
          <a:p>
            <a:pPr marL="257175" indent="-257175">
              <a:buFont typeface="Arial" panose="020B0604020202020204" pitchFamily="34" charset="0"/>
              <a:buChar char="•"/>
            </a:pPr>
            <a:r>
              <a:rPr kumimoji="1" lang="en-US" altLang="ja-JP" sz="1600" dirty="0">
                <a:latin typeface="+mn-ea"/>
              </a:rPr>
              <a:t>Automation using Data Manager part activity in XRD Measurement</a:t>
            </a:r>
          </a:p>
        </p:txBody>
      </p:sp>
      <p:pic>
        <p:nvPicPr>
          <p:cNvPr id="6" name="図 5">
            <a:extLst>
              <a:ext uri="{FF2B5EF4-FFF2-40B4-BE49-F238E27FC236}">
                <a16:creationId xmlns:a16="http://schemas.microsoft.com/office/drawing/2014/main" id="{EF8F2963-ED6D-28E7-641F-867C6FA8719F}"/>
              </a:ext>
            </a:extLst>
          </p:cNvPr>
          <p:cNvPicPr>
            <a:picLocks noChangeAspect="1"/>
          </p:cNvPicPr>
          <p:nvPr/>
        </p:nvPicPr>
        <p:blipFill>
          <a:blip r:embed="rId3"/>
          <a:stretch>
            <a:fillRect/>
          </a:stretch>
        </p:blipFill>
        <p:spPr>
          <a:xfrm>
            <a:off x="511835" y="4037026"/>
            <a:ext cx="4969388" cy="1887935"/>
          </a:xfrm>
          <a:prstGeom prst="rect">
            <a:avLst/>
          </a:prstGeom>
          <a:ln>
            <a:solidFill>
              <a:schemeClr val="accent1"/>
            </a:solidFill>
          </a:ln>
        </p:spPr>
      </p:pic>
      <p:pic>
        <p:nvPicPr>
          <p:cNvPr id="7" name="図 6">
            <a:extLst>
              <a:ext uri="{FF2B5EF4-FFF2-40B4-BE49-F238E27FC236}">
                <a16:creationId xmlns:a16="http://schemas.microsoft.com/office/drawing/2014/main" id="{E4D7D903-A9B2-28D9-E83B-BD06A76758A3}"/>
              </a:ext>
            </a:extLst>
          </p:cNvPr>
          <p:cNvPicPr>
            <a:picLocks noChangeAspect="1"/>
          </p:cNvPicPr>
          <p:nvPr/>
        </p:nvPicPr>
        <p:blipFill>
          <a:blip r:embed="rId4"/>
          <a:stretch>
            <a:fillRect/>
          </a:stretch>
        </p:blipFill>
        <p:spPr>
          <a:xfrm>
            <a:off x="5661073" y="1470316"/>
            <a:ext cx="3037352" cy="4314928"/>
          </a:xfrm>
          <a:prstGeom prst="rect">
            <a:avLst/>
          </a:prstGeom>
          <a:ln>
            <a:solidFill>
              <a:schemeClr val="accent1"/>
            </a:solidFill>
          </a:ln>
        </p:spPr>
      </p:pic>
    </p:spTree>
    <p:extLst>
      <p:ext uri="{BB962C8B-B14F-4D97-AF65-F5344CB8AC3E}">
        <p14:creationId xmlns:p14="http://schemas.microsoft.com/office/powerpoint/2010/main" val="1791053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8271E2EE-64C1-AD16-BC6F-DCB131C28110}"/>
              </a:ext>
            </a:extLst>
          </p:cNvPr>
          <p:cNvSpPr>
            <a:spLocks noGrp="1"/>
          </p:cNvSpPr>
          <p:nvPr>
            <p:ph type="sldNum" sz="quarter" idx="12"/>
          </p:nvPr>
        </p:nvSpPr>
        <p:spPr/>
        <p:txBody>
          <a:bodyPr/>
          <a:lstStyle/>
          <a:p>
            <a:fld id="{D44D3F4E-7F9B-4AD4-ADA0-3F21E9F7E4F4}" type="slidenum">
              <a:rPr lang="en-US" smtClean="0"/>
              <a:pPr/>
              <a:t>12</a:t>
            </a:fld>
            <a:endParaRPr lang="en-US" dirty="0"/>
          </a:p>
        </p:txBody>
      </p:sp>
      <p:sp>
        <p:nvSpPr>
          <p:cNvPr id="5" name="フッター プレースホルダー 4">
            <a:extLst>
              <a:ext uri="{FF2B5EF4-FFF2-40B4-BE49-F238E27FC236}">
                <a16:creationId xmlns:a16="http://schemas.microsoft.com/office/drawing/2014/main" id="{43C42A5E-1A7D-20D3-FB4D-E0115A871747}"/>
              </a:ext>
            </a:extLst>
          </p:cNvPr>
          <p:cNvSpPr>
            <a:spLocks noGrp="1"/>
          </p:cNvSpPr>
          <p:nvPr>
            <p:ph type="ftr" sz="quarter" idx="11"/>
          </p:nvPr>
        </p:nvSpPr>
        <p:spPr/>
        <p:txBody>
          <a:bodyPr/>
          <a:lstStyle/>
          <a:p>
            <a:r>
              <a:rPr lang="en-US"/>
              <a:t>© 2020 Rigaku Corporation. All rights reserved</a:t>
            </a:r>
            <a:endParaRPr lang="en-US" dirty="0"/>
          </a:p>
        </p:txBody>
      </p:sp>
      <p:pic>
        <p:nvPicPr>
          <p:cNvPr id="6" name="freecompress-Media5">
            <a:hlinkClick r:id="" action="ppaction://media"/>
            <a:extLst>
              <a:ext uri="{FF2B5EF4-FFF2-40B4-BE49-F238E27FC236}">
                <a16:creationId xmlns:a16="http://schemas.microsoft.com/office/drawing/2014/main" id="{E3FF9415-18AB-AA81-E6DF-CE63D8C8785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0" y="1108720"/>
            <a:ext cx="9136362" cy="4910243"/>
          </a:xfrm>
        </p:spPr>
      </p:pic>
    </p:spTree>
    <p:extLst>
      <p:ext uri="{BB962C8B-B14F-4D97-AF65-F5344CB8AC3E}">
        <p14:creationId xmlns:p14="http://schemas.microsoft.com/office/powerpoint/2010/main" val="2725673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13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sz="2100" dirty="0">
                <a:latin typeface="+mn-ea"/>
              </a:rPr>
              <a:t>Cluster analysis:</a:t>
            </a:r>
            <a:r>
              <a:rPr lang="ja-JP" altLang="en-US" sz="2100" dirty="0">
                <a:latin typeface="+mn-ea"/>
              </a:rPr>
              <a:t> </a:t>
            </a:r>
            <a:r>
              <a:rPr lang="en-US" altLang="ja-JP" sz="2100" dirty="0">
                <a:latin typeface="+mn-ea"/>
              </a:rPr>
              <a:t>Transpose of Dendrogram</a:t>
            </a:r>
            <a:r>
              <a:rPr lang="ja-JP" altLang="en-US" sz="2100" dirty="0">
                <a:latin typeface="+mn-ea"/>
              </a:rPr>
              <a:t> </a:t>
            </a:r>
            <a:r>
              <a:rPr lang="en-US" altLang="ja-JP" sz="2100" dirty="0">
                <a:latin typeface="+mn-ea"/>
              </a:rPr>
              <a:t>(ver5.2)</a:t>
            </a:r>
            <a:endParaRPr lang="ja-JP" altLang="en-US" sz="2100" dirty="0"/>
          </a:p>
        </p:txBody>
      </p:sp>
      <p:sp>
        <p:nvSpPr>
          <p:cNvPr id="3" name="コンテンツ プレースホルダー 2"/>
          <p:cNvSpPr>
            <a:spLocks noGrp="1"/>
          </p:cNvSpPr>
          <p:nvPr>
            <p:ph idx="1"/>
          </p:nvPr>
        </p:nvSpPr>
        <p:spPr>
          <a:xfrm>
            <a:off x="628650" y="1673352"/>
            <a:ext cx="7759976" cy="3895344"/>
          </a:xfrm>
        </p:spPr>
        <p:txBody>
          <a:bodyPr>
            <a:normAutofit/>
          </a:bodyPr>
          <a:lstStyle/>
          <a:p>
            <a:pPr marL="0" indent="0">
              <a:buNone/>
            </a:pPr>
            <a:r>
              <a:rPr lang="en-US" altLang="ja-JP" sz="2000" dirty="0">
                <a:solidFill>
                  <a:schemeClr val="tx2">
                    <a:lumMod val="50000"/>
                  </a:schemeClr>
                </a:solidFill>
                <a:latin typeface="+mn-ea"/>
              </a:rPr>
              <a:t>Transpose display of Dendrogram</a:t>
            </a:r>
          </a:p>
          <a:p>
            <a:pPr marL="0" indent="0">
              <a:buNone/>
            </a:pPr>
            <a:r>
              <a:rPr lang="en-US" altLang="ja-JP" sz="1800" dirty="0">
                <a:solidFill>
                  <a:schemeClr val="tx2">
                    <a:lumMod val="50000"/>
                  </a:schemeClr>
                </a:solidFill>
                <a:latin typeface="+mn-ea"/>
              </a:rPr>
              <a:t>Add a horizontal layout to satisfy the request so that we can see as many data as possible at once.</a:t>
            </a:r>
          </a:p>
          <a:p>
            <a:pPr marL="0" indent="0">
              <a:buNone/>
            </a:pPr>
            <a:endParaRPr lang="en-US" altLang="ja-JP" sz="1350" dirty="0">
              <a:solidFill>
                <a:schemeClr val="tx2">
                  <a:lumMod val="50000"/>
                </a:schemeClr>
              </a:solidFill>
              <a:latin typeface="+mn-ea"/>
            </a:endParaRPr>
          </a:p>
          <a:p>
            <a:pPr marL="0" indent="0">
              <a:buNone/>
            </a:pPr>
            <a:endParaRPr lang="en-US" altLang="ja-JP" sz="1350" dirty="0">
              <a:solidFill>
                <a:schemeClr val="tx2">
                  <a:lumMod val="50000"/>
                </a:schemeClr>
              </a:solidFill>
              <a:latin typeface="+mn-ea"/>
            </a:endParaRPr>
          </a:p>
          <a:p>
            <a:pPr marL="0" indent="0">
              <a:buNone/>
            </a:pPr>
            <a:endParaRPr lang="en-US" altLang="ja-JP" sz="1350" dirty="0">
              <a:solidFill>
                <a:schemeClr val="tx2">
                  <a:lumMod val="50000"/>
                </a:schemeClr>
              </a:solidFill>
              <a:latin typeface="+mn-ea"/>
            </a:endParaRPr>
          </a:p>
        </p:txBody>
      </p:sp>
      <p:sp>
        <p:nvSpPr>
          <p:cNvPr id="4" name="スライド番号プレースホルダー 3"/>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13</a:t>
            </a:fld>
            <a:endParaRPr lang="en-US">
              <a:solidFill>
                <a:srgbClr val="FFFFFF"/>
              </a:solidFill>
              <a:latin typeface="Segoe UI Semilight"/>
              <a:ea typeface="メイリオ"/>
            </a:endParaRPr>
          </a:p>
        </p:txBody>
      </p:sp>
      <p:sp>
        <p:nvSpPr>
          <p:cNvPr id="5" name="フッター プレースホルダー 4"/>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pic>
        <p:nvPicPr>
          <p:cNvPr id="6" name="図 5">
            <a:extLst>
              <a:ext uri="{FF2B5EF4-FFF2-40B4-BE49-F238E27FC236}">
                <a16:creationId xmlns:a16="http://schemas.microsoft.com/office/drawing/2014/main" id="{549A09E0-3B00-F2E4-D892-6D44AA13C8C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8650" y="2823693"/>
            <a:ext cx="4251463" cy="2809440"/>
          </a:xfrm>
          <a:prstGeom prst="rect">
            <a:avLst/>
          </a:prstGeom>
          <a:noFill/>
          <a:ln>
            <a:solidFill>
              <a:schemeClr val="accent1"/>
            </a:solidFill>
          </a:ln>
        </p:spPr>
      </p:pic>
      <p:pic>
        <p:nvPicPr>
          <p:cNvPr id="7" name="図 6">
            <a:extLst>
              <a:ext uri="{FF2B5EF4-FFF2-40B4-BE49-F238E27FC236}">
                <a16:creationId xmlns:a16="http://schemas.microsoft.com/office/drawing/2014/main" id="{7F43FC31-13B5-C9A7-6938-0A664FA246C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73919" y="2823694"/>
            <a:ext cx="3562577" cy="2799983"/>
          </a:xfrm>
          <a:prstGeom prst="rect">
            <a:avLst/>
          </a:prstGeom>
          <a:noFill/>
          <a:ln>
            <a:solidFill>
              <a:schemeClr val="accent1"/>
            </a:solidFill>
          </a:ln>
        </p:spPr>
      </p:pic>
      <p:sp>
        <p:nvSpPr>
          <p:cNvPr id="10" name="矢印: 右 9">
            <a:extLst>
              <a:ext uri="{FF2B5EF4-FFF2-40B4-BE49-F238E27FC236}">
                <a16:creationId xmlns:a16="http://schemas.microsoft.com/office/drawing/2014/main" id="{A317F79C-56BC-4C19-BE26-F0D1072FEC30}"/>
              </a:ext>
            </a:extLst>
          </p:cNvPr>
          <p:cNvSpPr/>
          <p:nvPr/>
        </p:nvSpPr>
        <p:spPr>
          <a:xfrm>
            <a:off x="4587510" y="3664222"/>
            <a:ext cx="586409" cy="3279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spTree>
    <p:extLst>
      <p:ext uri="{BB962C8B-B14F-4D97-AF65-F5344CB8AC3E}">
        <p14:creationId xmlns:p14="http://schemas.microsoft.com/office/powerpoint/2010/main" val="2733351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0925E5F3-F7B4-4740-84F8-0FE81E9ADC10}"/>
              </a:ext>
            </a:extLst>
          </p:cNvPr>
          <p:cNvPicPr>
            <a:picLocks noChangeAspect="1"/>
          </p:cNvPicPr>
          <p:nvPr/>
        </p:nvPicPr>
        <p:blipFill>
          <a:blip r:embed="rId3"/>
          <a:stretch>
            <a:fillRect/>
          </a:stretch>
        </p:blipFill>
        <p:spPr>
          <a:xfrm>
            <a:off x="1471746" y="2660659"/>
            <a:ext cx="6544865" cy="3241528"/>
          </a:xfrm>
          <a:prstGeom prst="rect">
            <a:avLst/>
          </a:prstGeom>
          <a:ln>
            <a:solidFill>
              <a:schemeClr val="accent1"/>
            </a:solidFill>
          </a:ln>
        </p:spPr>
      </p:pic>
      <p:sp>
        <p:nvSpPr>
          <p:cNvPr id="2" name="タイトル 1"/>
          <p:cNvSpPr>
            <a:spLocks noGrp="1"/>
          </p:cNvSpPr>
          <p:nvPr>
            <p:ph type="title"/>
          </p:nvPr>
        </p:nvSpPr>
        <p:spPr/>
        <p:txBody>
          <a:bodyPr>
            <a:normAutofit/>
          </a:bodyPr>
          <a:lstStyle/>
          <a:p>
            <a:r>
              <a:rPr lang="en-US" altLang="ja-JP" sz="2100" dirty="0">
                <a:latin typeface="+mn-ea"/>
              </a:rPr>
              <a:t>Powder XRD, Data Manager:</a:t>
            </a:r>
            <a:r>
              <a:rPr lang="ja-JP" altLang="en-US" sz="2100" dirty="0">
                <a:latin typeface="+mn-ea"/>
              </a:rPr>
              <a:t> </a:t>
            </a:r>
            <a:r>
              <a:rPr lang="en-US" altLang="ja-JP" sz="2100" dirty="0"/>
              <a:t>1/d,</a:t>
            </a:r>
            <a:r>
              <a:rPr lang="ja-JP" altLang="en-US" sz="2100" dirty="0"/>
              <a:t> </a:t>
            </a:r>
            <a:r>
              <a:rPr lang="en-US" altLang="ja-JP" sz="2100" dirty="0"/>
              <a:t>2/d, 3/d cursor</a:t>
            </a:r>
            <a:r>
              <a:rPr lang="ja-JP" altLang="en-US" sz="2100" dirty="0"/>
              <a:t> </a:t>
            </a:r>
            <a:r>
              <a:rPr lang="en-US" altLang="ja-JP" sz="2100" dirty="0"/>
              <a:t>(ver5.2)</a:t>
            </a:r>
            <a:endParaRPr lang="ja-JP" altLang="en-US" sz="2100" dirty="0"/>
          </a:p>
        </p:txBody>
      </p:sp>
      <p:sp>
        <p:nvSpPr>
          <p:cNvPr id="4" name="スライド番号プレースホルダー 3"/>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14</a:t>
            </a:fld>
            <a:endParaRPr lang="en-US">
              <a:solidFill>
                <a:srgbClr val="FFFFFF"/>
              </a:solidFill>
              <a:latin typeface="Segoe UI Semilight"/>
              <a:ea typeface="メイリオ"/>
            </a:endParaRPr>
          </a:p>
        </p:txBody>
      </p:sp>
      <p:sp>
        <p:nvSpPr>
          <p:cNvPr id="5" name="フッター プレースホルダー 4"/>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grpSp>
        <p:nvGrpSpPr>
          <p:cNvPr id="10" name="グループ化 9">
            <a:extLst>
              <a:ext uri="{FF2B5EF4-FFF2-40B4-BE49-F238E27FC236}">
                <a16:creationId xmlns:a16="http://schemas.microsoft.com/office/drawing/2014/main" id="{5B55E95F-E8F8-4E13-8DFF-066FD2C6770D}"/>
              </a:ext>
            </a:extLst>
          </p:cNvPr>
          <p:cNvGrpSpPr/>
          <p:nvPr/>
        </p:nvGrpSpPr>
        <p:grpSpPr>
          <a:xfrm>
            <a:off x="5142694" y="2051325"/>
            <a:ext cx="2563880" cy="802302"/>
            <a:chOff x="6606348" y="1126183"/>
            <a:chExt cx="3418506" cy="1069736"/>
          </a:xfrm>
        </p:grpSpPr>
        <p:pic>
          <p:nvPicPr>
            <p:cNvPr id="8" name="図 7">
              <a:extLst>
                <a:ext uri="{FF2B5EF4-FFF2-40B4-BE49-F238E27FC236}">
                  <a16:creationId xmlns:a16="http://schemas.microsoft.com/office/drawing/2014/main" id="{8F7D8C4B-CA16-A386-DE33-F72CACFE5396}"/>
                </a:ext>
              </a:extLst>
            </p:cNvPr>
            <p:cNvPicPr>
              <a:picLocks noChangeAspect="1"/>
            </p:cNvPicPr>
            <p:nvPr/>
          </p:nvPicPr>
          <p:blipFill>
            <a:blip r:embed="rId4"/>
            <a:stretch>
              <a:fillRect/>
            </a:stretch>
          </p:blipFill>
          <p:spPr>
            <a:xfrm>
              <a:off x="6606348" y="1126183"/>
              <a:ext cx="3418506" cy="1069736"/>
            </a:xfrm>
            <a:prstGeom prst="rect">
              <a:avLst/>
            </a:prstGeom>
            <a:ln>
              <a:solidFill>
                <a:schemeClr val="accent1"/>
              </a:solidFill>
            </a:ln>
          </p:spPr>
        </p:pic>
        <p:sp>
          <p:nvSpPr>
            <p:cNvPr id="9" name="正方形/長方形 8">
              <a:extLst>
                <a:ext uri="{FF2B5EF4-FFF2-40B4-BE49-F238E27FC236}">
                  <a16:creationId xmlns:a16="http://schemas.microsoft.com/office/drawing/2014/main" id="{C35C0687-2423-8290-2E6B-527F1E89B03F}"/>
                </a:ext>
              </a:extLst>
            </p:cNvPr>
            <p:cNvSpPr/>
            <p:nvPr/>
          </p:nvSpPr>
          <p:spPr>
            <a:xfrm>
              <a:off x="8908854" y="1126183"/>
              <a:ext cx="1116000" cy="3240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350"/>
            </a:p>
          </p:txBody>
        </p:sp>
      </p:grpSp>
      <p:sp>
        <p:nvSpPr>
          <p:cNvPr id="14" name="テキスト ボックス 13">
            <a:extLst>
              <a:ext uri="{FF2B5EF4-FFF2-40B4-BE49-F238E27FC236}">
                <a16:creationId xmlns:a16="http://schemas.microsoft.com/office/drawing/2014/main" id="{8206F944-1A14-70E7-C57F-60E0F8E7C007}"/>
              </a:ext>
            </a:extLst>
          </p:cNvPr>
          <p:cNvSpPr txBox="1"/>
          <p:nvPr/>
        </p:nvSpPr>
        <p:spPr>
          <a:xfrm>
            <a:off x="628650" y="1697908"/>
            <a:ext cx="4937552" cy="923330"/>
          </a:xfrm>
          <a:prstGeom prst="rect">
            <a:avLst/>
          </a:prstGeom>
          <a:noFill/>
        </p:spPr>
        <p:txBody>
          <a:bodyPr wrap="square" rtlCol="0">
            <a:spAutoFit/>
          </a:bodyPr>
          <a:lstStyle/>
          <a:p>
            <a:r>
              <a:rPr kumimoji="1" lang="en-US" altLang="ja-JP" dirty="0">
                <a:latin typeface="+mn-ea"/>
              </a:rPr>
              <a:t>Displays cursors to show 1/d, 2/d,..</a:t>
            </a:r>
          </a:p>
          <a:p>
            <a:r>
              <a:rPr kumimoji="1" lang="en-US" altLang="ja-JP" dirty="0">
                <a:latin typeface="+mn-ea"/>
              </a:rPr>
              <a:t>Requested from potential customers.</a:t>
            </a:r>
          </a:p>
          <a:p>
            <a:r>
              <a:rPr kumimoji="1" lang="en-US" altLang="ja-JP" dirty="0">
                <a:latin typeface="+mn-ea"/>
              </a:rPr>
              <a:t>Added to Data Manager, Powder XRD</a:t>
            </a:r>
          </a:p>
        </p:txBody>
      </p:sp>
    </p:spTree>
    <p:extLst>
      <p:ext uri="{BB962C8B-B14F-4D97-AF65-F5344CB8AC3E}">
        <p14:creationId xmlns:p14="http://schemas.microsoft.com/office/powerpoint/2010/main" val="2605623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9719B0F-851B-0387-477D-CA55E85C1BAF}"/>
              </a:ext>
            </a:extLst>
          </p:cNvPr>
          <p:cNvSpPr>
            <a:spLocks noGrp="1"/>
          </p:cNvSpPr>
          <p:nvPr>
            <p:ph type="sldNum" sz="quarter" idx="12"/>
          </p:nvPr>
        </p:nvSpPr>
        <p:spPr/>
        <p:txBody>
          <a:bodyPr/>
          <a:lstStyle/>
          <a:p>
            <a:fld id="{D44D3F4E-7F9B-4AD4-ADA0-3F21E9F7E4F4}" type="slidenum">
              <a:rPr lang="en-US" smtClean="0"/>
              <a:pPr/>
              <a:t>15</a:t>
            </a:fld>
            <a:endParaRPr lang="en-US" dirty="0"/>
          </a:p>
        </p:txBody>
      </p:sp>
      <p:sp>
        <p:nvSpPr>
          <p:cNvPr id="5" name="Footer Placeholder 4">
            <a:extLst>
              <a:ext uri="{FF2B5EF4-FFF2-40B4-BE49-F238E27FC236}">
                <a16:creationId xmlns:a16="http://schemas.microsoft.com/office/drawing/2014/main" id="{3544F3D2-D99C-E80F-0643-592757786A5A}"/>
              </a:ext>
            </a:extLst>
          </p:cNvPr>
          <p:cNvSpPr>
            <a:spLocks noGrp="1"/>
          </p:cNvSpPr>
          <p:nvPr>
            <p:ph type="ftr" sz="quarter" idx="11"/>
          </p:nvPr>
        </p:nvSpPr>
        <p:spPr/>
        <p:txBody>
          <a:bodyPr/>
          <a:lstStyle/>
          <a:p>
            <a:r>
              <a:rPr lang="en-US"/>
              <a:t>© 2020 Rigaku Corporation. All rights reserved</a:t>
            </a:r>
            <a:endParaRPr lang="en-US" dirty="0"/>
          </a:p>
        </p:txBody>
      </p:sp>
      <p:pic>
        <p:nvPicPr>
          <p:cNvPr id="6" name="freecompress-Media6">
            <a:hlinkClick r:id="" action="ppaction://media"/>
            <a:extLst>
              <a:ext uri="{FF2B5EF4-FFF2-40B4-BE49-F238E27FC236}">
                <a16:creationId xmlns:a16="http://schemas.microsoft.com/office/drawing/2014/main" id="{0352A4B5-2403-CAF1-5435-88A6C1F6C5DA}"/>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0" y="996322"/>
            <a:ext cx="9127762" cy="4922157"/>
          </a:xfrm>
        </p:spPr>
      </p:pic>
    </p:spTree>
    <p:extLst>
      <p:ext uri="{BB962C8B-B14F-4D97-AF65-F5344CB8AC3E}">
        <p14:creationId xmlns:p14="http://schemas.microsoft.com/office/powerpoint/2010/main" val="58295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8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en-US" altLang="ja-JP" sz="2100" dirty="0">
                <a:latin typeface="+mn-ea"/>
              </a:rPr>
              <a:t>Powder XRD, TXS: Function to calculate absorption factor</a:t>
            </a:r>
            <a:r>
              <a:rPr lang="ja-JP" altLang="en-US" sz="2100" dirty="0">
                <a:latin typeface="+mn-ea"/>
              </a:rPr>
              <a:t> </a:t>
            </a:r>
            <a:r>
              <a:rPr lang="en-US" altLang="ja-JP" sz="2100" dirty="0">
                <a:latin typeface="+mn-ea"/>
              </a:rPr>
              <a:t>(ver5.2)</a:t>
            </a:r>
            <a:endParaRPr lang="ja-JP" altLang="en-US" sz="2100" dirty="0"/>
          </a:p>
        </p:txBody>
      </p:sp>
      <p:sp>
        <p:nvSpPr>
          <p:cNvPr id="4" name="スライド番号プレースホルダー 3"/>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16</a:t>
            </a:fld>
            <a:endParaRPr lang="en-US">
              <a:solidFill>
                <a:srgbClr val="FFFFFF"/>
              </a:solidFill>
              <a:latin typeface="Segoe UI Semilight"/>
              <a:ea typeface="メイリオ"/>
            </a:endParaRPr>
          </a:p>
        </p:txBody>
      </p:sp>
      <p:sp>
        <p:nvSpPr>
          <p:cNvPr id="5" name="フッター プレースホルダー 4"/>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14" name="テキスト ボックス 13">
            <a:extLst>
              <a:ext uri="{FF2B5EF4-FFF2-40B4-BE49-F238E27FC236}">
                <a16:creationId xmlns:a16="http://schemas.microsoft.com/office/drawing/2014/main" id="{8206F944-1A14-70E7-C57F-60E0F8E7C007}"/>
              </a:ext>
            </a:extLst>
          </p:cNvPr>
          <p:cNvSpPr txBox="1"/>
          <p:nvPr/>
        </p:nvSpPr>
        <p:spPr>
          <a:xfrm>
            <a:off x="439008" y="1614209"/>
            <a:ext cx="6255069" cy="1631216"/>
          </a:xfrm>
          <a:prstGeom prst="rect">
            <a:avLst/>
          </a:prstGeom>
          <a:noFill/>
        </p:spPr>
        <p:txBody>
          <a:bodyPr wrap="square" rtlCol="0">
            <a:spAutoFit/>
          </a:bodyPr>
          <a:lstStyle/>
          <a:p>
            <a:r>
              <a:rPr kumimoji="1" lang="en-US" altLang="ja-JP" sz="2000" dirty="0">
                <a:latin typeface="+mn-ea"/>
              </a:rPr>
              <a:t>Function to calculate absorption factor using Z scan measured on capillary sample alignment</a:t>
            </a:r>
          </a:p>
          <a:p>
            <a:endParaRPr kumimoji="1" lang="en-US" altLang="ja-JP" sz="2000" dirty="0">
              <a:latin typeface="+mn-ea"/>
            </a:endParaRPr>
          </a:p>
          <a:p>
            <a:r>
              <a:rPr kumimoji="1" lang="en-US" altLang="ja-JP" sz="2000" dirty="0">
                <a:latin typeface="+mn-ea"/>
              </a:rPr>
              <a:t>Available on TXS</a:t>
            </a:r>
          </a:p>
          <a:p>
            <a:r>
              <a:rPr kumimoji="1" lang="en-US" altLang="ja-JP" sz="2000" dirty="0">
                <a:latin typeface="+mn-ea"/>
              </a:rPr>
              <a:t>And Powder XRD</a:t>
            </a:r>
          </a:p>
        </p:txBody>
      </p:sp>
      <p:pic>
        <p:nvPicPr>
          <p:cNvPr id="11" name="図 10">
            <a:extLst>
              <a:ext uri="{FF2B5EF4-FFF2-40B4-BE49-F238E27FC236}">
                <a16:creationId xmlns:a16="http://schemas.microsoft.com/office/drawing/2014/main" id="{13AAFB8D-53B7-8250-F213-2AE870E81841}"/>
              </a:ext>
            </a:extLst>
          </p:cNvPr>
          <p:cNvPicPr>
            <a:picLocks noChangeAspect="1"/>
          </p:cNvPicPr>
          <p:nvPr/>
        </p:nvPicPr>
        <p:blipFill>
          <a:blip r:embed="rId3"/>
          <a:stretch>
            <a:fillRect/>
          </a:stretch>
        </p:blipFill>
        <p:spPr>
          <a:xfrm>
            <a:off x="1076995" y="3287171"/>
            <a:ext cx="3018927" cy="2626996"/>
          </a:xfrm>
          <a:prstGeom prst="rect">
            <a:avLst/>
          </a:prstGeom>
          <a:ln>
            <a:solidFill>
              <a:schemeClr val="accent1"/>
            </a:solidFill>
          </a:ln>
        </p:spPr>
      </p:pic>
      <p:pic>
        <p:nvPicPr>
          <p:cNvPr id="12" name="図 11">
            <a:extLst>
              <a:ext uri="{FF2B5EF4-FFF2-40B4-BE49-F238E27FC236}">
                <a16:creationId xmlns:a16="http://schemas.microsoft.com/office/drawing/2014/main" id="{F5EC1654-6A3B-9FCB-CF42-39D064980711}"/>
              </a:ext>
            </a:extLst>
          </p:cNvPr>
          <p:cNvPicPr>
            <a:picLocks noChangeAspect="1"/>
          </p:cNvPicPr>
          <p:nvPr/>
        </p:nvPicPr>
        <p:blipFill>
          <a:blip r:embed="rId4"/>
          <a:stretch>
            <a:fillRect/>
          </a:stretch>
        </p:blipFill>
        <p:spPr>
          <a:xfrm>
            <a:off x="3767440" y="2608367"/>
            <a:ext cx="5308010" cy="3538673"/>
          </a:xfrm>
          <a:prstGeom prst="rect">
            <a:avLst/>
          </a:prstGeom>
          <a:ln>
            <a:solidFill>
              <a:schemeClr val="accent1"/>
            </a:solidFill>
          </a:ln>
        </p:spPr>
      </p:pic>
      <p:cxnSp>
        <p:nvCxnSpPr>
          <p:cNvPr id="13" name="直線矢印コネクタ 12">
            <a:extLst>
              <a:ext uri="{FF2B5EF4-FFF2-40B4-BE49-F238E27FC236}">
                <a16:creationId xmlns:a16="http://schemas.microsoft.com/office/drawing/2014/main" id="{F2A0C95B-A8A9-DDE4-9793-BF321AE30E19}"/>
              </a:ext>
            </a:extLst>
          </p:cNvPr>
          <p:cNvCxnSpPr>
            <a:cxnSpLocks/>
          </p:cNvCxnSpPr>
          <p:nvPr/>
        </p:nvCxnSpPr>
        <p:spPr>
          <a:xfrm flipV="1">
            <a:off x="2761702" y="3030984"/>
            <a:ext cx="1005739" cy="726476"/>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26E90470-E65B-000A-4E38-5EB39E7CE8AE}"/>
              </a:ext>
            </a:extLst>
          </p:cNvPr>
          <p:cNvCxnSpPr>
            <a:cxnSpLocks/>
          </p:cNvCxnSpPr>
          <p:nvPr/>
        </p:nvCxnSpPr>
        <p:spPr>
          <a:xfrm flipH="1">
            <a:off x="2817871" y="3757460"/>
            <a:ext cx="1011116" cy="601167"/>
          </a:xfrm>
          <a:prstGeom prst="straightConnector1">
            <a:avLst/>
          </a:prstGeom>
          <a:ln w="1905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381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2F13B036-3AFD-7F21-C491-B2660469E1C5}"/>
              </a:ext>
            </a:extLst>
          </p:cNvPr>
          <p:cNvSpPr>
            <a:spLocks noGrp="1"/>
          </p:cNvSpPr>
          <p:nvPr>
            <p:ph type="sldNum" sz="quarter" idx="12"/>
          </p:nvPr>
        </p:nvSpPr>
        <p:spPr/>
        <p:txBody>
          <a:bodyPr/>
          <a:lstStyle/>
          <a:p>
            <a:fld id="{D44D3F4E-7F9B-4AD4-ADA0-3F21E9F7E4F4}" type="slidenum">
              <a:rPr lang="en-US" smtClean="0"/>
              <a:pPr/>
              <a:t>17</a:t>
            </a:fld>
            <a:endParaRPr lang="en-US" dirty="0"/>
          </a:p>
        </p:txBody>
      </p:sp>
      <p:sp>
        <p:nvSpPr>
          <p:cNvPr id="5" name="フッター プレースホルダー 4">
            <a:extLst>
              <a:ext uri="{FF2B5EF4-FFF2-40B4-BE49-F238E27FC236}">
                <a16:creationId xmlns:a16="http://schemas.microsoft.com/office/drawing/2014/main" id="{DF6423EE-0431-C0D6-78EF-0C460335B837}"/>
              </a:ext>
            </a:extLst>
          </p:cNvPr>
          <p:cNvSpPr>
            <a:spLocks noGrp="1"/>
          </p:cNvSpPr>
          <p:nvPr>
            <p:ph type="ftr" sz="quarter" idx="11"/>
          </p:nvPr>
        </p:nvSpPr>
        <p:spPr/>
        <p:txBody>
          <a:bodyPr/>
          <a:lstStyle/>
          <a:p>
            <a:r>
              <a:rPr lang="en-US"/>
              <a:t>© 2020 Rigaku Corporation. All rights reserved</a:t>
            </a:r>
            <a:endParaRPr lang="en-US" dirty="0"/>
          </a:p>
        </p:txBody>
      </p:sp>
      <p:pic>
        <p:nvPicPr>
          <p:cNvPr id="7" name="freecompress-Media7">
            <a:hlinkClick r:id="" action="ppaction://media"/>
            <a:extLst>
              <a:ext uri="{FF2B5EF4-FFF2-40B4-BE49-F238E27FC236}">
                <a16:creationId xmlns:a16="http://schemas.microsoft.com/office/drawing/2014/main" id="{ED36C543-5541-582B-3690-199CF4E3053E}"/>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 y="1225323"/>
            <a:ext cx="9147189" cy="4914220"/>
          </a:xfrm>
        </p:spPr>
      </p:pic>
    </p:spTree>
    <p:extLst>
      <p:ext uri="{BB962C8B-B14F-4D97-AF65-F5344CB8AC3E}">
        <p14:creationId xmlns:p14="http://schemas.microsoft.com/office/powerpoint/2010/main" val="248785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0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38E05-B731-746F-69A7-C583568010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42AE693-7388-06CA-3E7A-3266E2ECB614}"/>
              </a:ext>
            </a:extLst>
          </p:cNvPr>
          <p:cNvSpPr>
            <a:spLocks noGrp="1"/>
          </p:cNvSpPr>
          <p:nvPr>
            <p:ph type="title"/>
          </p:nvPr>
        </p:nvSpPr>
        <p:spPr/>
        <p:txBody>
          <a:bodyPr>
            <a:normAutofit/>
          </a:bodyPr>
          <a:lstStyle/>
          <a:p>
            <a:r>
              <a:rPr lang="en-US" altLang="ja-JP" sz="2100" dirty="0">
                <a:latin typeface="+mn-ea"/>
              </a:rPr>
              <a:t>HRXRD: Superlattice cursor</a:t>
            </a:r>
            <a:r>
              <a:rPr lang="ja-JP" altLang="en-US" sz="2100" dirty="0">
                <a:latin typeface="+mn-ea"/>
              </a:rPr>
              <a:t> </a:t>
            </a:r>
            <a:r>
              <a:rPr lang="en-US" altLang="ja-JP" sz="2100" dirty="0">
                <a:latin typeface="+mn-ea"/>
              </a:rPr>
              <a:t>(ver5.2)</a:t>
            </a:r>
            <a:endParaRPr lang="ja-JP" altLang="en-US" sz="2100" dirty="0">
              <a:latin typeface="+mn-ea"/>
              <a:ea typeface="+mn-ea"/>
            </a:endParaRPr>
          </a:p>
        </p:txBody>
      </p:sp>
      <p:sp>
        <p:nvSpPr>
          <p:cNvPr id="3" name="コンテンツ プレースホルダー 2">
            <a:extLst>
              <a:ext uri="{FF2B5EF4-FFF2-40B4-BE49-F238E27FC236}">
                <a16:creationId xmlns:a16="http://schemas.microsoft.com/office/drawing/2014/main" id="{D27505A8-443A-FDE1-37E2-649FC6430144}"/>
              </a:ext>
            </a:extLst>
          </p:cNvPr>
          <p:cNvSpPr>
            <a:spLocks noGrp="1"/>
          </p:cNvSpPr>
          <p:nvPr>
            <p:ph idx="1"/>
          </p:nvPr>
        </p:nvSpPr>
        <p:spPr>
          <a:xfrm>
            <a:off x="628651" y="1673352"/>
            <a:ext cx="4441426" cy="3895344"/>
          </a:xfrm>
        </p:spPr>
        <p:txBody>
          <a:bodyPr>
            <a:normAutofit/>
          </a:bodyPr>
          <a:lstStyle/>
          <a:p>
            <a:pPr>
              <a:buFont typeface="Wingdings" panose="05000000000000000000" pitchFamily="2" charset="2"/>
              <a:buChar char="Ø"/>
            </a:pPr>
            <a:r>
              <a:rPr lang="en-US" altLang="ja-JP" sz="1800" dirty="0">
                <a:solidFill>
                  <a:schemeClr val="tx2">
                    <a:lumMod val="50000"/>
                  </a:schemeClr>
                </a:solidFill>
                <a:latin typeface="+mn-ea"/>
              </a:rPr>
              <a:t>Add “Super Lattice Cursor” in Sample ribbon</a:t>
            </a:r>
          </a:p>
          <a:p>
            <a:pPr marL="0" indent="0">
              <a:buNone/>
            </a:pPr>
            <a:endParaRPr lang="en-US" altLang="ja-JP" sz="1800" dirty="0">
              <a:solidFill>
                <a:schemeClr val="tx2">
                  <a:lumMod val="50000"/>
                </a:schemeClr>
              </a:solidFill>
              <a:latin typeface="+mn-ea"/>
            </a:endParaRPr>
          </a:p>
          <a:p>
            <a:pPr marL="0" indent="0">
              <a:buNone/>
            </a:pPr>
            <a:endParaRPr lang="en-US" altLang="ja-JP" sz="1800" dirty="0">
              <a:solidFill>
                <a:schemeClr val="tx2">
                  <a:lumMod val="50000"/>
                </a:schemeClr>
              </a:solidFill>
              <a:latin typeface="+mn-ea"/>
            </a:endParaRPr>
          </a:p>
          <a:p>
            <a:pPr marL="0" indent="0">
              <a:buNone/>
            </a:pPr>
            <a:r>
              <a:rPr lang="en-US" altLang="ja-JP" sz="1800" dirty="0">
                <a:solidFill>
                  <a:schemeClr val="tx2">
                    <a:lumMod val="50000"/>
                  </a:schemeClr>
                </a:solidFill>
                <a:latin typeface="+mn-ea"/>
              </a:rPr>
              <a:t>Specification</a:t>
            </a:r>
          </a:p>
          <a:p>
            <a:r>
              <a:rPr lang="en-US" altLang="ja-JP" sz="1800" dirty="0">
                <a:solidFill>
                  <a:schemeClr val="tx2">
                    <a:lumMod val="50000"/>
                  </a:schemeClr>
                </a:solidFill>
                <a:latin typeface="+mn-ea"/>
              </a:rPr>
              <a:t>ON shows vertical lines at superlattice peak positions</a:t>
            </a:r>
          </a:p>
          <a:p>
            <a:r>
              <a:rPr lang="en-US" altLang="ja-JP" sz="1800" dirty="0">
                <a:solidFill>
                  <a:schemeClr val="tx2">
                    <a:lumMod val="50000"/>
                  </a:schemeClr>
                </a:solidFill>
                <a:latin typeface="+mn-ea"/>
              </a:rPr>
              <a:t>User can change 0 </a:t>
            </a:r>
            <a:r>
              <a:rPr lang="en-US" altLang="ja-JP" sz="1800" dirty="0" err="1">
                <a:solidFill>
                  <a:schemeClr val="tx2">
                    <a:lumMod val="50000"/>
                  </a:schemeClr>
                </a:solidFill>
                <a:latin typeface="+mn-ea"/>
              </a:rPr>
              <a:t>th</a:t>
            </a:r>
            <a:r>
              <a:rPr lang="en-US" altLang="ja-JP" sz="1800" dirty="0">
                <a:solidFill>
                  <a:schemeClr val="tx2">
                    <a:lumMod val="50000"/>
                  </a:schemeClr>
                </a:solidFill>
                <a:latin typeface="+mn-ea"/>
              </a:rPr>
              <a:t> peak position (Bragg peak position of superlattice by default)</a:t>
            </a:r>
          </a:p>
        </p:txBody>
      </p:sp>
      <p:sp>
        <p:nvSpPr>
          <p:cNvPr id="4" name="スライド番号プレースホルダー 3">
            <a:extLst>
              <a:ext uri="{FF2B5EF4-FFF2-40B4-BE49-F238E27FC236}">
                <a16:creationId xmlns:a16="http://schemas.microsoft.com/office/drawing/2014/main" id="{0414668A-D723-DDE9-06D4-E32AA39E0B6F}"/>
              </a:ext>
            </a:extLst>
          </p:cNvPr>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18</a:t>
            </a:fld>
            <a:endParaRPr lang="en-US">
              <a:solidFill>
                <a:srgbClr val="FFFFFF"/>
              </a:solidFill>
              <a:latin typeface="Segoe UI Semilight"/>
              <a:ea typeface="メイリオ"/>
            </a:endParaRPr>
          </a:p>
        </p:txBody>
      </p:sp>
      <p:sp>
        <p:nvSpPr>
          <p:cNvPr id="5" name="フッター プレースホルダー 4">
            <a:extLst>
              <a:ext uri="{FF2B5EF4-FFF2-40B4-BE49-F238E27FC236}">
                <a16:creationId xmlns:a16="http://schemas.microsoft.com/office/drawing/2014/main" id="{8E9A934F-D45E-58D7-124F-3E69A56804C6}"/>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8" name="テキスト ボックス 7">
            <a:extLst>
              <a:ext uri="{FF2B5EF4-FFF2-40B4-BE49-F238E27FC236}">
                <a16:creationId xmlns:a16="http://schemas.microsoft.com/office/drawing/2014/main" id="{28FFA10D-0A66-40C8-8050-3A7C81B053EA}"/>
              </a:ext>
            </a:extLst>
          </p:cNvPr>
          <p:cNvSpPr txBox="1"/>
          <p:nvPr/>
        </p:nvSpPr>
        <p:spPr>
          <a:xfrm>
            <a:off x="3153539" y="5263277"/>
            <a:ext cx="2743678" cy="1015663"/>
          </a:xfrm>
          <a:prstGeom prst="rect">
            <a:avLst/>
          </a:prstGeom>
          <a:noFill/>
        </p:spPr>
        <p:txBody>
          <a:bodyPr wrap="square" rtlCol="0">
            <a:spAutoFit/>
          </a:bodyPr>
          <a:lstStyle/>
          <a:p>
            <a:r>
              <a:rPr kumimoji="1" lang="en-US" altLang="ja-JP" sz="1200" i="1" dirty="0">
                <a:latin typeface="+mn-ea"/>
              </a:rPr>
              <a:t>n </a:t>
            </a:r>
            <a:r>
              <a:rPr kumimoji="1" lang="en-US" altLang="ja-JP" sz="1200" dirty="0">
                <a:latin typeface="+mn-ea"/>
              </a:rPr>
              <a:t>: order</a:t>
            </a:r>
          </a:p>
          <a:p>
            <a:r>
              <a:rPr lang="en-US" altLang="ja-JP" sz="1200" i="1" dirty="0">
                <a:latin typeface="+mn-ea"/>
              </a:rPr>
              <a:t>T </a:t>
            </a:r>
            <a:r>
              <a:rPr lang="en-US" altLang="ja-JP" sz="1200" dirty="0">
                <a:latin typeface="+mn-ea"/>
              </a:rPr>
              <a:t>: Thickness of superlattice unit</a:t>
            </a:r>
          </a:p>
          <a:p>
            <a:r>
              <a:rPr kumimoji="1" lang="en-US" altLang="ja-JP" sz="1200" i="1" dirty="0">
                <a:latin typeface="+mn-ea"/>
              </a:rPr>
              <a:t>λ </a:t>
            </a:r>
            <a:r>
              <a:rPr kumimoji="1" lang="en-US" altLang="ja-JP" sz="1200" dirty="0">
                <a:latin typeface="+mn-ea"/>
              </a:rPr>
              <a:t>: wavelength</a:t>
            </a:r>
          </a:p>
          <a:p>
            <a:r>
              <a:rPr lang="en-US" altLang="ja-JP" sz="1200" i="1" dirty="0">
                <a:latin typeface="+mn-ea"/>
              </a:rPr>
              <a:t>θ</a:t>
            </a:r>
            <a:r>
              <a:rPr lang="en-US" altLang="ja-JP" sz="1200" i="1" baseline="-25000" dirty="0">
                <a:latin typeface="+mn-ea"/>
              </a:rPr>
              <a:t>0</a:t>
            </a:r>
            <a:r>
              <a:rPr lang="en-US" altLang="ja-JP" sz="1200" dirty="0">
                <a:latin typeface="+mn-ea"/>
              </a:rPr>
              <a:t>: Bragg’s angle</a:t>
            </a:r>
          </a:p>
          <a:p>
            <a:r>
              <a:rPr lang="en-US" altLang="ja-JP" sz="1200" i="1" dirty="0">
                <a:latin typeface="+mn-ea"/>
              </a:rPr>
              <a:t>χ</a:t>
            </a:r>
            <a:r>
              <a:rPr lang="en-US" altLang="ja-JP" sz="1200" i="1" baseline="-25000" dirty="0">
                <a:latin typeface="+mn-ea"/>
              </a:rPr>
              <a:t>0</a:t>
            </a:r>
            <a:r>
              <a:rPr kumimoji="1" lang="en-US" altLang="ja-JP" sz="1200" dirty="0">
                <a:latin typeface="+mn-ea"/>
              </a:rPr>
              <a:t>: X ray susceptibility</a:t>
            </a:r>
            <a:endParaRPr kumimoji="1" lang="ja-JP" altLang="en-US" sz="1200" dirty="0">
              <a:latin typeface="+mn-ea"/>
            </a:endParaRPr>
          </a:p>
        </p:txBody>
      </p:sp>
      <p:pic>
        <p:nvPicPr>
          <p:cNvPr id="9" name="図 8">
            <a:extLst>
              <a:ext uri="{FF2B5EF4-FFF2-40B4-BE49-F238E27FC236}">
                <a16:creationId xmlns:a16="http://schemas.microsoft.com/office/drawing/2014/main" id="{D660AD3D-27CB-4641-8FF2-741A9D1F04B8}"/>
              </a:ext>
            </a:extLst>
          </p:cNvPr>
          <p:cNvPicPr>
            <a:picLocks noChangeAspect="1"/>
          </p:cNvPicPr>
          <p:nvPr/>
        </p:nvPicPr>
        <p:blipFill>
          <a:blip r:embed="rId3"/>
          <a:stretch>
            <a:fillRect/>
          </a:stretch>
        </p:blipFill>
        <p:spPr>
          <a:xfrm>
            <a:off x="700163" y="5485127"/>
            <a:ext cx="2289930" cy="485186"/>
          </a:xfrm>
          <a:prstGeom prst="rect">
            <a:avLst/>
          </a:prstGeom>
        </p:spPr>
      </p:pic>
      <p:pic>
        <p:nvPicPr>
          <p:cNvPr id="10" name="図 9">
            <a:extLst>
              <a:ext uri="{FF2B5EF4-FFF2-40B4-BE49-F238E27FC236}">
                <a16:creationId xmlns:a16="http://schemas.microsoft.com/office/drawing/2014/main" id="{DD7FCEF8-1B17-4A5A-A601-6D25506F086A}"/>
              </a:ext>
            </a:extLst>
          </p:cNvPr>
          <p:cNvPicPr>
            <a:picLocks noChangeAspect="1"/>
          </p:cNvPicPr>
          <p:nvPr/>
        </p:nvPicPr>
        <p:blipFill>
          <a:blip r:embed="rId4"/>
          <a:stretch>
            <a:fillRect/>
          </a:stretch>
        </p:blipFill>
        <p:spPr>
          <a:xfrm>
            <a:off x="5070076" y="3429000"/>
            <a:ext cx="3910116" cy="1941789"/>
          </a:xfrm>
          <a:prstGeom prst="rect">
            <a:avLst/>
          </a:prstGeom>
          <a:ln>
            <a:solidFill>
              <a:schemeClr val="accent1"/>
            </a:solidFill>
          </a:ln>
        </p:spPr>
      </p:pic>
      <p:pic>
        <p:nvPicPr>
          <p:cNvPr id="6" name="図 5">
            <a:extLst>
              <a:ext uri="{FF2B5EF4-FFF2-40B4-BE49-F238E27FC236}">
                <a16:creationId xmlns:a16="http://schemas.microsoft.com/office/drawing/2014/main" id="{8139A63B-C65D-4A4B-AE7B-31BC693C63A2}"/>
              </a:ext>
            </a:extLst>
          </p:cNvPr>
          <p:cNvPicPr>
            <a:picLocks noChangeAspect="1"/>
          </p:cNvPicPr>
          <p:nvPr/>
        </p:nvPicPr>
        <p:blipFill>
          <a:blip r:embed="rId5"/>
          <a:stretch>
            <a:fillRect/>
          </a:stretch>
        </p:blipFill>
        <p:spPr>
          <a:xfrm>
            <a:off x="3235381" y="2355663"/>
            <a:ext cx="5279968" cy="857370"/>
          </a:xfrm>
          <a:prstGeom prst="rect">
            <a:avLst/>
          </a:prstGeom>
          <a:ln>
            <a:solidFill>
              <a:schemeClr val="accent1"/>
            </a:solidFill>
          </a:ln>
        </p:spPr>
      </p:pic>
    </p:spTree>
    <p:extLst>
      <p:ext uri="{BB962C8B-B14F-4D97-AF65-F5344CB8AC3E}">
        <p14:creationId xmlns:p14="http://schemas.microsoft.com/office/powerpoint/2010/main" val="254561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46CCFC5-8C0D-23ED-3659-9062A0DE939D}"/>
              </a:ext>
            </a:extLst>
          </p:cNvPr>
          <p:cNvSpPr>
            <a:spLocks noGrp="1"/>
          </p:cNvSpPr>
          <p:nvPr>
            <p:ph type="sldNum" sz="quarter" idx="12"/>
          </p:nvPr>
        </p:nvSpPr>
        <p:spPr/>
        <p:txBody>
          <a:bodyPr/>
          <a:lstStyle/>
          <a:p>
            <a:fld id="{D44D3F4E-7F9B-4AD4-ADA0-3F21E9F7E4F4}" type="slidenum">
              <a:rPr lang="en-US" smtClean="0"/>
              <a:pPr/>
              <a:t>19</a:t>
            </a:fld>
            <a:endParaRPr lang="en-US" dirty="0"/>
          </a:p>
        </p:txBody>
      </p:sp>
      <p:sp>
        <p:nvSpPr>
          <p:cNvPr id="5" name="フッター プレースホルダー 4">
            <a:extLst>
              <a:ext uri="{FF2B5EF4-FFF2-40B4-BE49-F238E27FC236}">
                <a16:creationId xmlns:a16="http://schemas.microsoft.com/office/drawing/2014/main" id="{4A25D37C-6E38-1424-5C64-3E7C4051E84F}"/>
              </a:ext>
            </a:extLst>
          </p:cNvPr>
          <p:cNvSpPr>
            <a:spLocks noGrp="1"/>
          </p:cNvSpPr>
          <p:nvPr>
            <p:ph type="ftr" sz="quarter" idx="11"/>
          </p:nvPr>
        </p:nvSpPr>
        <p:spPr/>
        <p:txBody>
          <a:bodyPr/>
          <a:lstStyle/>
          <a:p>
            <a:r>
              <a:rPr lang="en-US"/>
              <a:t>© 2020 Rigaku Corporation. All rights reserved</a:t>
            </a:r>
            <a:endParaRPr lang="en-US" dirty="0"/>
          </a:p>
        </p:txBody>
      </p:sp>
      <p:pic>
        <p:nvPicPr>
          <p:cNvPr id="7" name="freecompress-Media8">
            <a:hlinkClick r:id="" action="ppaction://media"/>
            <a:extLst>
              <a:ext uri="{FF2B5EF4-FFF2-40B4-BE49-F238E27FC236}">
                <a16:creationId xmlns:a16="http://schemas.microsoft.com/office/drawing/2014/main" id="{AB5A367A-A182-198A-9621-0A527B0D6518}"/>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 y="1188305"/>
            <a:ext cx="9151563" cy="4911044"/>
          </a:xfrm>
        </p:spPr>
      </p:pic>
    </p:spTree>
    <p:extLst>
      <p:ext uri="{BB962C8B-B14F-4D97-AF65-F5344CB8AC3E}">
        <p14:creationId xmlns:p14="http://schemas.microsoft.com/office/powerpoint/2010/main" val="148856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70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7F41A-680E-3851-A7C8-3C0DC620B2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B202D73-95CE-33F3-0847-169E1338EEB0}"/>
              </a:ext>
            </a:extLst>
          </p:cNvPr>
          <p:cNvSpPr>
            <a:spLocks noGrp="1"/>
          </p:cNvSpPr>
          <p:nvPr>
            <p:ph type="title"/>
          </p:nvPr>
        </p:nvSpPr>
        <p:spPr/>
        <p:txBody>
          <a:bodyPr>
            <a:normAutofit/>
          </a:bodyPr>
          <a:lstStyle/>
          <a:p>
            <a:r>
              <a:rPr lang="en-US" altLang="ja-JP" sz="2100" dirty="0">
                <a:latin typeface="+mn-ea"/>
              </a:rPr>
              <a:t>XRD Measurement: Chinese localization of Parts help</a:t>
            </a:r>
            <a:endParaRPr lang="ja-JP" altLang="en-US" sz="2100" dirty="0"/>
          </a:p>
        </p:txBody>
      </p:sp>
      <p:sp>
        <p:nvSpPr>
          <p:cNvPr id="4" name="スライド番号プレースホルダー 3">
            <a:extLst>
              <a:ext uri="{FF2B5EF4-FFF2-40B4-BE49-F238E27FC236}">
                <a16:creationId xmlns:a16="http://schemas.microsoft.com/office/drawing/2014/main" id="{144EE2D3-BE61-1FA2-ABB2-784548B94A6A}"/>
              </a:ext>
            </a:extLst>
          </p:cNvPr>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20</a:t>
            </a:fld>
            <a:endParaRPr lang="en-US">
              <a:solidFill>
                <a:srgbClr val="FFFFFF"/>
              </a:solidFill>
              <a:latin typeface="Segoe UI Semilight"/>
              <a:ea typeface="メイリオ"/>
            </a:endParaRPr>
          </a:p>
        </p:txBody>
      </p:sp>
      <p:sp>
        <p:nvSpPr>
          <p:cNvPr id="5" name="フッター プレースホルダー 4">
            <a:extLst>
              <a:ext uri="{FF2B5EF4-FFF2-40B4-BE49-F238E27FC236}">
                <a16:creationId xmlns:a16="http://schemas.microsoft.com/office/drawing/2014/main" id="{515FF553-611B-CA9A-B7E0-45EC3DAE522C}"/>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pic>
        <p:nvPicPr>
          <p:cNvPr id="6" name="図 5">
            <a:extLst>
              <a:ext uri="{FF2B5EF4-FFF2-40B4-BE49-F238E27FC236}">
                <a16:creationId xmlns:a16="http://schemas.microsoft.com/office/drawing/2014/main" id="{B62EDFE3-6E90-A7EB-D9F5-8A76649702E1}"/>
              </a:ext>
            </a:extLst>
          </p:cNvPr>
          <p:cNvPicPr>
            <a:picLocks noChangeAspect="1"/>
          </p:cNvPicPr>
          <p:nvPr/>
        </p:nvPicPr>
        <p:blipFill>
          <a:blip r:embed="rId3"/>
          <a:stretch>
            <a:fillRect/>
          </a:stretch>
        </p:blipFill>
        <p:spPr>
          <a:xfrm>
            <a:off x="3697586" y="1764754"/>
            <a:ext cx="5250698" cy="3559869"/>
          </a:xfrm>
          <a:prstGeom prst="rect">
            <a:avLst/>
          </a:prstGeom>
          <a:ln>
            <a:solidFill>
              <a:schemeClr val="accent1"/>
            </a:solidFill>
          </a:ln>
        </p:spPr>
      </p:pic>
      <p:sp>
        <p:nvSpPr>
          <p:cNvPr id="7" name="コンテンツ プレースホルダー 2">
            <a:extLst>
              <a:ext uri="{FF2B5EF4-FFF2-40B4-BE49-F238E27FC236}">
                <a16:creationId xmlns:a16="http://schemas.microsoft.com/office/drawing/2014/main" id="{F9478E0D-975B-3B22-89CA-F7B2ECB9A26E}"/>
              </a:ext>
            </a:extLst>
          </p:cNvPr>
          <p:cNvSpPr>
            <a:spLocks noGrp="1"/>
          </p:cNvSpPr>
          <p:nvPr>
            <p:ph idx="1"/>
          </p:nvPr>
        </p:nvSpPr>
        <p:spPr>
          <a:xfrm>
            <a:off x="628651" y="1690008"/>
            <a:ext cx="2973978" cy="3915251"/>
          </a:xfrm>
        </p:spPr>
        <p:txBody>
          <a:bodyPr>
            <a:normAutofit/>
          </a:bodyPr>
          <a:lstStyle/>
          <a:p>
            <a:pPr marL="0" indent="0">
              <a:buNone/>
            </a:pPr>
            <a:r>
              <a:rPr lang="en-US" altLang="ja-JP" sz="1800" dirty="0">
                <a:latin typeface="+mn-ea"/>
              </a:rPr>
              <a:t>Although Chinese user manuals exist, Chinese parts help doesn’t exist so far.</a:t>
            </a:r>
          </a:p>
          <a:p>
            <a:pPr marL="0" indent="0">
              <a:buNone/>
            </a:pPr>
            <a:r>
              <a:rPr lang="en-US" altLang="ja-JP" sz="1800" dirty="0">
                <a:latin typeface="+mn-ea"/>
              </a:rPr>
              <a:t>This is supported in ver.5.2.</a:t>
            </a:r>
          </a:p>
          <a:p>
            <a:pPr marL="0" indent="0">
              <a:buNone/>
            </a:pPr>
            <a:endParaRPr lang="en-US" altLang="ja-JP" sz="1800" dirty="0">
              <a:latin typeface="+mn-ea"/>
            </a:endParaRPr>
          </a:p>
          <a:p>
            <a:pPr marL="0" indent="0">
              <a:buNone/>
            </a:pPr>
            <a:r>
              <a:rPr lang="en-US" altLang="ja-JP" sz="1800" dirty="0">
                <a:latin typeface="+mn-ea"/>
              </a:rPr>
              <a:t>Some parts are still in English, most of it has been translated.</a:t>
            </a:r>
          </a:p>
        </p:txBody>
      </p:sp>
    </p:spTree>
    <p:extLst>
      <p:ext uri="{BB962C8B-B14F-4D97-AF65-F5344CB8AC3E}">
        <p14:creationId xmlns:p14="http://schemas.microsoft.com/office/powerpoint/2010/main" val="870530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E9C8D12-64A4-45E8-BDDF-D427249718F6}"/>
              </a:ext>
            </a:extLst>
          </p:cNvPr>
          <p:cNvSpPr>
            <a:spLocks noGrp="1"/>
          </p:cNvSpPr>
          <p:nvPr>
            <p:ph idx="1"/>
          </p:nvPr>
        </p:nvSpPr>
        <p:spPr>
          <a:xfrm>
            <a:off x="628650" y="1628775"/>
            <a:ext cx="3638550" cy="4533485"/>
          </a:xfrm>
        </p:spPr>
        <p:txBody>
          <a:bodyPr>
            <a:normAutofit fontScale="92500"/>
          </a:bodyPr>
          <a:lstStyle/>
          <a:p>
            <a:pPr marL="0" indent="0">
              <a:buNone/>
            </a:pPr>
            <a:r>
              <a:rPr lang="en-US" altLang="ja-JP" sz="1800" dirty="0">
                <a:latin typeface="+mn-ea"/>
              </a:rPr>
              <a:t>Resolution function display in RS Viewer (Laboratory requested)</a:t>
            </a:r>
          </a:p>
          <a:p>
            <a:pPr>
              <a:buFont typeface="メイリオ" panose="020B0604030504040204" pitchFamily="50" charset="-128"/>
              <a:buChar char="◦"/>
            </a:pPr>
            <a:r>
              <a:rPr lang="en-US" altLang="ja-JP" sz="1800" dirty="0"/>
              <a:t>Display in RS Viewer, which can also be referenced in XRD Measurement, to determine which monochromator to use when setting measurement conditions.</a:t>
            </a:r>
            <a:endParaRPr lang="en-US" altLang="ja-JP" sz="1800" dirty="0">
              <a:latin typeface="+mn-ea"/>
            </a:endParaRPr>
          </a:p>
          <a:p>
            <a:pPr>
              <a:buFont typeface="メイリオ" panose="020B0604030504040204" pitchFamily="50" charset="-128"/>
              <a:buChar char="◦"/>
            </a:pPr>
            <a:r>
              <a:rPr lang="en-US" altLang="ja-JP" sz="1800" dirty="0"/>
              <a:t>Implement so that the display state of the resolution curve (shown/hidden) is retained on the next startup.</a:t>
            </a:r>
            <a:endParaRPr lang="en-US" altLang="ja-JP" sz="1800" dirty="0">
              <a:latin typeface="+mn-ea"/>
            </a:endParaRPr>
          </a:p>
          <a:p>
            <a:pPr>
              <a:buFont typeface="メイリオ" panose="020B0604030504040204" pitchFamily="50" charset="-128"/>
              <a:buChar char="◦"/>
            </a:pPr>
            <a:r>
              <a:rPr lang="en-US" altLang="ja-JP" sz="1800" dirty="0"/>
              <a:t>Display a vertical line at the Bragg angle position of the reflection to be measured.</a:t>
            </a:r>
            <a:endParaRPr lang="en-US" altLang="ja-JP" sz="1800" dirty="0">
              <a:latin typeface="+mn-ea"/>
            </a:endParaRPr>
          </a:p>
        </p:txBody>
      </p:sp>
      <p:sp>
        <p:nvSpPr>
          <p:cNvPr id="2" name="タイトル 1">
            <a:extLst>
              <a:ext uri="{FF2B5EF4-FFF2-40B4-BE49-F238E27FC236}">
                <a16:creationId xmlns:a16="http://schemas.microsoft.com/office/drawing/2014/main" id="{D8648711-EDA8-40BB-842E-1A63A9B66FB3}"/>
              </a:ext>
            </a:extLst>
          </p:cNvPr>
          <p:cNvSpPr>
            <a:spLocks noGrp="1"/>
          </p:cNvSpPr>
          <p:nvPr>
            <p:ph type="title"/>
          </p:nvPr>
        </p:nvSpPr>
        <p:spPr/>
        <p:txBody>
          <a:bodyPr/>
          <a:lstStyle/>
          <a:p>
            <a:r>
              <a:rPr lang="en-US" altLang="ja-JP" sz="2100" dirty="0">
                <a:latin typeface="+mn-ea"/>
                <a:ea typeface="+mn-ea"/>
              </a:rPr>
              <a:t>HRXRD: </a:t>
            </a:r>
            <a:r>
              <a:rPr lang="en-US" altLang="zh-CN" sz="2100" dirty="0">
                <a:latin typeface="+mn-ea"/>
                <a:ea typeface="+mn-ea"/>
              </a:rPr>
              <a:t>Resolution function display</a:t>
            </a:r>
            <a:r>
              <a:rPr lang="zh-CN" altLang="en-US" sz="2100" dirty="0">
                <a:latin typeface="+mn-ea"/>
                <a:ea typeface="+mn-ea"/>
              </a:rPr>
              <a:t> </a:t>
            </a:r>
            <a:r>
              <a:rPr lang="en-US" altLang="zh-CN" sz="2100" dirty="0">
                <a:latin typeface="+mn-ea"/>
                <a:ea typeface="+mn-ea"/>
              </a:rPr>
              <a:t>(</a:t>
            </a:r>
            <a:r>
              <a:rPr lang="en-US" altLang="ja-JP" sz="2100" dirty="0">
                <a:latin typeface="+mn-ea"/>
                <a:ea typeface="+mn-ea"/>
              </a:rPr>
              <a:t>ver5.2)</a:t>
            </a:r>
            <a:endParaRPr lang="ja-JP" altLang="en-US" sz="2100" dirty="0">
              <a:latin typeface="+mn-ea"/>
              <a:ea typeface="+mn-ea"/>
            </a:endParaRPr>
          </a:p>
        </p:txBody>
      </p:sp>
      <p:pic>
        <p:nvPicPr>
          <p:cNvPr id="5" name="図 4">
            <a:extLst>
              <a:ext uri="{FF2B5EF4-FFF2-40B4-BE49-F238E27FC236}">
                <a16:creationId xmlns:a16="http://schemas.microsoft.com/office/drawing/2014/main" id="{987BC962-BDF4-8981-3D3D-097B4AAE9B71}"/>
              </a:ext>
            </a:extLst>
          </p:cNvPr>
          <p:cNvPicPr>
            <a:picLocks noChangeAspect="1"/>
          </p:cNvPicPr>
          <p:nvPr/>
        </p:nvPicPr>
        <p:blipFill>
          <a:blip r:embed="rId3"/>
          <a:stretch>
            <a:fillRect/>
          </a:stretch>
        </p:blipFill>
        <p:spPr>
          <a:xfrm>
            <a:off x="4253947" y="2050896"/>
            <a:ext cx="4755299" cy="2862225"/>
          </a:xfrm>
          <a:prstGeom prst="rect">
            <a:avLst/>
          </a:prstGeom>
          <a:ln>
            <a:solidFill>
              <a:schemeClr val="accent1"/>
            </a:solidFill>
          </a:ln>
        </p:spPr>
      </p:pic>
    </p:spTree>
    <p:extLst>
      <p:ext uri="{BB962C8B-B14F-4D97-AF65-F5344CB8AC3E}">
        <p14:creationId xmlns:p14="http://schemas.microsoft.com/office/powerpoint/2010/main" val="3862340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07940-169D-B01D-8FA3-659F7548A434}"/>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4E2BC3D-B2F2-91B2-AA5C-7BFC2E1A7620}"/>
              </a:ext>
            </a:extLst>
          </p:cNvPr>
          <p:cNvSpPr>
            <a:spLocks noGrp="1"/>
          </p:cNvSpPr>
          <p:nvPr>
            <p:ph idx="1"/>
          </p:nvPr>
        </p:nvSpPr>
        <p:spPr>
          <a:xfrm>
            <a:off x="628650" y="1628775"/>
            <a:ext cx="7529926" cy="4533485"/>
          </a:xfrm>
        </p:spPr>
        <p:txBody>
          <a:bodyPr>
            <a:normAutofit/>
          </a:bodyPr>
          <a:lstStyle/>
          <a:p>
            <a:pPr marL="0" indent="0">
              <a:buNone/>
            </a:pPr>
            <a:r>
              <a:rPr lang="en-US" altLang="ja-JP" sz="1800" dirty="0">
                <a:latin typeface="+mn-ea"/>
              </a:rPr>
              <a:t>Function to display mismatch of d-value to bottom layer / substrate in the sample normal direction.</a:t>
            </a:r>
          </a:p>
        </p:txBody>
      </p:sp>
      <p:sp>
        <p:nvSpPr>
          <p:cNvPr id="2" name="タイトル 1">
            <a:extLst>
              <a:ext uri="{FF2B5EF4-FFF2-40B4-BE49-F238E27FC236}">
                <a16:creationId xmlns:a16="http://schemas.microsoft.com/office/drawing/2014/main" id="{86ABB931-CD44-70CD-42E8-C4EAF8020924}"/>
              </a:ext>
            </a:extLst>
          </p:cNvPr>
          <p:cNvSpPr>
            <a:spLocks noGrp="1"/>
          </p:cNvSpPr>
          <p:nvPr>
            <p:ph type="title"/>
          </p:nvPr>
        </p:nvSpPr>
        <p:spPr/>
        <p:txBody>
          <a:bodyPr/>
          <a:lstStyle/>
          <a:p>
            <a:r>
              <a:rPr lang="en-US" altLang="ja-JP" sz="2100" dirty="0">
                <a:latin typeface="+mn-ea"/>
                <a:ea typeface="+mn-ea"/>
                <a:hlinkClick r:id="rId3"/>
              </a:rPr>
              <a:t>HRXRD: Mismatch Z</a:t>
            </a:r>
            <a:r>
              <a:rPr lang="zh-CN" altLang="en-US" sz="2100" dirty="0">
                <a:latin typeface="+mn-ea"/>
                <a:ea typeface="+mn-ea"/>
                <a:hlinkClick r:id="rId3"/>
              </a:rPr>
              <a:t> </a:t>
            </a:r>
            <a:r>
              <a:rPr lang="en-US" altLang="zh-CN" sz="2100" dirty="0">
                <a:latin typeface="+mn-ea"/>
                <a:ea typeface="+mn-ea"/>
                <a:hlinkClick r:id="rId3"/>
              </a:rPr>
              <a:t>(</a:t>
            </a:r>
            <a:r>
              <a:rPr lang="en-US" altLang="ja-JP" sz="2100" dirty="0">
                <a:latin typeface="+mn-ea"/>
                <a:ea typeface="+mn-ea"/>
                <a:hlinkClick r:id="rId3"/>
              </a:rPr>
              <a:t>ver5.2)</a:t>
            </a:r>
            <a:endParaRPr lang="ja-JP" altLang="en-US" sz="2100" dirty="0">
              <a:latin typeface="+mn-ea"/>
              <a:ea typeface="+mn-ea"/>
            </a:endParaRPr>
          </a:p>
        </p:txBody>
      </p:sp>
      <p:pic>
        <p:nvPicPr>
          <p:cNvPr id="2050" name="Picture 2">
            <a:extLst>
              <a:ext uri="{FF2B5EF4-FFF2-40B4-BE49-F238E27FC236}">
                <a16:creationId xmlns:a16="http://schemas.microsoft.com/office/drawing/2014/main" id="{E7824131-3E6E-C160-8C0B-4D2783953A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3389" y="2270885"/>
            <a:ext cx="4676775" cy="37338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6" name="図 5">
            <a:extLst>
              <a:ext uri="{FF2B5EF4-FFF2-40B4-BE49-F238E27FC236}">
                <a16:creationId xmlns:a16="http://schemas.microsoft.com/office/drawing/2014/main" id="{DE534390-8543-AF85-61FA-A59EC289F84A}"/>
              </a:ext>
            </a:extLst>
          </p:cNvPr>
          <p:cNvPicPr>
            <a:picLocks noChangeAspect="1"/>
          </p:cNvPicPr>
          <p:nvPr/>
        </p:nvPicPr>
        <p:blipFill>
          <a:blip r:embed="rId5"/>
          <a:stretch>
            <a:fillRect/>
          </a:stretch>
        </p:blipFill>
        <p:spPr>
          <a:xfrm>
            <a:off x="5594903" y="2270885"/>
            <a:ext cx="3347381" cy="3558623"/>
          </a:xfrm>
          <a:prstGeom prst="rect">
            <a:avLst/>
          </a:prstGeom>
          <a:ln>
            <a:solidFill>
              <a:schemeClr val="accent1"/>
            </a:solidFill>
          </a:ln>
        </p:spPr>
      </p:pic>
      <p:sp>
        <p:nvSpPr>
          <p:cNvPr id="4" name="テキスト ボックス 3">
            <a:extLst>
              <a:ext uri="{FF2B5EF4-FFF2-40B4-BE49-F238E27FC236}">
                <a16:creationId xmlns:a16="http://schemas.microsoft.com/office/drawing/2014/main" id="{0D3554F6-3B46-66F1-2E41-EB34AEA1BB90}"/>
              </a:ext>
            </a:extLst>
          </p:cNvPr>
          <p:cNvSpPr txBox="1"/>
          <p:nvPr/>
        </p:nvSpPr>
        <p:spPr>
          <a:xfrm>
            <a:off x="1630018" y="6029878"/>
            <a:ext cx="3549561" cy="369332"/>
          </a:xfrm>
          <a:prstGeom prst="rect">
            <a:avLst/>
          </a:prstGeom>
          <a:noFill/>
          <a:ln>
            <a:solidFill>
              <a:schemeClr val="accent1"/>
            </a:solidFill>
          </a:ln>
        </p:spPr>
        <p:txBody>
          <a:bodyPr wrap="none" rtlCol="0">
            <a:spAutoFit/>
          </a:bodyPr>
          <a:lstStyle/>
          <a:p>
            <a:r>
              <a:rPr kumimoji="1" lang="en-US" altLang="ja-JP" dirty="0"/>
              <a:t>Mismatch Z in Sample parameters</a:t>
            </a:r>
            <a:endParaRPr kumimoji="1" lang="ja-JP" altLang="en-US" dirty="0"/>
          </a:p>
        </p:txBody>
      </p:sp>
      <p:sp>
        <p:nvSpPr>
          <p:cNvPr id="5" name="テキスト ボックス 4">
            <a:extLst>
              <a:ext uri="{FF2B5EF4-FFF2-40B4-BE49-F238E27FC236}">
                <a16:creationId xmlns:a16="http://schemas.microsoft.com/office/drawing/2014/main" id="{8CDE7969-E016-4789-3576-484562A22606}"/>
              </a:ext>
            </a:extLst>
          </p:cNvPr>
          <p:cNvSpPr txBox="1"/>
          <p:nvPr/>
        </p:nvSpPr>
        <p:spPr>
          <a:xfrm>
            <a:off x="5864747" y="5841312"/>
            <a:ext cx="2855183" cy="646331"/>
          </a:xfrm>
          <a:prstGeom prst="rect">
            <a:avLst/>
          </a:prstGeom>
          <a:noFill/>
          <a:ln>
            <a:solidFill>
              <a:schemeClr val="accent1"/>
            </a:solidFill>
          </a:ln>
        </p:spPr>
        <p:txBody>
          <a:bodyPr wrap="square" rtlCol="0">
            <a:spAutoFit/>
          </a:bodyPr>
          <a:lstStyle/>
          <a:p>
            <a:r>
              <a:rPr kumimoji="1" lang="en-US" altLang="ja-JP" dirty="0"/>
              <a:t>Change Mismatch Z definition in Option menu</a:t>
            </a:r>
            <a:endParaRPr kumimoji="1" lang="ja-JP" altLang="en-US" dirty="0"/>
          </a:p>
        </p:txBody>
      </p:sp>
    </p:spTree>
    <p:extLst>
      <p:ext uri="{BB962C8B-B14F-4D97-AF65-F5344CB8AC3E}">
        <p14:creationId xmlns:p14="http://schemas.microsoft.com/office/powerpoint/2010/main" val="1521085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D447C-AA9D-3138-BFF2-F934132D962B}"/>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0D5B3B7C-B8CA-62BE-8809-C6E650DF85B7}"/>
              </a:ext>
            </a:extLst>
          </p:cNvPr>
          <p:cNvSpPr>
            <a:spLocks noGrp="1"/>
          </p:cNvSpPr>
          <p:nvPr>
            <p:ph idx="1"/>
          </p:nvPr>
        </p:nvSpPr>
        <p:spPr>
          <a:xfrm>
            <a:off x="628650" y="1628775"/>
            <a:ext cx="3506028" cy="4533485"/>
          </a:xfrm>
        </p:spPr>
        <p:txBody>
          <a:bodyPr>
            <a:normAutofit/>
          </a:bodyPr>
          <a:lstStyle/>
          <a:p>
            <a:r>
              <a:rPr lang="en-US" altLang="ja-JP" sz="1800" dirty="0">
                <a:latin typeface="+mn-ea"/>
              </a:rPr>
              <a:t>Multidata Fit flow bar:</a:t>
            </a:r>
            <a:br>
              <a:rPr lang="en-US" altLang="ja-JP" sz="1800" dirty="0">
                <a:latin typeface="+mn-ea"/>
              </a:rPr>
            </a:br>
            <a:r>
              <a:rPr lang="en-US" altLang="ja-JP" sz="1800" dirty="0">
                <a:latin typeface="+mn-ea"/>
              </a:rPr>
              <a:t>Use and apply one template to many data</a:t>
            </a:r>
          </a:p>
          <a:p>
            <a:endParaRPr lang="en-US" altLang="ja-JP" sz="1800" dirty="0">
              <a:latin typeface="+mn-ea"/>
            </a:endParaRPr>
          </a:p>
          <a:p>
            <a:r>
              <a:rPr lang="en-US" altLang="ja-JP" sz="1800" dirty="0">
                <a:latin typeface="+mn-ea"/>
              </a:rPr>
              <a:t>Oscillation analysis flow bar (XRR)</a:t>
            </a:r>
            <a:br>
              <a:rPr lang="en-US" altLang="ja-JP" sz="1800" dirty="0">
                <a:latin typeface="+mn-ea"/>
              </a:rPr>
            </a:br>
            <a:r>
              <a:rPr lang="en-US" altLang="ja-JP" sz="1800" dirty="0">
                <a:latin typeface="+mn-ea"/>
              </a:rPr>
              <a:t>Flow bar to perform only Oscillation analysis (Customer request)</a:t>
            </a:r>
          </a:p>
        </p:txBody>
      </p:sp>
      <p:sp>
        <p:nvSpPr>
          <p:cNvPr id="2" name="タイトル 1">
            <a:extLst>
              <a:ext uri="{FF2B5EF4-FFF2-40B4-BE49-F238E27FC236}">
                <a16:creationId xmlns:a16="http://schemas.microsoft.com/office/drawing/2014/main" id="{DEBB2364-65B2-E78C-FBA6-783004773BA6}"/>
              </a:ext>
            </a:extLst>
          </p:cNvPr>
          <p:cNvSpPr>
            <a:spLocks noGrp="1"/>
          </p:cNvSpPr>
          <p:nvPr>
            <p:ph type="title"/>
          </p:nvPr>
        </p:nvSpPr>
        <p:spPr/>
        <p:txBody>
          <a:bodyPr/>
          <a:lstStyle/>
          <a:p>
            <a:r>
              <a:rPr lang="en-US" altLang="ja-JP" sz="2100" dirty="0">
                <a:latin typeface="+mn-ea"/>
                <a:ea typeface="+mn-ea"/>
              </a:rPr>
              <a:t>XRR/HRXRD: Multidata Fit flow bar </a:t>
            </a:r>
            <a:r>
              <a:rPr lang="en-US" altLang="zh-CN" sz="2100" dirty="0">
                <a:latin typeface="+mn-ea"/>
                <a:ea typeface="+mn-ea"/>
              </a:rPr>
              <a:t>(</a:t>
            </a:r>
            <a:r>
              <a:rPr lang="en-US" altLang="ja-JP" sz="2100" dirty="0">
                <a:latin typeface="+mn-ea"/>
                <a:ea typeface="+mn-ea"/>
              </a:rPr>
              <a:t>ver5.2)</a:t>
            </a:r>
            <a:endParaRPr lang="ja-JP" altLang="en-US" sz="2100" dirty="0">
              <a:latin typeface="+mn-ea"/>
              <a:ea typeface="+mn-ea"/>
            </a:endParaRPr>
          </a:p>
        </p:txBody>
      </p:sp>
      <p:pic>
        <p:nvPicPr>
          <p:cNvPr id="6" name="図 5">
            <a:extLst>
              <a:ext uri="{FF2B5EF4-FFF2-40B4-BE49-F238E27FC236}">
                <a16:creationId xmlns:a16="http://schemas.microsoft.com/office/drawing/2014/main" id="{8745444F-678F-1D57-AABC-175FF5DFB676}"/>
              </a:ext>
            </a:extLst>
          </p:cNvPr>
          <p:cNvPicPr>
            <a:picLocks noChangeAspect="1"/>
          </p:cNvPicPr>
          <p:nvPr/>
        </p:nvPicPr>
        <p:blipFill>
          <a:blip r:embed="rId3"/>
          <a:stretch>
            <a:fillRect/>
          </a:stretch>
        </p:blipFill>
        <p:spPr>
          <a:xfrm>
            <a:off x="4572000" y="1434403"/>
            <a:ext cx="3801005" cy="4991797"/>
          </a:xfrm>
          <a:prstGeom prst="rect">
            <a:avLst/>
          </a:prstGeom>
          <a:ln>
            <a:solidFill>
              <a:schemeClr val="accent1"/>
            </a:solidFill>
          </a:ln>
        </p:spPr>
      </p:pic>
    </p:spTree>
    <p:extLst>
      <p:ext uri="{BB962C8B-B14F-4D97-AF65-F5344CB8AC3E}">
        <p14:creationId xmlns:p14="http://schemas.microsoft.com/office/powerpoint/2010/main" val="10881009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E9C8D12-64A4-45E8-BDDF-D427249718F6}"/>
              </a:ext>
            </a:extLst>
          </p:cNvPr>
          <p:cNvSpPr>
            <a:spLocks noGrp="1"/>
          </p:cNvSpPr>
          <p:nvPr>
            <p:ph idx="1"/>
          </p:nvPr>
        </p:nvSpPr>
        <p:spPr>
          <a:xfrm>
            <a:off x="628649" y="1918608"/>
            <a:ext cx="7303496" cy="3344164"/>
          </a:xfrm>
        </p:spPr>
        <p:txBody>
          <a:bodyPr>
            <a:normAutofit/>
          </a:bodyPr>
          <a:lstStyle/>
          <a:p>
            <a:pPr marL="0" indent="0">
              <a:buNone/>
            </a:pPr>
            <a:r>
              <a:rPr lang="en-US" altLang="ja-JP" sz="1800" dirty="0">
                <a:latin typeface="+mn-ea"/>
              </a:rPr>
              <a:t>Save pole figures as </a:t>
            </a:r>
            <a:r>
              <a:rPr lang="en-US" altLang="ja-JP" sz="1800" dirty="0" err="1">
                <a:latin typeface="+mn-ea"/>
              </a:rPr>
              <a:t>rasx</a:t>
            </a:r>
            <a:r>
              <a:rPr lang="en-US" altLang="ja-JP" sz="1800" dirty="0">
                <a:latin typeface="+mn-ea"/>
              </a:rPr>
              <a:t> files</a:t>
            </a:r>
            <a:r>
              <a:rPr lang="ja-JP" altLang="en-US" sz="1800" dirty="0">
                <a:latin typeface="+mn-ea"/>
              </a:rPr>
              <a:t> </a:t>
            </a:r>
            <a:r>
              <a:rPr lang="en-US" altLang="ja-JP" sz="1800" dirty="0">
                <a:latin typeface="+mn-ea"/>
              </a:rPr>
              <a:t>(ver5.2)</a:t>
            </a:r>
          </a:p>
          <a:p>
            <a:r>
              <a:rPr lang="en-US" altLang="ja-JP" sz="1800" dirty="0">
                <a:latin typeface="+mn-ea"/>
              </a:rPr>
              <a:t>Save pole figures created from 2D data and load them as measured pole figure together with other measured data</a:t>
            </a:r>
            <a:r>
              <a:rPr lang="ja-JP" altLang="en-US" sz="1800" dirty="0">
                <a:latin typeface="+mn-ea"/>
              </a:rPr>
              <a:t> </a:t>
            </a:r>
            <a:r>
              <a:rPr lang="en-US" altLang="ja-JP" sz="1800" dirty="0">
                <a:latin typeface="+mn-ea"/>
              </a:rPr>
              <a:t>(Laboratory request)</a:t>
            </a:r>
          </a:p>
          <a:p>
            <a:pPr marL="257175" indent="-257175">
              <a:buFont typeface="+mj-ea"/>
              <a:buAutoNum type="circleNumDbPlain"/>
            </a:pPr>
            <a:endParaRPr lang="en-US" altLang="ja-JP" sz="1800" dirty="0">
              <a:latin typeface="+mn-ea"/>
            </a:endParaRPr>
          </a:p>
        </p:txBody>
      </p:sp>
      <p:sp>
        <p:nvSpPr>
          <p:cNvPr id="2" name="タイトル 1">
            <a:extLst>
              <a:ext uri="{FF2B5EF4-FFF2-40B4-BE49-F238E27FC236}">
                <a16:creationId xmlns:a16="http://schemas.microsoft.com/office/drawing/2014/main" id="{D8648711-EDA8-40BB-842E-1A63A9B66FB3}"/>
              </a:ext>
            </a:extLst>
          </p:cNvPr>
          <p:cNvSpPr>
            <a:spLocks noGrp="1"/>
          </p:cNvSpPr>
          <p:nvPr>
            <p:ph type="title"/>
          </p:nvPr>
        </p:nvSpPr>
        <p:spPr/>
        <p:txBody>
          <a:bodyPr/>
          <a:lstStyle/>
          <a:p>
            <a:r>
              <a:rPr lang="en-US" altLang="ja-JP" sz="2100" dirty="0">
                <a:latin typeface="+mn-ea"/>
                <a:ea typeface="+mn-ea"/>
                <a:hlinkClick r:id="rId3"/>
              </a:rPr>
              <a:t>Texture: Save pole figures as </a:t>
            </a:r>
            <a:r>
              <a:rPr lang="en-US" altLang="ja-JP" sz="2100" dirty="0" err="1">
                <a:latin typeface="+mn-ea"/>
                <a:ea typeface="+mn-ea"/>
                <a:hlinkClick r:id="rId3"/>
              </a:rPr>
              <a:t>rasx</a:t>
            </a:r>
            <a:r>
              <a:rPr lang="en-US" altLang="ja-JP" sz="2100" dirty="0">
                <a:latin typeface="+mn-ea"/>
                <a:ea typeface="+mn-ea"/>
                <a:hlinkClick r:id="rId3"/>
              </a:rPr>
              <a:t> files</a:t>
            </a:r>
            <a:r>
              <a:rPr lang="ja-JP" altLang="en-US" sz="2100" dirty="0">
                <a:latin typeface="+mn-ea"/>
                <a:ea typeface="+mn-ea"/>
                <a:hlinkClick r:id="rId3"/>
              </a:rPr>
              <a:t> </a:t>
            </a:r>
            <a:r>
              <a:rPr lang="en-US" altLang="ja-JP" sz="2100" dirty="0">
                <a:latin typeface="+mn-ea"/>
                <a:ea typeface="+mn-ea"/>
                <a:hlinkClick r:id="rId3"/>
              </a:rPr>
              <a:t>(ver5.2)</a:t>
            </a:r>
            <a:endParaRPr lang="ja-JP" altLang="en-US" sz="2100" dirty="0">
              <a:latin typeface="+mn-ea"/>
              <a:ea typeface="+mn-ea"/>
            </a:endParaRPr>
          </a:p>
        </p:txBody>
      </p:sp>
      <p:pic>
        <p:nvPicPr>
          <p:cNvPr id="4" name="図 3">
            <a:extLst>
              <a:ext uri="{FF2B5EF4-FFF2-40B4-BE49-F238E27FC236}">
                <a16:creationId xmlns:a16="http://schemas.microsoft.com/office/drawing/2014/main" id="{2F9F111A-BD76-4E4C-B53E-600D0D75976D}"/>
              </a:ext>
            </a:extLst>
          </p:cNvPr>
          <p:cNvPicPr>
            <a:picLocks noChangeAspect="1"/>
          </p:cNvPicPr>
          <p:nvPr/>
        </p:nvPicPr>
        <p:blipFill>
          <a:blip r:embed="rId4"/>
          <a:stretch>
            <a:fillRect/>
          </a:stretch>
        </p:blipFill>
        <p:spPr>
          <a:xfrm>
            <a:off x="2580119" y="3335441"/>
            <a:ext cx="5762956" cy="2972534"/>
          </a:xfrm>
          <a:prstGeom prst="rect">
            <a:avLst/>
          </a:prstGeom>
          <a:ln>
            <a:solidFill>
              <a:srgbClr val="009CDE"/>
            </a:solidFill>
          </a:ln>
        </p:spPr>
      </p:pic>
    </p:spTree>
    <p:extLst>
      <p:ext uri="{BB962C8B-B14F-4D97-AF65-F5344CB8AC3E}">
        <p14:creationId xmlns:p14="http://schemas.microsoft.com/office/powerpoint/2010/main" val="2137596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9C64D-90AB-D2C1-3124-F82BA49EAD0F}"/>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95320B4D-70F5-0C31-E4B2-8494FCD0C9E7}"/>
              </a:ext>
            </a:extLst>
          </p:cNvPr>
          <p:cNvSpPr>
            <a:spLocks noGrp="1"/>
          </p:cNvSpPr>
          <p:nvPr>
            <p:ph idx="1"/>
          </p:nvPr>
        </p:nvSpPr>
        <p:spPr>
          <a:xfrm>
            <a:off x="628649" y="1918608"/>
            <a:ext cx="3260074" cy="4336418"/>
          </a:xfrm>
        </p:spPr>
        <p:txBody>
          <a:bodyPr>
            <a:normAutofit fontScale="92500" lnSpcReduction="10000"/>
          </a:bodyPr>
          <a:lstStyle/>
          <a:p>
            <a:pPr marL="0" indent="0">
              <a:buNone/>
            </a:pPr>
            <a:r>
              <a:rPr lang="en-US" altLang="ja-JP" sz="1800" dirty="0">
                <a:latin typeface="+mn-ea"/>
                <a:ea typeface="+mn-ea"/>
              </a:rPr>
              <a:t>ODF Copy all charts</a:t>
            </a:r>
          </a:p>
          <a:p>
            <a:pPr marL="0" indent="0">
              <a:buNone/>
            </a:pPr>
            <a:r>
              <a:rPr lang="en-US" altLang="ja-JP" sz="1800" dirty="0">
                <a:latin typeface="+mn-ea"/>
              </a:rPr>
              <a:t>Copy/Export all</a:t>
            </a:r>
            <a:r>
              <a:rPr lang="ja-JP" altLang="en-US" sz="1800" dirty="0">
                <a:latin typeface="+mn-ea"/>
              </a:rPr>
              <a:t> </a:t>
            </a:r>
            <a:r>
              <a:rPr lang="en-US" altLang="ja-JP" sz="1800" dirty="0">
                <a:latin typeface="+mn-ea"/>
              </a:rPr>
              <a:t>ODF in one image</a:t>
            </a:r>
          </a:p>
          <a:p>
            <a:pPr marL="0" indent="0">
              <a:buNone/>
            </a:pPr>
            <a:endParaRPr lang="en-US" altLang="ja-JP" sz="1350" dirty="0">
              <a:latin typeface="+mn-ea"/>
            </a:endParaRPr>
          </a:p>
          <a:p>
            <a:pPr marL="0" indent="0">
              <a:buNone/>
            </a:pPr>
            <a:endParaRPr lang="en-US" altLang="ja-JP" sz="1350" dirty="0">
              <a:latin typeface="+mn-ea"/>
            </a:endParaRPr>
          </a:p>
          <a:p>
            <a:pPr marL="0" indent="0">
              <a:buNone/>
            </a:pPr>
            <a:endParaRPr lang="en-US" altLang="ja-JP" sz="1350" dirty="0">
              <a:latin typeface="+mn-ea"/>
            </a:endParaRPr>
          </a:p>
          <a:p>
            <a:pPr marL="0" indent="0">
              <a:buNone/>
            </a:pPr>
            <a:endParaRPr lang="en-US" altLang="ja-JP" sz="1350" dirty="0">
              <a:latin typeface="+mn-ea"/>
            </a:endParaRPr>
          </a:p>
          <a:p>
            <a:pPr marL="0" indent="0">
              <a:buNone/>
            </a:pPr>
            <a:endParaRPr lang="en-US" altLang="ja-JP" sz="1350" dirty="0">
              <a:latin typeface="+mn-ea"/>
            </a:endParaRPr>
          </a:p>
          <a:p>
            <a:pPr marL="0" indent="0">
              <a:buNone/>
            </a:pPr>
            <a:endParaRPr lang="en-US" altLang="ja-JP" sz="1350" dirty="0">
              <a:latin typeface="+mn-ea"/>
            </a:endParaRPr>
          </a:p>
          <a:p>
            <a:pPr marL="0" indent="0">
              <a:buNone/>
            </a:pPr>
            <a:endParaRPr lang="en-US" altLang="ja-JP" sz="1350" dirty="0">
              <a:latin typeface="+mn-ea"/>
            </a:endParaRPr>
          </a:p>
          <a:p>
            <a:pPr marL="0" indent="0">
              <a:buNone/>
            </a:pPr>
            <a:endParaRPr lang="en-US" altLang="ja-JP" sz="1350" dirty="0">
              <a:latin typeface="+mn-ea"/>
            </a:endParaRPr>
          </a:p>
          <a:p>
            <a:pPr marL="0" indent="0">
              <a:buNone/>
            </a:pPr>
            <a:r>
              <a:rPr lang="en-US" altLang="ja-JP" sz="1800" dirty="0">
                <a:latin typeface="+mn-ea"/>
              </a:rPr>
              <a:t>Function to specify the number of ODF charts in horizontal direction</a:t>
            </a:r>
          </a:p>
          <a:p>
            <a:pPr marL="257175" indent="-257175">
              <a:buFont typeface="+mj-ea"/>
              <a:buAutoNum type="circleNumDbPlain"/>
            </a:pPr>
            <a:endParaRPr lang="en-US" altLang="ja-JP" sz="1500" dirty="0">
              <a:latin typeface="+mn-ea"/>
            </a:endParaRPr>
          </a:p>
        </p:txBody>
      </p:sp>
      <p:sp>
        <p:nvSpPr>
          <p:cNvPr id="2" name="タイトル 1">
            <a:extLst>
              <a:ext uri="{FF2B5EF4-FFF2-40B4-BE49-F238E27FC236}">
                <a16:creationId xmlns:a16="http://schemas.microsoft.com/office/drawing/2014/main" id="{593EBB53-D38A-4EFD-9036-267653298490}"/>
              </a:ext>
            </a:extLst>
          </p:cNvPr>
          <p:cNvSpPr>
            <a:spLocks noGrp="1"/>
          </p:cNvSpPr>
          <p:nvPr>
            <p:ph type="title"/>
          </p:nvPr>
        </p:nvSpPr>
        <p:spPr/>
        <p:txBody>
          <a:bodyPr/>
          <a:lstStyle/>
          <a:p>
            <a:r>
              <a:rPr lang="en-US" altLang="ja-JP" sz="2100" dirty="0">
                <a:latin typeface="+mn-ea"/>
                <a:ea typeface="+mn-ea"/>
              </a:rPr>
              <a:t>Texture: ODF Copy all charts/Specify number of column (ver5.2)</a:t>
            </a:r>
            <a:endParaRPr lang="ja-JP" altLang="en-US" sz="2100" dirty="0">
              <a:latin typeface="+mn-ea"/>
              <a:ea typeface="+mn-ea"/>
            </a:endParaRPr>
          </a:p>
        </p:txBody>
      </p:sp>
      <p:pic>
        <p:nvPicPr>
          <p:cNvPr id="8" name="図 7">
            <a:extLst>
              <a:ext uri="{FF2B5EF4-FFF2-40B4-BE49-F238E27FC236}">
                <a16:creationId xmlns:a16="http://schemas.microsoft.com/office/drawing/2014/main" id="{FE00DDB0-18E6-B9C9-7B38-8F1920CB518C}"/>
              </a:ext>
            </a:extLst>
          </p:cNvPr>
          <p:cNvPicPr>
            <a:picLocks noChangeAspect="1"/>
          </p:cNvPicPr>
          <p:nvPr/>
        </p:nvPicPr>
        <p:blipFill>
          <a:blip r:embed="rId3"/>
          <a:stretch>
            <a:fillRect/>
          </a:stretch>
        </p:blipFill>
        <p:spPr>
          <a:xfrm>
            <a:off x="3888723" y="1918608"/>
            <a:ext cx="5114353" cy="3596982"/>
          </a:xfrm>
          <a:prstGeom prst="rect">
            <a:avLst/>
          </a:prstGeom>
          <a:ln>
            <a:solidFill>
              <a:srgbClr val="00B0F0"/>
            </a:solidFill>
          </a:ln>
        </p:spPr>
      </p:pic>
      <p:sp>
        <p:nvSpPr>
          <p:cNvPr id="9" name="正方形/長方形 8">
            <a:extLst>
              <a:ext uri="{FF2B5EF4-FFF2-40B4-BE49-F238E27FC236}">
                <a16:creationId xmlns:a16="http://schemas.microsoft.com/office/drawing/2014/main" id="{11160A6A-CE62-A7EC-0A7F-763A40C7F2F3}"/>
              </a:ext>
            </a:extLst>
          </p:cNvPr>
          <p:cNvSpPr/>
          <p:nvPr/>
        </p:nvSpPr>
        <p:spPr>
          <a:xfrm>
            <a:off x="7500730" y="2080591"/>
            <a:ext cx="1298713" cy="23853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B52D4C4D-AC6B-C052-764D-7D279B5E154B}"/>
              </a:ext>
            </a:extLst>
          </p:cNvPr>
          <p:cNvSpPr/>
          <p:nvPr/>
        </p:nvSpPr>
        <p:spPr>
          <a:xfrm>
            <a:off x="7216637" y="5277051"/>
            <a:ext cx="1298713" cy="23853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ABB38627-F8B2-D8E4-CAF7-C248C70FEC45}"/>
              </a:ext>
            </a:extLst>
          </p:cNvPr>
          <p:cNvPicPr>
            <a:picLocks noChangeAspect="1"/>
          </p:cNvPicPr>
          <p:nvPr/>
        </p:nvPicPr>
        <p:blipFill>
          <a:blip r:embed="rId4"/>
          <a:stretch>
            <a:fillRect/>
          </a:stretch>
        </p:blipFill>
        <p:spPr>
          <a:xfrm>
            <a:off x="1328484" y="3088192"/>
            <a:ext cx="2165280" cy="1900818"/>
          </a:xfrm>
          <a:prstGeom prst="rect">
            <a:avLst/>
          </a:prstGeom>
          <a:ln>
            <a:solidFill>
              <a:srgbClr val="00B0F0"/>
            </a:solidFill>
          </a:ln>
        </p:spPr>
      </p:pic>
    </p:spTree>
    <p:extLst>
      <p:ext uri="{BB962C8B-B14F-4D97-AF65-F5344CB8AC3E}">
        <p14:creationId xmlns:p14="http://schemas.microsoft.com/office/powerpoint/2010/main" val="488184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E9C8D12-64A4-45E8-BDDF-D427249718F6}"/>
              </a:ext>
            </a:extLst>
          </p:cNvPr>
          <p:cNvSpPr>
            <a:spLocks noGrp="1"/>
          </p:cNvSpPr>
          <p:nvPr>
            <p:ph idx="1"/>
          </p:nvPr>
        </p:nvSpPr>
        <p:spPr>
          <a:xfrm>
            <a:off x="628649" y="1628775"/>
            <a:ext cx="7303496" cy="4010025"/>
          </a:xfrm>
        </p:spPr>
        <p:txBody>
          <a:bodyPr>
            <a:normAutofit/>
          </a:bodyPr>
          <a:lstStyle/>
          <a:p>
            <a:pPr>
              <a:buFont typeface="Wingdings" panose="05000000000000000000" pitchFamily="2" charset="2"/>
              <a:buChar char="Ø"/>
            </a:pPr>
            <a:r>
              <a:rPr lang="en-US" altLang="ja-JP" sz="1800" dirty="0">
                <a:hlinkClick r:id="rId3"/>
              </a:rPr>
              <a:t>Save peak search conditions </a:t>
            </a:r>
            <a:r>
              <a:rPr lang="en-US" altLang="ja-JP" sz="1800" dirty="0"/>
              <a:t>/ Include Peak List in Report</a:t>
            </a:r>
          </a:p>
          <a:p>
            <a:pPr>
              <a:buFont typeface="Wingdings" panose="05000000000000000000" pitchFamily="2" charset="2"/>
              <a:buChar char="Ø"/>
            </a:pPr>
            <a:r>
              <a:rPr lang="en-US" altLang="ja-JP" sz="1800" dirty="0"/>
              <a:t>Orthogonal extrapolation of</a:t>
            </a:r>
            <a:br>
              <a:rPr lang="en-US" altLang="ja-JP" sz="1800" dirty="0"/>
            </a:br>
            <a:r>
              <a:rPr lang="en-US" altLang="ja-JP" sz="1800" dirty="0"/>
              <a:t>1/4-PF to make complete PF</a:t>
            </a:r>
          </a:p>
          <a:p>
            <a:pPr marL="0" indent="0">
              <a:buNone/>
            </a:pPr>
            <a:endParaRPr lang="en-US" altLang="ja-JP" sz="1800" dirty="0">
              <a:latin typeface="+mn-ea"/>
            </a:endParaRPr>
          </a:p>
        </p:txBody>
      </p:sp>
      <p:sp>
        <p:nvSpPr>
          <p:cNvPr id="2" name="タイトル 1">
            <a:extLst>
              <a:ext uri="{FF2B5EF4-FFF2-40B4-BE49-F238E27FC236}">
                <a16:creationId xmlns:a16="http://schemas.microsoft.com/office/drawing/2014/main" id="{D8648711-EDA8-40BB-842E-1A63A9B66FB3}"/>
              </a:ext>
            </a:extLst>
          </p:cNvPr>
          <p:cNvSpPr>
            <a:spLocks noGrp="1"/>
          </p:cNvSpPr>
          <p:nvPr>
            <p:ph type="title"/>
          </p:nvPr>
        </p:nvSpPr>
        <p:spPr/>
        <p:txBody>
          <a:bodyPr/>
          <a:lstStyle/>
          <a:p>
            <a:r>
              <a:rPr lang="en-US" altLang="ja-JP" sz="2100" dirty="0">
                <a:latin typeface="+mn-ea"/>
                <a:ea typeface="+mn-ea"/>
              </a:rPr>
              <a:t>Texture </a:t>
            </a:r>
            <a:endParaRPr lang="ja-JP" altLang="en-US" sz="2100" dirty="0">
              <a:latin typeface="+mn-ea"/>
              <a:ea typeface="+mn-ea"/>
            </a:endParaRPr>
          </a:p>
        </p:txBody>
      </p:sp>
      <p:pic>
        <p:nvPicPr>
          <p:cNvPr id="6" name="図 5">
            <a:extLst>
              <a:ext uri="{FF2B5EF4-FFF2-40B4-BE49-F238E27FC236}">
                <a16:creationId xmlns:a16="http://schemas.microsoft.com/office/drawing/2014/main" id="{F9B15A1F-F907-8B76-F286-C2CBA904C84D}"/>
              </a:ext>
            </a:extLst>
          </p:cNvPr>
          <p:cNvPicPr>
            <a:picLocks noChangeAspect="1"/>
          </p:cNvPicPr>
          <p:nvPr/>
        </p:nvPicPr>
        <p:blipFill>
          <a:blip r:embed="rId4"/>
          <a:stretch>
            <a:fillRect/>
          </a:stretch>
        </p:blipFill>
        <p:spPr>
          <a:xfrm>
            <a:off x="4380821" y="2192757"/>
            <a:ext cx="3877216" cy="3877216"/>
          </a:xfrm>
          <a:prstGeom prst="rect">
            <a:avLst/>
          </a:prstGeom>
          <a:ln>
            <a:solidFill>
              <a:schemeClr val="accent1"/>
            </a:solidFill>
          </a:ln>
        </p:spPr>
      </p:pic>
    </p:spTree>
    <p:extLst>
      <p:ext uri="{BB962C8B-B14F-4D97-AF65-F5344CB8AC3E}">
        <p14:creationId xmlns:p14="http://schemas.microsoft.com/office/powerpoint/2010/main" val="2084998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97196-F08D-5552-2AC2-1998C437B1F3}"/>
            </a:ext>
          </a:extLst>
        </p:cNvPr>
        <p:cNvGrpSpPr/>
        <p:nvPr/>
      </p:nvGrpSpPr>
      <p:grpSpPr>
        <a:xfrm>
          <a:off x="0" y="0"/>
          <a:ext cx="0" cy="0"/>
          <a:chOff x="0" y="0"/>
          <a:chExt cx="0" cy="0"/>
        </a:xfrm>
      </p:grpSpPr>
      <p:pic>
        <p:nvPicPr>
          <p:cNvPr id="10" name="図 9">
            <a:extLst>
              <a:ext uri="{FF2B5EF4-FFF2-40B4-BE49-F238E27FC236}">
                <a16:creationId xmlns:a16="http://schemas.microsoft.com/office/drawing/2014/main" id="{76D56E5D-3062-D672-1515-F49E91D69243}"/>
              </a:ext>
            </a:extLst>
          </p:cNvPr>
          <p:cNvPicPr>
            <a:picLocks noChangeAspect="1"/>
          </p:cNvPicPr>
          <p:nvPr/>
        </p:nvPicPr>
        <p:blipFill>
          <a:blip r:embed="rId3"/>
          <a:stretch>
            <a:fillRect/>
          </a:stretch>
        </p:blipFill>
        <p:spPr>
          <a:xfrm>
            <a:off x="808383" y="2650435"/>
            <a:ext cx="4520004" cy="3286688"/>
          </a:xfrm>
          <a:prstGeom prst="rect">
            <a:avLst/>
          </a:prstGeom>
          <a:ln>
            <a:solidFill>
              <a:schemeClr val="accent1"/>
            </a:solidFill>
          </a:ln>
        </p:spPr>
      </p:pic>
      <p:sp>
        <p:nvSpPr>
          <p:cNvPr id="3" name="コンテンツ プレースホルダー 2">
            <a:extLst>
              <a:ext uri="{FF2B5EF4-FFF2-40B4-BE49-F238E27FC236}">
                <a16:creationId xmlns:a16="http://schemas.microsoft.com/office/drawing/2014/main" id="{01A2AA14-FC86-C138-0F3E-06AB3A66A373}"/>
              </a:ext>
            </a:extLst>
          </p:cNvPr>
          <p:cNvSpPr>
            <a:spLocks noGrp="1"/>
          </p:cNvSpPr>
          <p:nvPr>
            <p:ph idx="1"/>
          </p:nvPr>
        </p:nvSpPr>
        <p:spPr>
          <a:xfrm>
            <a:off x="628649" y="1628775"/>
            <a:ext cx="4075873" cy="4010025"/>
          </a:xfrm>
        </p:spPr>
        <p:txBody>
          <a:bodyPr>
            <a:normAutofit/>
          </a:bodyPr>
          <a:lstStyle/>
          <a:p>
            <a:pPr marL="0" indent="0">
              <a:buNone/>
            </a:pPr>
            <a:r>
              <a:rPr lang="en-US" altLang="ja-JP" sz="1800" dirty="0">
                <a:latin typeface="+mn-ea"/>
              </a:rPr>
              <a:t>Plot for external parameters</a:t>
            </a:r>
          </a:p>
          <a:p>
            <a:pPr marL="0" indent="0">
              <a:buNone/>
            </a:pPr>
            <a:r>
              <a:rPr lang="en-US" altLang="ja-JP" sz="1800" dirty="0">
                <a:latin typeface="+mn-ea"/>
              </a:rPr>
              <a:t>Gas adsorption: V/ml vs Pe/kPa</a:t>
            </a:r>
            <a:endParaRPr lang="en-US" altLang="ja-JP" sz="1800" dirty="0"/>
          </a:p>
          <a:p>
            <a:pPr marL="0" indent="0">
              <a:buNone/>
            </a:pPr>
            <a:endParaRPr lang="en-US" altLang="ja-JP" sz="1800" dirty="0">
              <a:latin typeface="+mn-ea"/>
            </a:endParaRPr>
          </a:p>
        </p:txBody>
      </p:sp>
      <p:sp>
        <p:nvSpPr>
          <p:cNvPr id="2" name="タイトル 1">
            <a:extLst>
              <a:ext uri="{FF2B5EF4-FFF2-40B4-BE49-F238E27FC236}">
                <a16:creationId xmlns:a16="http://schemas.microsoft.com/office/drawing/2014/main" id="{A20A347F-D6F6-9213-3B33-068DADFA8EDE}"/>
              </a:ext>
            </a:extLst>
          </p:cNvPr>
          <p:cNvSpPr>
            <a:spLocks noGrp="1"/>
          </p:cNvSpPr>
          <p:nvPr>
            <p:ph type="title"/>
          </p:nvPr>
        </p:nvSpPr>
        <p:spPr/>
        <p:txBody>
          <a:bodyPr/>
          <a:lstStyle/>
          <a:p>
            <a:r>
              <a:rPr lang="en-US" altLang="ja-JP" sz="2100" dirty="0">
                <a:latin typeface="+mn-ea"/>
                <a:ea typeface="+mn-ea"/>
                <a:hlinkClick r:id="rId4"/>
              </a:rPr>
              <a:t>Data Visualization: Plot for external parameters</a:t>
            </a:r>
            <a:r>
              <a:rPr lang="ja-JP" altLang="en-US" sz="2100" dirty="0">
                <a:latin typeface="+mn-ea"/>
                <a:ea typeface="+mn-ea"/>
                <a:hlinkClick r:id="rId4"/>
              </a:rPr>
              <a:t> </a:t>
            </a:r>
            <a:r>
              <a:rPr lang="en-US" altLang="ja-JP" sz="2100" dirty="0">
                <a:latin typeface="+mn-ea"/>
                <a:ea typeface="+mn-ea"/>
                <a:hlinkClick r:id="rId4"/>
              </a:rPr>
              <a:t>(v5.2)</a:t>
            </a:r>
            <a:br>
              <a:rPr lang="ja-JP" altLang="en-US" sz="2100" dirty="0">
                <a:latin typeface="+mn-ea"/>
                <a:ea typeface="+mn-ea"/>
              </a:rPr>
            </a:br>
            <a:endParaRPr lang="ja-JP" altLang="en-US" sz="2100" dirty="0">
              <a:latin typeface="+mn-ea"/>
              <a:ea typeface="+mn-ea"/>
            </a:endParaRPr>
          </a:p>
        </p:txBody>
      </p:sp>
      <p:pic>
        <p:nvPicPr>
          <p:cNvPr id="8" name="図 7">
            <a:extLst>
              <a:ext uri="{FF2B5EF4-FFF2-40B4-BE49-F238E27FC236}">
                <a16:creationId xmlns:a16="http://schemas.microsoft.com/office/drawing/2014/main" id="{578EEF4F-1282-5D14-EAE9-CF962B112109}"/>
              </a:ext>
            </a:extLst>
          </p:cNvPr>
          <p:cNvPicPr>
            <a:picLocks noChangeAspect="1"/>
          </p:cNvPicPr>
          <p:nvPr/>
        </p:nvPicPr>
        <p:blipFill>
          <a:blip r:embed="rId5"/>
          <a:stretch>
            <a:fillRect/>
          </a:stretch>
        </p:blipFill>
        <p:spPr>
          <a:xfrm>
            <a:off x="4884256" y="2190584"/>
            <a:ext cx="3809330" cy="3746539"/>
          </a:xfrm>
          <a:prstGeom prst="rect">
            <a:avLst/>
          </a:prstGeom>
          <a:ln>
            <a:solidFill>
              <a:schemeClr val="accent1"/>
            </a:solidFill>
          </a:ln>
        </p:spPr>
      </p:pic>
    </p:spTree>
    <p:extLst>
      <p:ext uri="{BB962C8B-B14F-4D97-AF65-F5344CB8AC3E}">
        <p14:creationId xmlns:p14="http://schemas.microsoft.com/office/powerpoint/2010/main" val="2461953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E9C8D12-64A4-45E8-BDDF-D427249718F6}"/>
              </a:ext>
            </a:extLst>
          </p:cNvPr>
          <p:cNvSpPr>
            <a:spLocks noGrp="1"/>
          </p:cNvSpPr>
          <p:nvPr>
            <p:ph idx="1"/>
          </p:nvPr>
        </p:nvSpPr>
        <p:spPr>
          <a:xfrm>
            <a:off x="628650" y="1690008"/>
            <a:ext cx="3700183" cy="3572764"/>
          </a:xfrm>
        </p:spPr>
        <p:txBody>
          <a:bodyPr>
            <a:normAutofit/>
          </a:bodyPr>
          <a:lstStyle/>
          <a:p>
            <a:pPr marL="0" indent="0">
              <a:buNone/>
            </a:pPr>
            <a:r>
              <a:rPr lang="en-US" altLang="ja-JP" sz="1800" dirty="0">
                <a:latin typeface="+mn-ea"/>
              </a:rPr>
              <a:t>TXS</a:t>
            </a:r>
          </a:p>
          <a:p>
            <a:r>
              <a:rPr lang="en-US" altLang="ja-JP" sz="1800" dirty="0">
                <a:latin typeface="+mn-ea"/>
              </a:rPr>
              <a:t>Rietveld analysis integration</a:t>
            </a:r>
            <a:br>
              <a:rPr lang="en-US" altLang="ja-JP" sz="1800" dirty="0">
                <a:latin typeface="+mn-ea"/>
              </a:rPr>
            </a:br>
            <a:r>
              <a:rPr lang="ja-JP" altLang="en-US" sz="1800" dirty="0">
                <a:latin typeface="+mn-ea"/>
              </a:rPr>
              <a:t>＊</a:t>
            </a:r>
            <a:r>
              <a:rPr lang="en-US" altLang="ja-JP" sz="1800" dirty="0">
                <a:latin typeface="+mn-ea"/>
              </a:rPr>
              <a:t>Function to perform Rietveld refinement before RMC</a:t>
            </a:r>
            <a:br>
              <a:rPr lang="en-US" altLang="ja-JP" sz="1800" dirty="0">
                <a:latin typeface="+mn-ea"/>
              </a:rPr>
            </a:br>
            <a:r>
              <a:rPr lang="ja-JP" altLang="en-US" sz="1800" dirty="0">
                <a:latin typeface="+mn-ea"/>
              </a:rPr>
              <a:t>（</a:t>
            </a:r>
            <a:r>
              <a:rPr lang="en-US" altLang="ja-JP" sz="1800" dirty="0">
                <a:latin typeface="+mn-ea"/>
              </a:rPr>
              <a:t>Powder XRD solution after refinement and its CIF file are saved</a:t>
            </a:r>
            <a:r>
              <a:rPr lang="ja-JP" altLang="en-US" sz="1800" dirty="0">
                <a:latin typeface="+mn-ea"/>
              </a:rPr>
              <a:t>）</a:t>
            </a:r>
            <a:endParaRPr lang="en-US" altLang="ja-JP" sz="1800" dirty="0">
              <a:latin typeface="+mn-ea"/>
            </a:endParaRPr>
          </a:p>
          <a:p>
            <a:pPr marL="0" indent="0">
              <a:buNone/>
            </a:pPr>
            <a:endParaRPr lang="en-US" altLang="ja-JP" sz="1500" dirty="0">
              <a:latin typeface="+mn-ea"/>
            </a:endParaRPr>
          </a:p>
        </p:txBody>
      </p:sp>
      <p:sp>
        <p:nvSpPr>
          <p:cNvPr id="2" name="タイトル 1">
            <a:extLst>
              <a:ext uri="{FF2B5EF4-FFF2-40B4-BE49-F238E27FC236}">
                <a16:creationId xmlns:a16="http://schemas.microsoft.com/office/drawing/2014/main" id="{D8648711-EDA8-40BB-842E-1A63A9B66FB3}"/>
              </a:ext>
            </a:extLst>
          </p:cNvPr>
          <p:cNvSpPr>
            <a:spLocks noGrp="1"/>
          </p:cNvSpPr>
          <p:nvPr>
            <p:ph type="title"/>
          </p:nvPr>
        </p:nvSpPr>
        <p:spPr/>
        <p:txBody>
          <a:bodyPr/>
          <a:lstStyle/>
          <a:p>
            <a:r>
              <a:rPr lang="en-US" altLang="ja-JP" sz="2100" dirty="0">
                <a:latin typeface="+mn-ea"/>
                <a:hlinkClick r:id="rId3"/>
              </a:rPr>
              <a:t>TXS: Rietveld analysis integration (ver5.2)</a:t>
            </a:r>
            <a:endParaRPr lang="ja-JP" altLang="en-US" sz="2100" dirty="0">
              <a:latin typeface="+mn-ea"/>
              <a:ea typeface="+mn-ea"/>
            </a:endParaRPr>
          </a:p>
        </p:txBody>
      </p:sp>
      <p:sp>
        <p:nvSpPr>
          <p:cNvPr id="7" name="テキスト ボックス 6">
            <a:extLst>
              <a:ext uri="{FF2B5EF4-FFF2-40B4-BE49-F238E27FC236}">
                <a16:creationId xmlns:a16="http://schemas.microsoft.com/office/drawing/2014/main" id="{34E80A48-B072-3E65-FE05-6285BF651F88}"/>
              </a:ext>
            </a:extLst>
          </p:cNvPr>
          <p:cNvSpPr txBox="1"/>
          <p:nvPr/>
        </p:nvSpPr>
        <p:spPr>
          <a:xfrm>
            <a:off x="4328834" y="5167993"/>
            <a:ext cx="4001057" cy="369332"/>
          </a:xfrm>
          <a:prstGeom prst="rect">
            <a:avLst/>
          </a:prstGeom>
          <a:noFill/>
          <a:ln>
            <a:solidFill>
              <a:schemeClr val="accent1"/>
            </a:solidFill>
          </a:ln>
        </p:spPr>
        <p:txBody>
          <a:bodyPr wrap="square" rtlCol="0">
            <a:spAutoFit/>
          </a:bodyPr>
          <a:lstStyle/>
          <a:p>
            <a:pPr algn="ctr"/>
            <a:r>
              <a:rPr kumimoji="1" lang="en-US" altLang="ja-JP" dirty="0"/>
              <a:t>Rietveld integration</a:t>
            </a:r>
            <a:endParaRPr kumimoji="1" lang="ja-JP" altLang="en-US" dirty="0"/>
          </a:p>
        </p:txBody>
      </p:sp>
      <p:pic>
        <p:nvPicPr>
          <p:cNvPr id="4" name="図 3">
            <a:extLst>
              <a:ext uri="{FF2B5EF4-FFF2-40B4-BE49-F238E27FC236}">
                <a16:creationId xmlns:a16="http://schemas.microsoft.com/office/drawing/2014/main" id="{A5835D78-4569-4E02-90EC-0ADB2A90DEEE}"/>
              </a:ext>
            </a:extLst>
          </p:cNvPr>
          <p:cNvPicPr>
            <a:picLocks noChangeAspect="1"/>
          </p:cNvPicPr>
          <p:nvPr/>
        </p:nvPicPr>
        <p:blipFill>
          <a:blip r:embed="rId4"/>
          <a:stretch>
            <a:fillRect/>
          </a:stretch>
        </p:blipFill>
        <p:spPr>
          <a:xfrm>
            <a:off x="4328834" y="1631343"/>
            <a:ext cx="4001058" cy="3536650"/>
          </a:xfrm>
          <a:prstGeom prst="rect">
            <a:avLst/>
          </a:prstGeom>
          <a:ln>
            <a:solidFill>
              <a:srgbClr val="009CDE"/>
            </a:solidFill>
          </a:ln>
        </p:spPr>
      </p:pic>
    </p:spTree>
    <p:extLst>
      <p:ext uri="{BB962C8B-B14F-4D97-AF65-F5344CB8AC3E}">
        <p14:creationId xmlns:p14="http://schemas.microsoft.com/office/powerpoint/2010/main" val="15379404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7BD5B-059A-65ED-58BB-29970A6FF1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05F2568-1AE7-94D7-61A8-91662A21550C}"/>
              </a:ext>
            </a:extLst>
          </p:cNvPr>
          <p:cNvSpPr>
            <a:spLocks noGrp="1"/>
          </p:cNvSpPr>
          <p:nvPr>
            <p:ph type="title"/>
          </p:nvPr>
        </p:nvSpPr>
        <p:spPr/>
        <p:txBody>
          <a:bodyPr>
            <a:noAutofit/>
          </a:bodyPr>
          <a:lstStyle/>
          <a:p>
            <a:r>
              <a:rPr lang="en-US" altLang="ja-JP" sz="2100" dirty="0">
                <a:latin typeface="+mn-ea"/>
              </a:rPr>
              <a:t>XRD Measurement: χ Expand functionality improvement</a:t>
            </a:r>
            <a:endParaRPr lang="ja-JP" altLang="en-US" sz="2100" dirty="0"/>
          </a:p>
        </p:txBody>
      </p:sp>
      <p:sp>
        <p:nvSpPr>
          <p:cNvPr id="4" name="スライド番号プレースホルダー 3">
            <a:extLst>
              <a:ext uri="{FF2B5EF4-FFF2-40B4-BE49-F238E27FC236}">
                <a16:creationId xmlns:a16="http://schemas.microsoft.com/office/drawing/2014/main" id="{33F0A45B-1C96-1080-0598-9616F0A902E7}"/>
              </a:ext>
            </a:extLst>
          </p:cNvPr>
          <p:cNvSpPr>
            <a:spLocks noGrp="1"/>
          </p:cNvSpPr>
          <p:nvPr>
            <p:ph type="sldNum" sz="quarter" idx="12"/>
          </p:nvPr>
        </p:nvSpPr>
        <p:spPr/>
        <p:txBody>
          <a:bodyPr/>
          <a:lstStyle/>
          <a:p>
            <a:pPr defTabSz="685800">
              <a:defRPr/>
            </a:pPr>
            <a:fld id="{D44D3F4E-7F9B-4AD4-ADA0-3F21E9F7E4F4}" type="slidenum">
              <a:rPr lang="en-US">
                <a:solidFill>
                  <a:srgbClr val="FFFFFF"/>
                </a:solidFill>
                <a:latin typeface="Segoe UI Semilight"/>
                <a:ea typeface="メイリオ"/>
              </a:rPr>
              <a:pPr defTabSz="685800">
                <a:defRPr/>
              </a:pPr>
              <a:t>29</a:t>
            </a:fld>
            <a:endParaRPr lang="en-US">
              <a:solidFill>
                <a:srgbClr val="FFFFFF"/>
              </a:solidFill>
              <a:latin typeface="Segoe UI Semilight"/>
              <a:ea typeface="メイリオ"/>
            </a:endParaRPr>
          </a:p>
        </p:txBody>
      </p:sp>
      <p:sp>
        <p:nvSpPr>
          <p:cNvPr id="5" name="フッター プレースホルダー 4">
            <a:extLst>
              <a:ext uri="{FF2B5EF4-FFF2-40B4-BE49-F238E27FC236}">
                <a16:creationId xmlns:a16="http://schemas.microsoft.com/office/drawing/2014/main" id="{51BC0A06-9095-CBCB-BF54-5FA017882B1E}"/>
              </a:ext>
            </a:extLst>
          </p:cNvPr>
          <p:cNvSpPr>
            <a:spLocks noGrp="1"/>
          </p:cNvSpPr>
          <p:nvPr>
            <p:ph type="ftr" sz="quarter" idx="11"/>
          </p:nvPr>
        </p:nvSpPr>
        <p:spPr/>
        <p:txBody>
          <a:bodyPr/>
          <a:lstStyle/>
          <a:p>
            <a:pPr>
              <a:defRPr/>
            </a:pPr>
            <a:r>
              <a:rPr kumimoji="0" lang="en-US">
                <a:solidFill>
                  <a:srgbClr val="FFFFFF"/>
                </a:solidFill>
              </a:rPr>
              <a:t>© 2021 Rigaku Corporation. All rights reserved</a:t>
            </a:r>
            <a:endParaRPr kumimoji="0" lang="en-US" dirty="0">
              <a:solidFill>
                <a:srgbClr val="FFFFFF"/>
              </a:solidFill>
            </a:endParaRPr>
          </a:p>
        </p:txBody>
      </p:sp>
      <p:sp>
        <p:nvSpPr>
          <p:cNvPr id="7" name="コンテンツ プレースホルダー 2">
            <a:extLst>
              <a:ext uri="{FF2B5EF4-FFF2-40B4-BE49-F238E27FC236}">
                <a16:creationId xmlns:a16="http://schemas.microsoft.com/office/drawing/2014/main" id="{F578361D-61A4-E6C1-4E6B-7C69920393D3}"/>
              </a:ext>
            </a:extLst>
          </p:cNvPr>
          <p:cNvSpPr>
            <a:spLocks noGrp="1"/>
          </p:cNvSpPr>
          <p:nvPr>
            <p:ph idx="1"/>
          </p:nvPr>
        </p:nvSpPr>
        <p:spPr>
          <a:xfrm>
            <a:off x="628651" y="1471374"/>
            <a:ext cx="7402829" cy="3915251"/>
          </a:xfrm>
        </p:spPr>
        <p:txBody>
          <a:bodyPr>
            <a:normAutofit/>
          </a:bodyPr>
          <a:lstStyle/>
          <a:p>
            <a:r>
              <a:rPr lang="en-US" altLang="ja-JP" sz="1800" dirty="0"/>
              <a:t>Function to convert χ Expanded image to RSM</a:t>
            </a:r>
          </a:p>
          <a:p>
            <a:r>
              <a:rPr lang="en-US" altLang="ja-JP" sz="1800" dirty="0"/>
              <a:t>Allow to select </a:t>
            </a:r>
            <a:r>
              <a:rPr lang="en-US" altLang="ja-JP" sz="1800" dirty="0" err="1"/>
              <a:t>Qxy</a:t>
            </a:r>
            <a:r>
              <a:rPr lang="en-US" altLang="ja-JP" sz="1800" dirty="0"/>
              <a:t> definition on χ Expand</a:t>
            </a:r>
          </a:p>
        </p:txBody>
      </p:sp>
      <p:sp>
        <p:nvSpPr>
          <p:cNvPr id="9" name="テキスト ボックス 8">
            <a:extLst>
              <a:ext uri="{FF2B5EF4-FFF2-40B4-BE49-F238E27FC236}">
                <a16:creationId xmlns:a16="http://schemas.microsoft.com/office/drawing/2014/main" id="{A08857A8-AEC5-0D69-B318-86B05D927897}"/>
              </a:ext>
            </a:extLst>
          </p:cNvPr>
          <p:cNvSpPr txBox="1"/>
          <p:nvPr/>
        </p:nvSpPr>
        <p:spPr>
          <a:xfrm>
            <a:off x="5798702" y="1990224"/>
            <a:ext cx="3054626" cy="307777"/>
          </a:xfrm>
          <a:prstGeom prst="rect">
            <a:avLst/>
          </a:prstGeom>
          <a:noFill/>
          <a:ln>
            <a:solidFill>
              <a:schemeClr val="accent1"/>
            </a:solidFill>
          </a:ln>
        </p:spPr>
        <p:txBody>
          <a:bodyPr wrap="square">
            <a:spAutoFit/>
          </a:bodyPr>
          <a:lstStyle/>
          <a:p>
            <a:pPr marL="0" indent="0">
              <a:buNone/>
            </a:pPr>
            <a:r>
              <a:rPr lang="en-US" altLang="ja-JP" sz="1400" dirty="0">
                <a:latin typeface="+mn-ea"/>
              </a:rPr>
              <a:t>GI-WAXS Q coordinate v5.2.mp4</a:t>
            </a:r>
          </a:p>
        </p:txBody>
      </p:sp>
      <p:pic>
        <p:nvPicPr>
          <p:cNvPr id="6" name="GI-WAXS Q coordinate v5.2">
            <a:hlinkClick r:id="" action="ppaction://media"/>
            <a:extLst>
              <a:ext uri="{FF2B5EF4-FFF2-40B4-BE49-F238E27FC236}">
                <a16:creationId xmlns:a16="http://schemas.microsoft.com/office/drawing/2014/main" id="{E183EF4C-B8B0-731A-1D79-3A9A0259DC1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2505456" y="2277057"/>
            <a:ext cx="6313808" cy="4071091"/>
          </a:xfrm>
          <a:prstGeom prst="rect">
            <a:avLst/>
          </a:prstGeom>
        </p:spPr>
      </p:pic>
    </p:spTree>
    <p:extLst>
      <p:ext uri="{BB962C8B-B14F-4D97-AF65-F5344CB8AC3E}">
        <p14:creationId xmlns:p14="http://schemas.microsoft.com/office/powerpoint/2010/main" val="4236568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55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FA82A-B957-C79D-52AA-02B00E0BA86C}"/>
              </a:ext>
            </a:extLst>
          </p:cNvPr>
          <p:cNvSpPr>
            <a:spLocks noGrp="1"/>
          </p:cNvSpPr>
          <p:nvPr>
            <p:ph type="title"/>
          </p:nvPr>
        </p:nvSpPr>
        <p:spPr/>
        <p:txBody>
          <a:bodyPr/>
          <a:lstStyle/>
          <a:p>
            <a:endParaRPr kumimoji="1" lang="ja-JP" altLang="en-US"/>
          </a:p>
        </p:txBody>
      </p:sp>
      <p:sp>
        <p:nvSpPr>
          <p:cNvPr id="3" name="Content Placeholder 2">
            <a:extLst>
              <a:ext uri="{FF2B5EF4-FFF2-40B4-BE49-F238E27FC236}">
                <a16:creationId xmlns:a16="http://schemas.microsoft.com/office/drawing/2014/main" id="{3129A6E7-BC59-27F8-ED69-645F95D22FE8}"/>
              </a:ext>
            </a:extLst>
          </p:cNvPr>
          <p:cNvSpPr>
            <a:spLocks noGrp="1"/>
          </p:cNvSpPr>
          <p:nvPr>
            <p:ph idx="1"/>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C1398661-AF8C-0627-F477-5D0B01338232}"/>
              </a:ext>
            </a:extLst>
          </p:cNvPr>
          <p:cNvSpPr>
            <a:spLocks noGrp="1"/>
          </p:cNvSpPr>
          <p:nvPr>
            <p:ph type="sldNum" sz="quarter" idx="12"/>
          </p:nvPr>
        </p:nvSpPr>
        <p:spPr/>
        <p:txBody>
          <a:bodyPr/>
          <a:lstStyle/>
          <a:p>
            <a:fld id="{D44D3F4E-7F9B-4AD4-ADA0-3F21E9F7E4F4}" type="slidenum">
              <a:rPr lang="en-US" smtClean="0"/>
              <a:pPr/>
              <a:t>30</a:t>
            </a:fld>
            <a:endParaRPr lang="en-US" dirty="0"/>
          </a:p>
        </p:txBody>
      </p:sp>
      <p:sp>
        <p:nvSpPr>
          <p:cNvPr id="5" name="Footer Placeholder 4">
            <a:extLst>
              <a:ext uri="{FF2B5EF4-FFF2-40B4-BE49-F238E27FC236}">
                <a16:creationId xmlns:a16="http://schemas.microsoft.com/office/drawing/2014/main" id="{73810DE2-A4EC-2486-1B7F-AAD17D2C9512}"/>
              </a:ext>
            </a:extLst>
          </p:cNvPr>
          <p:cNvSpPr>
            <a:spLocks noGrp="1"/>
          </p:cNvSpPr>
          <p:nvPr>
            <p:ph type="ftr" sz="quarter" idx="11"/>
          </p:nvPr>
        </p:nvSpPr>
        <p:spPr/>
        <p:txBody>
          <a:bodyPr/>
          <a:lstStyle/>
          <a:p>
            <a:r>
              <a:rPr lang="en-US"/>
              <a:t>© 2020 Rigaku Corporation. All rights reserved</a:t>
            </a:r>
            <a:endParaRPr lang="en-US" dirty="0"/>
          </a:p>
        </p:txBody>
      </p:sp>
      <p:sp>
        <p:nvSpPr>
          <p:cNvPr id="6" name="Text Placeholder 5">
            <a:extLst>
              <a:ext uri="{FF2B5EF4-FFF2-40B4-BE49-F238E27FC236}">
                <a16:creationId xmlns:a16="http://schemas.microsoft.com/office/drawing/2014/main" id="{0BF4D58F-F321-AB4D-8A4F-533B8287DD4F}"/>
              </a:ext>
            </a:extLst>
          </p:cNvPr>
          <p:cNvSpPr>
            <a:spLocks noGrp="1"/>
          </p:cNvSpPr>
          <p:nvPr>
            <p:ph type="body" idx="13"/>
          </p:nvPr>
        </p:nvSpPr>
        <p:spPr/>
        <p:txBody>
          <a:bodyPr/>
          <a:lstStyle/>
          <a:p>
            <a:endParaRPr kumimoji="1" lang="ja-JP" altLang="en-US"/>
          </a:p>
        </p:txBody>
      </p:sp>
    </p:spTree>
    <p:extLst>
      <p:ext uri="{BB962C8B-B14F-4D97-AF65-F5344CB8AC3E}">
        <p14:creationId xmlns:p14="http://schemas.microsoft.com/office/powerpoint/2010/main" val="15421136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81B36-40C9-C3FF-4F3A-1277F912813E}"/>
              </a:ext>
            </a:extLst>
          </p:cNvPr>
          <p:cNvSpPr>
            <a:spLocks noGrp="1"/>
          </p:cNvSpPr>
          <p:nvPr>
            <p:ph type="title"/>
          </p:nvPr>
        </p:nvSpPr>
        <p:spPr/>
        <p:txBody>
          <a:bodyPr/>
          <a:lstStyle/>
          <a:p>
            <a:endParaRPr kumimoji="1" lang="ja-JP" altLang="en-US"/>
          </a:p>
        </p:txBody>
      </p:sp>
      <p:sp>
        <p:nvSpPr>
          <p:cNvPr id="4" name="Slide Number Placeholder 3">
            <a:extLst>
              <a:ext uri="{FF2B5EF4-FFF2-40B4-BE49-F238E27FC236}">
                <a16:creationId xmlns:a16="http://schemas.microsoft.com/office/drawing/2014/main" id="{C1A81499-C63C-3A8D-3454-10AAFAE4D575}"/>
              </a:ext>
            </a:extLst>
          </p:cNvPr>
          <p:cNvSpPr>
            <a:spLocks noGrp="1"/>
          </p:cNvSpPr>
          <p:nvPr>
            <p:ph type="sldNum" sz="quarter" idx="12"/>
          </p:nvPr>
        </p:nvSpPr>
        <p:spPr/>
        <p:txBody>
          <a:bodyPr/>
          <a:lstStyle/>
          <a:p>
            <a:fld id="{D44D3F4E-7F9B-4AD4-ADA0-3F21E9F7E4F4}" type="slidenum">
              <a:rPr lang="en-US" smtClean="0"/>
              <a:pPr/>
              <a:t>31</a:t>
            </a:fld>
            <a:endParaRPr lang="en-US" dirty="0"/>
          </a:p>
        </p:txBody>
      </p:sp>
      <p:sp>
        <p:nvSpPr>
          <p:cNvPr id="5" name="Footer Placeholder 4">
            <a:extLst>
              <a:ext uri="{FF2B5EF4-FFF2-40B4-BE49-F238E27FC236}">
                <a16:creationId xmlns:a16="http://schemas.microsoft.com/office/drawing/2014/main" id="{6B47F64C-8DD8-451E-D936-4DF07423F97A}"/>
              </a:ext>
            </a:extLst>
          </p:cNvPr>
          <p:cNvSpPr>
            <a:spLocks noGrp="1"/>
          </p:cNvSpPr>
          <p:nvPr>
            <p:ph type="ftr" sz="quarter" idx="11"/>
          </p:nvPr>
        </p:nvSpPr>
        <p:spPr/>
        <p:txBody>
          <a:bodyPr/>
          <a:lstStyle/>
          <a:p>
            <a:r>
              <a:rPr lang="en-US"/>
              <a:t>© 2020 Rigaku Corporation. All rights reserved</a:t>
            </a:r>
            <a:endParaRPr lang="en-US" dirty="0"/>
          </a:p>
        </p:txBody>
      </p:sp>
      <p:sp>
        <p:nvSpPr>
          <p:cNvPr id="6" name="Text Placeholder 5">
            <a:extLst>
              <a:ext uri="{FF2B5EF4-FFF2-40B4-BE49-F238E27FC236}">
                <a16:creationId xmlns:a16="http://schemas.microsoft.com/office/drawing/2014/main" id="{5C8B72FB-EE35-F59E-85B8-364850E8A1A7}"/>
              </a:ext>
            </a:extLst>
          </p:cNvPr>
          <p:cNvSpPr>
            <a:spLocks noGrp="1"/>
          </p:cNvSpPr>
          <p:nvPr>
            <p:ph type="body" idx="13"/>
          </p:nvPr>
        </p:nvSpPr>
        <p:spPr/>
        <p:txBody>
          <a:bodyPr/>
          <a:lstStyle/>
          <a:p>
            <a:endParaRPr kumimoji="1" lang="ja-JP" altLang="en-US"/>
          </a:p>
        </p:txBody>
      </p:sp>
      <p:pic>
        <p:nvPicPr>
          <p:cNvPr id="1026" name="Picture 2">
            <a:extLst>
              <a:ext uri="{FF2B5EF4-FFF2-40B4-BE49-F238E27FC236}">
                <a16:creationId xmlns:a16="http://schemas.microsoft.com/office/drawing/2014/main" id="{E82E7BDA-2ABA-D2C2-BBDC-FE040D1D50B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18118" y="431800"/>
            <a:ext cx="5134692" cy="2991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996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2"/>
          </p:nvPr>
        </p:nvSpPr>
        <p:spPr/>
        <p:txBody>
          <a:bodyPr/>
          <a:lstStyle/>
          <a:p>
            <a:fld id="{D44D3F4E-7F9B-4AD4-ADA0-3F21E9F7E4F4}" type="slidenum">
              <a:rPr lang="en-US" smtClean="0"/>
              <a:pPr/>
              <a:t>32</a:t>
            </a:fld>
            <a:endParaRPr lang="en-US" dirty="0"/>
          </a:p>
        </p:txBody>
      </p:sp>
      <p:sp>
        <p:nvSpPr>
          <p:cNvPr id="3" name="フッター プレースホルダー 2"/>
          <p:cNvSpPr>
            <a:spLocks noGrp="1"/>
          </p:cNvSpPr>
          <p:nvPr>
            <p:ph type="ftr" sz="quarter" idx="11"/>
          </p:nvPr>
        </p:nvSpPr>
        <p:spPr/>
        <p:txBody>
          <a:bodyPr/>
          <a:lstStyle/>
          <a:p>
            <a:r>
              <a:rPr lang="en-US"/>
              <a:t>© 2020 Rigaku Corporation. All rights reserved</a:t>
            </a:r>
            <a:endParaRPr lang="en-US" dirty="0"/>
          </a:p>
        </p:txBody>
      </p:sp>
    </p:spTree>
    <p:extLst>
      <p:ext uri="{BB962C8B-B14F-4D97-AF65-F5344CB8AC3E}">
        <p14:creationId xmlns:p14="http://schemas.microsoft.com/office/powerpoint/2010/main" val="1341426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スライド番号プレースホルダー 1"/>
          <p:cNvSpPr>
            <a:spLocks noGrp="1"/>
          </p:cNvSpPr>
          <p:nvPr>
            <p:ph type="sldNum" sz="quarter" idx="12"/>
          </p:nvPr>
        </p:nvSpPr>
        <p:spPr/>
        <p:txBody>
          <a:bodyPr/>
          <a:lstStyle/>
          <a:p>
            <a:fld id="{D44D3F4E-7F9B-4AD4-ADA0-3F21E9F7E4F4}" type="slidenum">
              <a:rPr lang="en-US" smtClean="0"/>
              <a:pPr/>
              <a:t>33</a:t>
            </a:fld>
            <a:endParaRPr lang="en-US" dirty="0"/>
          </a:p>
        </p:txBody>
      </p:sp>
      <p:sp>
        <p:nvSpPr>
          <p:cNvPr id="3" name="フッター プレースホルダー 2"/>
          <p:cNvSpPr>
            <a:spLocks noGrp="1"/>
          </p:cNvSpPr>
          <p:nvPr>
            <p:ph type="ftr" sz="quarter" idx="11"/>
          </p:nvPr>
        </p:nvSpPr>
        <p:spPr/>
        <p:txBody>
          <a:bodyPr/>
          <a:lstStyle/>
          <a:p>
            <a:r>
              <a:rPr lang="en-US"/>
              <a:t>© 2020 Rigaku Corporation. All rights reserved</a:t>
            </a:r>
            <a:endParaRPr lang="en-US" dirty="0"/>
          </a:p>
        </p:txBody>
      </p:sp>
    </p:spTree>
    <p:extLst>
      <p:ext uri="{BB962C8B-B14F-4D97-AF65-F5344CB8AC3E}">
        <p14:creationId xmlns:p14="http://schemas.microsoft.com/office/powerpoint/2010/main" val="619689239"/>
      </p:ext>
    </p:extLst>
  </p:cSld>
  <p:clrMapOvr>
    <a:masterClrMapping/>
  </p:clrMapOvr>
</p:sld>
</file>

<file path=ppt/theme/theme1.xml><?xml version="1.0" encoding="utf-8"?>
<a:theme xmlns:a="http://schemas.openxmlformats.org/drawingml/2006/main" name="PowerPointテンプレート4_3_Std_20200715">
  <a:themeElements>
    <a:clrScheme name="Rigaku_Theme Colors">
      <a:dk1>
        <a:srgbClr val="041E42"/>
      </a:dk1>
      <a:lt1>
        <a:srgbClr val="FFFFFF"/>
      </a:lt1>
      <a:dk2>
        <a:srgbClr val="3F4443"/>
      </a:dk2>
      <a:lt2>
        <a:srgbClr val="D9D9D6"/>
      </a:lt2>
      <a:accent1>
        <a:srgbClr val="009CDE"/>
      </a:accent1>
      <a:accent2>
        <a:srgbClr val="8CE2D0"/>
      </a:accent2>
      <a:accent3>
        <a:srgbClr val="64A70B"/>
      </a:accent3>
      <a:accent4>
        <a:srgbClr val="FF6720"/>
      </a:accent4>
      <a:accent5>
        <a:srgbClr val="BA0C2F"/>
      </a:accent5>
      <a:accent6>
        <a:srgbClr val="FFBF3F"/>
      </a:accent6>
      <a:hlink>
        <a:srgbClr val="009CDE"/>
      </a:hlink>
      <a:folHlink>
        <a:srgbClr val="464646"/>
      </a:folHlink>
    </a:clrScheme>
    <a:fontScheme name="Segoe UI Semilight - メイリオ">
      <a:majorFont>
        <a:latin typeface="Segoe UI Semilight"/>
        <a:ea typeface="メイリオ"/>
        <a:cs typeface=""/>
      </a:majorFont>
      <a:minorFont>
        <a:latin typeface="Segoe UI Semilight"/>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テンプレート4_3_Conf_20200715.potx" id="{4D25BD0D-D70D-4992-B417-3C695FDDD3A5}" vid="{809997F9-2132-4304-9FAF-7EEB2B3F16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8015707AC56B14090977F7F75656180" ma:contentTypeVersion="15" ma:contentTypeDescription="新しいドキュメントを作成します。" ma:contentTypeScope="" ma:versionID="ad8ae2fdce3503bd780ed9e9a5561afa">
  <xsd:schema xmlns:xsd="http://www.w3.org/2001/XMLSchema" xmlns:xs="http://www.w3.org/2001/XMLSchema" xmlns:p="http://schemas.microsoft.com/office/2006/metadata/properties" xmlns:ns3="12edc2a2-576f-4eb2-830d-e168ba58cea4" xmlns:ns4="7ed2a511-5e1f-484e-af35-c4bd26182a20" targetNamespace="http://schemas.microsoft.com/office/2006/metadata/properties" ma:root="true" ma:fieldsID="0732c37bde4b7d5630bbeef2f38300f6" ns3:_="" ns4:_="">
    <xsd:import namespace="12edc2a2-576f-4eb2-830d-e168ba58cea4"/>
    <xsd:import namespace="7ed2a511-5e1f-484e-af35-c4bd26182a20"/>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edc2a2-576f-4eb2-830d-e168ba58ce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ed2a511-5e1f-484e-af35-c4bd26182a20"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SharingHintHash" ma:index="20"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12edc2a2-576f-4eb2-830d-e168ba58cea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904CC7D-F0B7-44EF-9AB1-E041C9CD38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edc2a2-576f-4eb2-830d-e168ba58cea4"/>
    <ds:schemaRef ds:uri="7ed2a511-5e1f-484e-af35-c4bd26182a2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5D305C-9616-4D14-AC97-9A11683612E4}">
  <ds:schemaRefs>
    <ds:schemaRef ds:uri="http://schemas.microsoft.com/office/2006/metadata/properties"/>
    <ds:schemaRef ds:uri="http://purl.org/dc/elements/1.1/"/>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7ed2a511-5e1f-484e-af35-c4bd26182a20"/>
    <ds:schemaRef ds:uri="12edc2a2-576f-4eb2-830d-e168ba58cea4"/>
    <ds:schemaRef ds:uri="http://www.w3.org/XML/1998/namespace"/>
  </ds:schemaRefs>
</ds:datastoreItem>
</file>

<file path=customXml/itemProps3.xml><?xml version="1.0" encoding="utf-8"?>
<ds:datastoreItem xmlns:ds="http://schemas.openxmlformats.org/officeDocument/2006/customXml" ds:itemID="{E5B59EE8-A3C8-4B84-A64F-380B2579864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ASD_(課名)_2020_1H_成果(2020mmdd)</Template>
  <TotalTime>17118</TotalTime>
  <Words>4585</Words>
  <Application>Microsoft Office PowerPoint</Application>
  <PresentationFormat>On-screen Show (4:3)</PresentationFormat>
  <Paragraphs>250</Paragraphs>
  <Slides>33</Slides>
  <Notes>21</Notes>
  <HiddenSlides>2</HiddenSlides>
  <MMClips>9</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メイリオ</vt:lpstr>
      <vt:lpstr>ＭＳ Ｐゴシック</vt:lpstr>
      <vt:lpstr>Arial</vt:lpstr>
      <vt:lpstr>Calibri</vt:lpstr>
      <vt:lpstr>Courier New</vt:lpstr>
      <vt:lpstr>Roboto</vt:lpstr>
      <vt:lpstr>Segoe UI Semilight</vt:lpstr>
      <vt:lpstr>Wingdings</vt:lpstr>
      <vt:lpstr>PowerPointテンプレート4_3_Std_20200715</vt:lpstr>
      <vt:lpstr>SLSII v5.2 new features </vt:lpstr>
      <vt:lpstr>Self Introduction</vt:lpstr>
      <vt:lpstr>Agenda</vt:lpstr>
      <vt:lpstr>PowerPoint Presentation</vt:lpstr>
      <vt:lpstr>Powder XRD: Toggle peak shift correction (v5.2)</vt:lpstr>
      <vt:lpstr>PowerPoint Presentation</vt:lpstr>
      <vt:lpstr>Powder XRD: Register amorphous phase on finding amorphous peak (v5.2)</vt:lpstr>
      <vt:lpstr>PowerPoint Presentation</vt:lpstr>
      <vt:lpstr>Data Manager: Similarity check (ver5.2)</vt:lpstr>
      <vt:lpstr>PowerPoint Presentation</vt:lpstr>
      <vt:lpstr>Data Manager: Pass/Fail check based on range calculation (ver5.2)</vt:lpstr>
      <vt:lpstr>PowerPoint Presentation</vt:lpstr>
      <vt:lpstr>Cluster analysis: Transpose of Dendrogram (ver5.2)</vt:lpstr>
      <vt:lpstr>Powder XRD, Data Manager: 1/d, 2/d, 3/d cursor (ver5.2)</vt:lpstr>
      <vt:lpstr>PowerPoint Presentation</vt:lpstr>
      <vt:lpstr>Powder XRD, TXS: Function to calculate absorption factor (ver5.2)</vt:lpstr>
      <vt:lpstr>PowerPoint Presentation</vt:lpstr>
      <vt:lpstr>HRXRD: Superlattice cursor (ver5.2)</vt:lpstr>
      <vt:lpstr>PowerPoint Presentation</vt:lpstr>
      <vt:lpstr>XRD Measurement: Chinese localization of Parts help</vt:lpstr>
      <vt:lpstr>HRXRD: Resolution function display (ver5.2)</vt:lpstr>
      <vt:lpstr>HRXRD: Mismatch Z (ver5.2)</vt:lpstr>
      <vt:lpstr>XRR/HRXRD: Multidata Fit flow bar (ver5.2)</vt:lpstr>
      <vt:lpstr>Texture: Save pole figures as rasx files (ver5.2)</vt:lpstr>
      <vt:lpstr>Texture: ODF Copy all charts/Specify number of column (ver5.2)</vt:lpstr>
      <vt:lpstr>Texture </vt:lpstr>
      <vt:lpstr>Data Visualization: Plot for external parameters (v5.2) </vt:lpstr>
      <vt:lpstr>TXS: Rietveld analysis integration (ver5.2)</vt:lpstr>
      <vt:lpstr>XRD Measurement: χ Expand functionality improvement</vt:lpstr>
      <vt:lpstr>PowerPoint Presentation</vt:lpstr>
      <vt:lpstr>PowerPoint Presentation</vt:lpstr>
      <vt:lpstr>PowerPoint Presentation</vt:lpstr>
      <vt:lpstr>PowerPoint Presentation</vt:lpstr>
    </vt:vector>
  </TitlesOfParts>
  <Company>Rigaku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（このスライドは使用しなくてもよい） タイトル</dc:title>
  <dc:creator>章宏 姫田</dc:creator>
  <cp:lastModifiedBy>英男 ビン</cp:lastModifiedBy>
  <cp:revision>186</cp:revision>
  <cp:lastPrinted>2019-01-16T21:01:46Z</cp:lastPrinted>
  <dcterms:created xsi:type="dcterms:W3CDTF">2020-09-25T07:46:16Z</dcterms:created>
  <dcterms:modified xsi:type="dcterms:W3CDTF">2026-07-26T15:23:24Z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0x01010068015707AC56B14090977F7F75656180</vt:lpwstr>
  </property>
</Properties>
</file>