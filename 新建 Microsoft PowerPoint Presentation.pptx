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07E2E-D008-487C-BD47-15BA75C0FAA6}" type="datetimeFigureOut">
              <a:rPr lang="zh-CN" altLang="en-US" smtClean="0"/>
              <a:t>2026/3/9</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07A776-2995-45FC-B4E9-1F6EE483A216}" type="slidenum">
              <a:rPr lang="zh-CN" altLang="en-US" smtClean="0"/>
              <a:t>‹#›</a:t>
            </a:fld>
            <a:endParaRPr lang="zh-CN" altLang="en-US"/>
          </a:p>
        </p:txBody>
      </p:sp>
    </p:spTree>
    <p:extLst>
      <p:ext uri="{BB962C8B-B14F-4D97-AF65-F5344CB8AC3E}">
        <p14:creationId xmlns:p14="http://schemas.microsoft.com/office/powerpoint/2010/main" val="817940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歩行者や交通状況</a:t>
            </a:r>
            <a:endParaRPr lang="zh-CN" altLang="en-US" dirty="0"/>
          </a:p>
        </p:txBody>
      </p:sp>
      <p:sp>
        <p:nvSpPr>
          <p:cNvPr id="4" name="Slide Number Placeholder 3"/>
          <p:cNvSpPr>
            <a:spLocks noGrp="1"/>
          </p:cNvSpPr>
          <p:nvPr>
            <p:ph type="sldNum" sz="quarter" idx="5"/>
          </p:nvPr>
        </p:nvSpPr>
        <p:spPr/>
        <p:txBody>
          <a:bodyPr/>
          <a:lstStyle/>
          <a:p>
            <a:fld id="{F207A776-2995-45FC-B4E9-1F6EE483A216}" type="slidenum">
              <a:rPr lang="zh-CN" altLang="en-US" smtClean="0"/>
              <a:t>4</a:t>
            </a:fld>
            <a:endParaRPr lang="zh-CN" altLang="en-US"/>
          </a:p>
        </p:txBody>
      </p:sp>
    </p:spTree>
    <p:extLst>
      <p:ext uri="{BB962C8B-B14F-4D97-AF65-F5344CB8AC3E}">
        <p14:creationId xmlns:p14="http://schemas.microsoft.com/office/powerpoint/2010/main" val="1851838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40363-B5F3-3BEF-7EC2-6DCAF00A17E1}"/>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4DBD1EA8-6A18-AE9E-3CFB-3CDE0A01C7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450C08EC-8D53-B4CE-6A21-CD6CEB815A30}"/>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5" name="Footer Placeholder 4">
            <a:extLst>
              <a:ext uri="{FF2B5EF4-FFF2-40B4-BE49-F238E27FC236}">
                <a16:creationId xmlns:a16="http://schemas.microsoft.com/office/drawing/2014/main" id="{55CAED40-ACE2-D2B7-C7B5-55108B1ED4E8}"/>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16D2DDE-3C04-A375-B666-14E560EC1734}"/>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1279005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73DFC-47AB-539D-C657-499537FFE138}"/>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DEE78C1B-1126-C9B7-DCAF-7D82E1A2308D}"/>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254CC1B3-A89B-8C9A-236B-E9DB06EC4CA2}"/>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5" name="Footer Placeholder 4">
            <a:extLst>
              <a:ext uri="{FF2B5EF4-FFF2-40B4-BE49-F238E27FC236}">
                <a16:creationId xmlns:a16="http://schemas.microsoft.com/office/drawing/2014/main" id="{9F74DEE3-D5AD-E4CA-F2C3-1244827D40C2}"/>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38533283-8538-8E1F-DB75-C00DB350C305}"/>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4091279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A9855-9200-219B-B609-10148F991D6A}"/>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46700EDC-5617-3EE9-1195-035E86F0AE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3423A532-7B8C-FCA6-7579-8939F94780E6}"/>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5" name="Footer Placeholder 4">
            <a:extLst>
              <a:ext uri="{FF2B5EF4-FFF2-40B4-BE49-F238E27FC236}">
                <a16:creationId xmlns:a16="http://schemas.microsoft.com/office/drawing/2014/main" id="{1FEF34E8-48EB-1BB1-EE86-AF2EA47C64A8}"/>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4F322D54-46D5-03DA-AC6C-ED2490A72CFF}"/>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4068596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0ADDD-9572-456D-5F57-28B005ED5451}"/>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D21B88E4-C9C0-F4BC-B4E1-7151C2354924}"/>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0A4DF085-E21A-E47E-FF05-192C588F87A0}"/>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8BD38D1A-A000-103C-6DD4-CE91566B1B48}"/>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6" name="Footer Placeholder 5">
            <a:extLst>
              <a:ext uri="{FF2B5EF4-FFF2-40B4-BE49-F238E27FC236}">
                <a16:creationId xmlns:a16="http://schemas.microsoft.com/office/drawing/2014/main" id="{AF63F67E-96C9-4882-BE31-D0397EC5D7A1}"/>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BA7CEE01-1E3F-A830-5973-B78098EB6A30}"/>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1970377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F6C8-7FE7-B3EE-1297-E8E6740441A3}"/>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BFE8123F-54D8-AC79-50F4-B00EFAB008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3FA1B5AC-E7EF-0DDC-1C45-12DB7EF12B3B}"/>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D2B9ED87-67D9-20E9-38B3-FEE880BD82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C0036E17-BC07-B9C6-8724-F61406B0F3CD}"/>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B9B77260-6C8B-579B-722F-1CA8E521E583}"/>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8" name="Footer Placeholder 7">
            <a:extLst>
              <a:ext uri="{FF2B5EF4-FFF2-40B4-BE49-F238E27FC236}">
                <a16:creationId xmlns:a16="http://schemas.microsoft.com/office/drawing/2014/main" id="{D18E3118-25E7-1C22-6B5C-25EA2289D413}"/>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B1E493A2-CD65-2B15-2F92-25D8FDA59822}"/>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2557844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0C0A1-690E-AB74-E79F-096A6131E87B}"/>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927706A3-9AB1-4A5A-7AB1-2702A12C86A2}"/>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4" name="Footer Placeholder 3">
            <a:extLst>
              <a:ext uri="{FF2B5EF4-FFF2-40B4-BE49-F238E27FC236}">
                <a16:creationId xmlns:a16="http://schemas.microsoft.com/office/drawing/2014/main" id="{F930E376-C652-2B15-76F9-56A49A0092BF}"/>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59713144-315C-3C3B-6350-9C4FF680AD02}"/>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3818150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738A3D-9EED-BD20-8B3D-23C73428866C}"/>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3" name="Footer Placeholder 2">
            <a:extLst>
              <a:ext uri="{FF2B5EF4-FFF2-40B4-BE49-F238E27FC236}">
                <a16:creationId xmlns:a16="http://schemas.microsoft.com/office/drawing/2014/main" id="{2452C2E6-EA46-08E4-6383-EE75EE83D29E}"/>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5FAC5639-20ED-DF68-2EA3-54DFB0F06ACE}"/>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2116486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C6D11-294C-A87F-89CD-EA0F30A9C241}"/>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226A1366-15CC-6B92-7527-D46FFC7974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254F58ED-0E84-1CD4-DCD6-A52950480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C8EE3003-E227-408A-611C-3B0BE697F90A}"/>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6" name="Footer Placeholder 5">
            <a:extLst>
              <a:ext uri="{FF2B5EF4-FFF2-40B4-BE49-F238E27FC236}">
                <a16:creationId xmlns:a16="http://schemas.microsoft.com/office/drawing/2014/main" id="{F95CDC0C-B35E-3A77-447A-A13BB503F89A}"/>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D6014A28-7543-EAA1-8881-990FE09E4935}"/>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1481667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36561-F5B4-9C25-D6E7-60EDB54CC91A}"/>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021CAC2A-670E-FABC-F181-66F122E858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B2231AB5-C5FE-4485-CAA2-0FB062FAD2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26DA1982-5EFA-0F18-2224-3B94440BE085}"/>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6" name="Footer Placeholder 5">
            <a:extLst>
              <a:ext uri="{FF2B5EF4-FFF2-40B4-BE49-F238E27FC236}">
                <a16:creationId xmlns:a16="http://schemas.microsoft.com/office/drawing/2014/main" id="{29E4959A-9FA9-EA41-B455-BDF3EDB509D0}"/>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7CFE8D38-8014-53B2-186A-13F5198E5F52}"/>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2217965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1E65-A105-E532-2400-B56E4CB75E9B}"/>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48CC2030-BF79-7A8D-0DB8-4FA36497E0D1}"/>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902AC73C-E662-ACCB-377D-EC25C9739278}"/>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5" name="Footer Placeholder 4">
            <a:extLst>
              <a:ext uri="{FF2B5EF4-FFF2-40B4-BE49-F238E27FC236}">
                <a16:creationId xmlns:a16="http://schemas.microsoft.com/office/drawing/2014/main" id="{3A225D8C-7137-5D5C-7AAD-6DB46480C5DD}"/>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762507D7-1433-016D-3A0F-CB26C936E2CC}"/>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1378690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80C52C-D1E7-2E26-E014-0119403DAD49}"/>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10EF77FC-969B-BE3B-A9FE-58FB3497DB73}"/>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4A70C5FD-DD2D-8178-5A81-AB2D3EF4ADB4}"/>
              </a:ext>
            </a:extLst>
          </p:cNvPr>
          <p:cNvSpPr>
            <a:spLocks noGrp="1"/>
          </p:cNvSpPr>
          <p:nvPr>
            <p:ph type="dt" sz="half" idx="10"/>
          </p:nvPr>
        </p:nvSpPr>
        <p:spPr/>
        <p:txBody>
          <a:bodyPr/>
          <a:lstStyle/>
          <a:p>
            <a:fld id="{C171E656-1E70-450A-8A33-F91C5F8E3EBE}" type="datetimeFigureOut">
              <a:rPr lang="zh-CN" altLang="en-US" smtClean="0"/>
              <a:t>2026/3/9</a:t>
            </a:fld>
            <a:endParaRPr lang="zh-CN" altLang="en-US"/>
          </a:p>
        </p:txBody>
      </p:sp>
      <p:sp>
        <p:nvSpPr>
          <p:cNvPr id="5" name="Footer Placeholder 4">
            <a:extLst>
              <a:ext uri="{FF2B5EF4-FFF2-40B4-BE49-F238E27FC236}">
                <a16:creationId xmlns:a16="http://schemas.microsoft.com/office/drawing/2014/main" id="{C0F46458-6D33-764B-1C00-5420F8287273}"/>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3AABF306-02DC-E2EB-0F3E-1DD1DD787CF3}"/>
              </a:ext>
            </a:extLst>
          </p:cNvPr>
          <p:cNvSpPr>
            <a:spLocks noGrp="1"/>
          </p:cNvSpPr>
          <p:nvPr>
            <p:ph type="sldNum" sz="quarter" idx="12"/>
          </p:nvPr>
        </p:nvSpPr>
        <p:spPr/>
        <p:txBody>
          <a:body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410182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E39C43-C989-11F0-A4C7-47D849B036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6DE69938-7231-FFFA-918E-5316C1586D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293F14C8-2134-E232-139F-3F133F820C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71E656-1E70-450A-8A33-F91C5F8E3EBE}" type="datetimeFigureOut">
              <a:rPr lang="zh-CN" altLang="en-US" smtClean="0"/>
              <a:t>2026/3/9</a:t>
            </a:fld>
            <a:endParaRPr lang="zh-CN" altLang="en-US"/>
          </a:p>
        </p:txBody>
      </p:sp>
      <p:sp>
        <p:nvSpPr>
          <p:cNvPr id="5" name="Footer Placeholder 4">
            <a:extLst>
              <a:ext uri="{FF2B5EF4-FFF2-40B4-BE49-F238E27FC236}">
                <a16:creationId xmlns:a16="http://schemas.microsoft.com/office/drawing/2014/main" id="{F66BA5E2-75B2-589C-5563-9BD597C6B0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9461596C-630E-FA7A-59D4-0B5A26D9C3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459A55-E76F-4547-9F4C-02744C292386}" type="slidenum">
              <a:rPr lang="zh-CN" altLang="en-US" smtClean="0"/>
              <a:t>‹#›</a:t>
            </a:fld>
            <a:endParaRPr lang="zh-CN" altLang="en-US"/>
          </a:p>
        </p:txBody>
      </p:sp>
    </p:spTree>
    <p:extLst>
      <p:ext uri="{BB962C8B-B14F-4D97-AF65-F5344CB8AC3E}">
        <p14:creationId xmlns:p14="http://schemas.microsoft.com/office/powerpoint/2010/main" val="4635048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nvidia.com/ja-jp/glossary/generative-physical-ai/" TargetMode="External"/><Relationship Id="rId2" Type="http://schemas.openxmlformats.org/officeDocument/2006/relationships/hyperlink" Target="https://qiita.com/fe2030/items/90b2f1edb6031110db61" TargetMode="External"/><Relationship Id="rId1" Type="http://schemas.openxmlformats.org/officeDocument/2006/relationships/slideLayout" Target="../slideLayouts/slideLayout2.xml"/><Relationship Id="rId5" Type="http://schemas.openxmlformats.org/officeDocument/2006/relationships/hyperlink" Target="https://optage.co.jp/business/contents/article/physical-ai.html" TargetMode="External"/><Relationship Id="rId4" Type="http://schemas.openxmlformats.org/officeDocument/2006/relationships/hyperlink" Target="https://www.ai-souken.com/article/what-is-physical-ai#%E7%89%A9%E7%90%86%E4%B8%96%E7%95%8C%E3%81%AB%E4%BD%9C%E7%94%A8%E3%81%99%E3%82%8B%E3%83%AA%E3%82%B9%E3%82%AF%E3%81%A8%E5%AE%89%E5%85%A8%E8%A8%AD%E8%A8%8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CE85F-C667-2CCC-594D-A0D4BC70F931}"/>
              </a:ext>
            </a:extLst>
          </p:cNvPr>
          <p:cNvSpPr>
            <a:spLocks noGrp="1"/>
          </p:cNvSpPr>
          <p:nvPr>
            <p:ph type="ctrTitle"/>
          </p:nvPr>
        </p:nvSpPr>
        <p:spPr/>
        <p:txBody>
          <a:bodyPr/>
          <a:lstStyle/>
          <a:p>
            <a:r>
              <a:rPr lang="ja-JP" altLang="en-US" dirty="0"/>
              <a:t>物理</a:t>
            </a:r>
            <a:r>
              <a:rPr lang="en-US" altLang="ja-JP" dirty="0"/>
              <a:t>ai</a:t>
            </a:r>
            <a:endParaRPr lang="zh-CN" altLang="en-US" dirty="0"/>
          </a:p>
        </p:txBody>
      </p:sp>
      <p:sp>
        <p:nvSpPr>
          <p:cNvPr id="3" name="Subtitle 2">
            <a:extLst>
              <a:ext uri="{FF2B5EF4-FFF2-40B4-BE49-F238E27FC236}">
                <a16:creationId xmlns:a16="http://schemas.microsoft.com/office/drawing/2014/main" id="{4199556D-08C6-12BF-278A-51A0C3BD7B42}"/>
              </a:ext>
            </a:extLst>
          </p:cNvPr>
          <p:cNvSpPr>
            <a:spLocks noGrp="1"/>
          </p:cNvSpPr>
          <p:nvPr>
            <p:ph type="subTitle" idx="1"/>
          </p:nvPr>
        </p:nvSpPr>
        <p:spPr/>
        <p:txBody>
          <a:bodyPr/>
          <a:lstStyle/>
          <a:p>
            <a:r>
              <a:rPr lang="ja-JP" altLang="en-US" dirty="0"/>
              <a:t>生成</a:t>
            </a:r>
            <a:r>
              <a:rPr lang="en-US" altLang="ja-JP" dirty="0"/>
              <a:t>AI</a:t>
            </a:r>
            <a:r>
              <a:rPr lang="ja-JP" altLang="en-US" dirty="0"/>
              <a:t>の次に来る“動く知能”について</a:t>
            </a:r>
            <a:endParaRPr lang="zh-CN" altLang="en-US" dirty="0"/>
          </a:p>
        </p:txBody>
      </p:sp>
    </p:spTree>
    <p:extLst>
      <p:ext uri="{BB962C8B-B14F-4D97-AF65-F5344CB8AC3E}">
        <p14:creationId xmlns:p14="http://schemas.microsoft.com/office/powerpoint/2010/main" val="1550135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A8DE2-59FE-B7FF-A0A2-6BA753B54309}"/>
              </a:ext>
            </a:extLst>
          </p:cNvPr>
          <p:cNvSpPr>
            <a:spLocks noGrp="1"/>
          </p:cNvSpPr>
          <p:nvPr>
            <p:ph type="title"/>
          </p:nvPr>
        </p:nvSpPr>
        <p:spPr/>
        <p:txBody>
          <a:bodyPr/>
          <a:lstStyle/>
          <a:p>
            <a:r>
              <a:rPr lang="ja-JP" altLang="en-US" dirty="0"/>
              <a:t>概要</a:t>
            </a:r>
            <a:endParaRPr lang="zh-CN" altLang="en-US" dirty="0"/>
          </a:p>
        </p:txBody>
      </p:sp>
      <p:sp>
        <p:nvSpPr>
          <p:cNvPr id="3" name="Content Placeholder 2">
            <a:extLst>
              <a:ext uri="{FF2B5EF4-FFF2-40B4-BE49-F238E27FC236}">
                <a16:creationId xmlns:a16="http://schemas.microsoft.com/office/drawing/2014/main" id="{63B9E223-7817-F7E5-CFF6-EC492651D6E6}"/>
              </a:ext>
            </a:extLst>
          </p:cNvPr>
          <p:cNvSpPr>
            <a:spLocks noGrp="1"/>
          </p:cNvSpPr>
          <p:nvPr>
            <p:ph idx="1"/>
          </p:nvPr>
        </p:nvSpPr>
        <p:spPr>
          <a:xfrm>
            <a:off x="725078" y="1690688"/>
            <a:ext cx="10515600" cy="4351338"/>
          </a:xfrm>
        </p:spPr>
        <p:txBody>
          <a:bodyPr/>
          <a:lstStyle/>
          <a:p>
            <a:r>
              <a:rPr lang="ja-JP" altLang="en-US" dirty="0"/>
              <a:t>物理</a:t>
            </a:r>
            <a:r>
              <a:rPr lang="en-US" altLang="ja-JP" dirty="0"/>
              <a:t>AI</a:t>
            </a:r>
            <a:r>
              <a:rPr lang="ja-JP" altLang="en-US" dirty="0"/>
              <a:t>の定義・実現事例</a:t>
            </a:r>
            <a:endParaRPr lang="en-US" altLang="ja-JP" dirty="0"/>
          </a:p>
          <a:p>
            <a:pPr marL="0" indent="0">
              <a:buNone/>
            </a:pPr>
            <a:endParaRPr lang="en-US" altLang="zh-CN" dirty="0"/>
          </a:p>
          <a:p>
            <a:r>
              <a:rPr lang="ja-JP" altLang="en-US" dirty="0"/>
              <a:t>注目される背景・理由</a:t>
            </a:r>
            <a:endParaRPr lang="en-US" altLang="ja-JP" dirty="0"/>
          </a:p>
          <a:p>
            <a:endParaRPr lang="en-US" altLang="ja-JP" dirty="0"/>
          </a:p>
          <a:p>
            <a:r>
              <a:rPr lang="ja-JP" altLang="en-US" dirty="0"/>
              <a:t>使用する技術・仕組み</a:t>
            </a:r>
            <a:endParaRPr lang="en-US" altLang="ja-JP" dirty="0"/>
          </a:p>
          <a:p>
            <a:endParaRPr lang="en-US" altLang="ja-JP" dirty="0"/>
          </a:p>
          <a:p>
            <a:endParaRPr lang="en-US" altLang="ja-JP" dirty="0"/>
          </a:p>
          <a:p>
            <a:endParaRPr lang="en-US" altLang="zh-CN" dirty="0"/>
          </a:p>
          <a:p>
            <a:endParaRPr lang="zh-CN" altLang="en-US" dirty="0"/>
          </a:p>
        </p:txBody>
      </p:sp>
    </p:spTree>
    <p:extLst>
      <p:ext uri="{BB962C8B-B14F-4D97-AF65-F5344CB8AC3E}">
        <p14:creationId xmlns:p14="http://schemas.microsoft.com/office/powerpoint/2010/main" val="4105155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483F6-3E28-5C3D-5002-C8BFD0ABA893}"/>
              </a:ext>
            </a:extLst>
          </p:cNvPr>
          <p:cNvSpPr>
            <a:spLocks noGrp="1"/>
          </p:cNvSpPr>
          <p:nvPr>
            <p:ph type="title"/>
          </p:nvPr>
        </p:nvSpPr>
        <p:spPr/>
        <p:txBody>
          <a:bodyPr/>
          <a:lstStyle/>
          <a:p>
            <a:r>
              <a:rPr lang="ja-JP" altLang="en-US" dirty="0"/>
              <a:t>物理</a:t>
            </a:r>
            <a:r>
              <a:rPr lang="en-US" altLang="ja-JP" dirty="0"/>
              <a:t>AI</a:t>
            </a:r>
            <a:r>
              <a:rPr lang="ja-JP" altLang="en-US" dirty="0"/>
              <a:t>の定義</a:t>
            </a:r>
            <a:endParaRPr lang="zh-CN" altLang="en-US" dirty="0"/>
          </a:p>
        </p:txBody>
      </p:sp>
      <p:sp>
        <p:nvSpPr>
          <p:cNvPr id="3" name="Content Placeholder 2">
            <a:extLst>
              <a:ext uri="{FF2B5EF4-FFF2-40B4-BE49-F238E27FC236}">
                <a16:creationId xmlns:a16="http://schemas.microsoft.com/office/drawing/2014/main" id="{7A596974-63B5-6E65-F97A-755C417255EC}"/>
              </a:ext>
            </a:extLst>
          </p:cNvPr>
          <p:cNvSpPr>
            <a:spLocks noGrp="1"/>
          </p:cNvSpPr>
          <p:nvPr>
            <p:ph idx="1"/>
          </p:nvPr>
        </p:nvSpPr>
        <p:spPr/>
        <p:txBody>
          <a:bodyPr/>
          <a:lstStyle/>
          <a:p>
            <a:r>
              <a:rPr lang="ja-JP" altLang="en-US" dirty="0"/>
              <a:t>物理</a:t>
            </a:r>
            <a:r>
              <a:rPr lang="en-US" altLang="ja-JP" dirty="0"/>
              <a:t>AI</a:t>
            </a:r>
            <a:r>
              <a:rPr lang="ja-JP" altLang="en-US" dirty="0"/>
              <a:t>（</a:t>
            </a:r>
            <a:r>
              <a:rPr lang="en-US" altLang="ja-JP" dirty="0"/>
              <a:t>Physical AI</a:t>
            </a:r>
            <a:r>
              <a:rPr lang="ja-JP" altLang="en-US" dirty="0"/>
              <a:t>）とは</a:t>
            </a:r>
            <a:endParaRPr lang="en-US" altLang="ja-JP" dirty="0"/>
          </a:p>
          <a:p>
            <a:pPr lvl="1"/>
            <a:r>
              <a:rPr lang="ja-JP" altLang="en-US" dirty="0"/>
              <a:t>物理世界の状態を推定し、未来を予測しながら、自律的に行動を決める</a:t>
            </a:r>
            <a:r>
              <a:rPr lang="en-US" altLang="ja-JP" dirty="0"/>
              <a:t>AI</a:t>
            </a:r>
          </a:p>
          <a:p>
            <a:pPr lvl="1"/>
            <a:endParaRPr lang="en-US" altLang="ja-JP" dirty="0"/>
          </a:p>
          <a:p>
            <a:r>
              <a:rPr lang="en-US" altLang="zh-CN" dirty="0"/>
              <a:t>LLM</a:t>
            </a:r>
            <a:r>
              <a:rPr lang="ja-JP" altLang="en-US" dirty="0"/>
              <a:t>（</a:t>
            </a:r>
            <a:r>
              <a:rPr lang="en-US" altLang="ja-JP" dirty="0"/>
              <a:t>Large</a:t>
            </a:r>
            <a:r>
              <a:rPr lang="zh-CN" altLang="en-US" dirty="0"/>
              <a:t> </a:t>
            </a:r>
            <a:r>
              <a:rPr lang="en-US" altLang="zh-CN" dirty="0"/>
              <a:t>Language Model</a:t>
            </a:r>
            <a:r>
              <a:rPr lang="ja-JP" altLang="en-US" dirty="0"/>
              <a:t>）との比較</a:t>
            </a:r>
            <a:endParaRPr lang="en-US" altLang="ja-JP" dirty="0"/>
          </a:p>
          <a:p>
            <a:pPr lvl="1"/>
            <a:r>
              <a:rPr lang="ja-JP" altLang="en-US" dirty="0"/>
              <a:t>膨大なテキストデータから「</a:t>
            </a:r>
            <a:r>
              <a:rPr lang="ja-JP" altLang="en-US" b="1" dirty="0"/>
              <a:t>単語の並びの確率</a:t>
            </a:r>
            <a:r>
              <a:rPr lang="ja-JP" altLang="en-US" dirty="0"/>
              <a:t>」を学習する</a:t>
            </a:r>
            <a:endParaRPr lang="en-US" altLang="ja-JP" dirty="0"/>
          </a:p>
          <a:p>
            <a:pPr lvl="1"/>
            <a:r>
              <a:rPr lang="ja-JP" altLang="en-US" dirty="0"/>
              <a:t>世界の</a:t>
            </a:r>
            <a:r>
              <a:rPr lang="ja-JP" altLang="en-US" b="1" dirty="0"/>
              <a:t>物理法則</a:t>
            </a:r>
            <a:r>
              <a:rPr lang="ja-JP" altLang="en-US" dirty="0"/>
              <a:t>・</a:t>
            </a:r>
            <a:r>
              <a:rPr lang="ja-JP" altLang="en-US" b="1" dirty="0"/>
              <a:t>因果関係</a:t>
            </a:r>
            <a:r>
              <a:rPr lang="ja-JP" altLang="en-US" dirty="0"/>
              <a:t>を学習する</a:t>
            </a:r>
            <a:endParaRPr lang="en-US" altLang="ja-JP" dirty="0"/>
          </a:p>
          <a:p>
            <a:pPr lvl="1"/>
            <a:endParaRPr lang="zh-CN" altLang="en-US" dirty="0"/>
          </a:p>
        </p:txBody>
      </p:sp>
    </p:spTree>
    <p:extLst>
      <p:ext uri="{BB962C8B-B14F-4D97-AF65-F5344CB8AC3E}">
        <p14:creationId xmlns:p14="http://schemas.microsoft.com/office/powerpoint/2010/main" val="1598469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CE554-F8CE-C55E-9CC5-ED83D1541230}"/>
              </a:ext>
            </a:extLst>
          </p:cNvPr>
          <p:cNvSpPr>
            <a:spLocks noGrp="1"/>
          </p:cNvSpPr>
          <p:nvPr>
            <p:ph type="title"/>
          </p:nvPr>
        </p:nvSpPr>
        <p:spPr/>
        <p:txBody>
          <a:bodyPr/>
          <a:lstStyle/>
          <a:p>
            <a:r>
              <a:rPr lang="ja-JP" altLang="en-US" dirty="0"/>
              <a:t>実現事例</a:t>
            </a:r>
            <a:endParaRPr lang="zh-CN" altLang="en-US" dirty="0"/>
          </a:p>
        </p:txBody>
      </p:sp>
      <p:sp>
        <p:nvSpPr>
          <p:cNvPr id="3" name="Content Placeholder 2">
            <a:extLst>
              <a:ext uri="{FF2B5EF4-FFF2-40B4-BE49-F238E27FC236}">
                <a16:creationId xmlns:a16="http://schemas.microsoft.com/office/drawing/2014/main" id="{91AA2678-FEFB-9D99-7A69-31E98FE76A8D}"/>
              </a:ext>
            </a:extLst>
          </p:cNvPr>
          <p:cNvSpPr>
            <a:spLocks noGrp="1"/>
          </p:cNvSpPr>
          <p:nvPr>
            <p:ph idx="1"/>
          </p:nvPr>
        </p:nvSpPr>
        <p:spPr/>
        <p:txBody>
          <a:bodyPr/>
          <a:lstStyle/>
          <a:p>
            <a:r>
              <a:rPr lang="ja-JP" altLang="en-US" dirty="0"/>
              <a:t>ロボット・自動運転車</a:t>
            </a:r>
            <a:endParaRPr lang="en-US" altLang="ja-JP" dirty="0"/>
          </a:p>
          <a:p>
            <a:pPr lvl="1"/>
            <a:r>
              <a:rPr lang="ja-JP" altLang="en-US" dirty="0"/>
              <a:t>センサーで周辺環境を認識、理解し、適切な行動を行う</a:t>
            </a:r>
            <a:endParaRPr lang="en-US" altLang="ja-JP" dirty="0"/>
          </a:p>
          <a:p>
            <a:r>
              <a:rPr lang="ja-JP" altLang="en-US" dirty="0"/>
              <a:t>マニピュレーター</a:t>
            </a:r>
            <a:endParaRPr lang="en-US" altLang="ja-JP" dirty="0"/>
          </a:p>
          <a:p>
            <a:pPr lvl="1"/>
            <a:r>
              <a:rPr lang="ja-JP" altLang="en-US" dirty="0"/>
              <a:t>コンベア ベルト上の物体の形状に基づいて把持の強度と位置を調整し、物体の種類に応じて微細運動スキルと粗大運動スキルの両方を発揮することができる</a:t>
            </a:r>
            <a:endParaRPr lang="en-US" altLang="ja-JP" dirty="0"/>
          </a:p>
          <a:p>
            <a:endParaRPr lang="zh-CN" altLang="en-US" dirty="0"/>
          </a:p>
        </p:txBody>
      </p:sp>
    </p:spTree>
    <p:extLst>
      <p:ext uri="{BB962C8B-B14F-4D97-AF65-F5344CB8AC3E}">
        <p14:creationId xmlns:p14="http://schemas.microsoft.com/office/powerpoint/2010/main" val="2193266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44081-0449-8F5C-0B45-33CE38EA44A5}"/>
              </a:ext>
            </a:extLst>
          </p:cNvPr>
          <p:cNvSpPr>
            <a:spLocks noGrp="1"/>
          </p:cNvSpPr>
          <p:nvPr>
            <p:ph type="title"/>
          </p:nvPr>
        </p:nvSpPr>
        <p:spPr/>
        <p:txBody>
          <a:bodyPr/>
          <a:lstStyle/>
          <a:p>
            <a:r>
              <a:rPr lang="ja-JP" altLang="en-US" dirty="0"/>
              <a:t>注目される背景・理由</a:t>
            </a:r>
            <a:endParaRPr lang="zh-CN" altLang="en-US" dirty="0"/>
          </a:p>
        </p:txBody>
      </p:sp>
      <p:sp>
        <p:nvSpPr>
          <p:cNvPr id="3" name="Content Placeholder 2">
            <a:extLst>
              <a:ext uri="{FF2B5EF4-FFF2-40B4-BE49-F238E27FC236}">
                <a16:creationId xmlns:a16="http://schemas.microsoft.com/office/drawing/2014/main" id="{8BFE0FC3-7544-5ED4-8887-B0C9E28B5FCF}"/>
              </a:ext>
            </a:extLst>
          </p:cNvPr>
          <p:cNvSpPr>
            <a:spLocks noGrp="1"/>
          </p:cNvSpPr>
          <p:nvPr>
            <p:ph idx="1"/>
          </p:nvPr>
        </p:nvSpPr>
        <p:spPr/>
        <p:txBody>
          <a:bodyPr/>
          <a:lstStyle/>
          <a:p>
            <a:r>
              <a:rPr lang="ja-JP" altLang="en-US" dirty="0"/>
              <a:t>業界大手が示した次の潮流</a:t>
            </a:r>
            <a:endParaRPr lang="en-US" altLang="ja-JP" dirty="0"/>
          </a:p>
          <a:p>
            <a:r>
              <a:rPr lang="ja-JP" altLang="en-US" dirty="0"/>
              <a:t>人手不足・高齢化という社会課題</a:t>
            </a:r>
            <a:endParaRPr lang="en-US" altLang="ja-JP" dirty="0"/>
          </a:p>
          <a:p>
            <a:r>
              <a:rPr lang="en-US" altLang="ja-JP" dirty="0"/>
              <a:t>AI</a:t>
            </a:r>
            <a:r>
              <a:rPr lang="ja-JP" altLang="en-US" dirty="0"/>
              <a:t>技術の成熟とデジタルツインの活用</a:t>
            </a:r>
            <a:endParaRPr lang="zh-CN" altLang="en-US" dirty="0"/>
          </a:p>
        </p:txBody>
      </p:sp>
    </p:spTree>
    <p:extLst>
      <p:ext uri="{BB962C8B-B14F-4D97-AF65-F5344CB8AC3E}">
        <p14:creationId xmlns:p14="http://schemas.microsoft.com/office/powerpoint/2010/main" val="1620428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C3A60-DDE4-DC3B-4B17-C5BD4C44EDC3}"/>
              </a:ext>
            </a:extLst>
          </p:cNvPr>
          <p:cNvSpPr>
            <a:spLocks noGrp="1"/>
          </p:cNvSpPr>
          <p:nvPr>
            <p:ph type="title"/>
          </p:nvPr>
        </p:nvSpPr>
        <p:spPr/>
        <p:txBody>
          <a:bodyPr/>
          <a:lstStyle/>
          <a:p>
            <a:r>
              <a:rPr lang="ja-JP" altLang="en-US" dirty="0"/>
              <a:t>使用する技術・仕組み</a:t>
            </a:r>
            <a:endParaRPr lang="zh-CN" altLang="en-US" dirty="0"/>
          </a:p>
        </p:txBody>
      </p:sp>
      <p:sp>
        <p:nvSpPr>
          <p:cNvPr id="3" name="Content Placeholder 2">
            <a:extLst>
              <a:ext uri="{FF2B5EF4-FFF2-40B4-BE49-F238E27FC236}">
                <a16:creationId xmlns:a16="http://schemas.microsoft.com/office/drawing/2014/main" id="{9BE4EF55-7A87-B8AB-1707-931608B1128A}"/>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177319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7DC9-E136-93A9-2B72-44AB6E15E69D}"/>
              </a:ext>
            </a:extLst>
          </p:cNvPr>
          <p:cNvSpPr>
            <a:spLocks noGrp="1"/>
          </p:cNvSpPr>
          <p:nvPr>
            <p:ph type="title"/>
          </p:nvPr>
        </p:nvSpPr>
        <p:spPr/>
        <p:txBody>
          <a:bodyPr/>
          <a:lstStyle/>
          <a:p>
            <a:r>
              <a:rPr lang="ja-JP" altLang="en-US"/>
              <a:t>リガクでの活用事例？</a:t>
            </a:r>
            <a:endParaRPr lang="zh-CN" altLang="en-US" dirty="0"/>
          </a:p>
        </p:txBody>
      </p:sp>
      <p:sp>
        <p:nvSpPr>
          <p:cNvPr id="3" name="Content Placeholder 2">
            <a:extLst>
              <a:ext uri="{FF2B5EF4-FFF2-40B4-BE49-F238E27FC236}">
                <a16:creationId xmlns:a16="http://schemas.microsoft.com/office/drawing/2014/main" id="{F13F209B-D2A8-0172-C1EA-91BAB28F5420}"/>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062012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C4646-5A9F-060D-462D-CC1125E75094}"/>
              </a:ext>
            </a:extLst>
          </p:cNvPr>
          <p:cNvSpPr>
            <a:spLocks noGrp="1"/>
          </p:cNvSpPr>
          <p:nvPr>
            <p:ph type="title"/>
          </p:nvPr>
        </p:nvSpPr>
        <p:spPr/>
        <p:txBody>
          <a:bodyPr/>
          <a:lstStyle/>
          <a:p>
            <a:r>
              <a:rPr lang="ja-JP" altLang="en-US" dirty="0"/>
              <a:t>参考文献</a:t>
            </a:r>
            <a:endParaRPr lang="zh-CN" altLang="en-US" dirty="0"/>
          </a:p>
        </p:txBody>
      </p:sp>
      <p:sp>
        <p:nvSpPr>
          <p:cNvPr id="3" name="Content Placeholder 2">
            <a:extLst>
              <a:ext uri="{FF2B5EF4-FFF2-40B4-BE49-F238E27FC236}">
                <a16:creationId xmlns:a16="http://schemas.microsoft.com/office/drawing/2014/main" id="{944D04C6-D269-27F6-738A-0D69077C3570}"/>
              </a:ext>
            </a:extLst>
          </p:cNvPr>
          <p:cNvSpPr>
            <a:spLocks noGrp="1"/>
          </p:cNvSpPr>
          <p:nvPr>
            <p:ph idx="1"/>
          </p:nvPr>
        </p:nvSpPr>
        <p:spPr/>
        <p:txBody>
          <a:bodyPr/>
          <a:lstStyle/>
          <a:p>
            <a:r>
              <a:rPr lang="en-US" altLang="zh-CN" dirty="0">
                <a:hlinkClick r:id="rId2"/>
              </a:rPr>
              <a:t>https://qiita.com/fe2030/items/90b2f1edb6031110db61</a:t>
            </a:r>
            <a:endParaRPr lang="en-US" altLang="zh-CN" dirty="0"/>
          </a:p>
          <a:p>
            <a:r>
              <a:rPr lang="ja-JP" altLang="en-US" dirty="0">
                <a:hlinkClick r:id="rId3"/>
              </a:rPr>
              <a:t>フィジカル </a:t>
            </a:r>
            <a:r>
              <a:rPr lang="en-US" altLang="ja-JP" dirty="0">
                <a:hlinkClick r:id="rId3"/>
              </a:rPr>
              <a:t>AI </a:t>
            </a:r>
            <a:r>
              <a:rPr lang="ja-JP" altLang="en-US" dirty="0">
                <a:hlinkClick r:id="rId3"/>
              </a:rPr>
              <a:t>とは</a:t>
            </a:r>
            <a:r>
              <a:rPr lang="en-US" altLang="ja-JP" dirty="0">
                <a:hlinkClick r:id="rId3"/>
              </a:rPr>
              <a:t>? | NVIDIA</a:t>
            </a:r>
            <a:endParaRPr lang="en-US" altLang="ja-JP" dirty="0"/>
          </a:p>
          <a:p>
            <a:r>
              <a:rPr lang="ja-JP" altLang="en-US" dirty="0">
                <a:hlinkClick r:id="rId4"/>
              </a:rPr>
              <a:t>フィジカル</a:t>
            </a:r>
            <a:r>
              <a:rPr lang="en-US" altLang="ja-JP" dirty="0">
                <a:hlinkClick r:id="rId4"/>
              </a:rPr>
              <a:t>AI(</a:t>
            </a:r>
            <a:r>
              <a:rPr lang="ja-JP" altLang="en-US" dirty="0">
                <a:hlinkClick r:id="rId4"/>
              </a:rPr>
              <a:t>物理</a:t>
            </a:r>
            <a:r>
              <a:rPr lang="en-US" altLang="ja-JP" dirty="0">
                <a:hlinkClick r:id="rId4"/>
              </a:rPr>
              <a:t>AI)</a:t>
            </a:r>
            <a:r>
              <a:rPr lang="ja-JP" altLang="en-US" dirty="0">
                <a:hlinkClick r:id="rId4"/>
              </a:rPr>
              <a:t>とは？その定義や主要技術、活用事例を徹底解説！ </a:t>
            </a:r>
            <a:r>
              <a:rPr lang="en-US" altLang="ja-JP" dirty="0">
                <a:hlinkClick r:id="rId4"/>
              </a:rPr>
              <a:t>| AI</a:t>
            </a:r>
            <a:r>
              <a:rPr lang="ja-JP" altLang="en-US" dirty="0">
                <a:hlinkClick r:id="rId4"/>
              </a:rPr>
              <a:t>総合研究所 </a:t>
            </a:r>
            <a:r>
              <a:rPr lang="en-US" altLang="ja-JP" dirty="0">
                <a:hlinkClick r:id="rId4"/>
              </a:rPr>
              <a:t>| AI</a:t>
            </a:r>
            <a:r>
              <a:rPr lang="ja-JP" altLang="en-US" dirty="0">
                <a:hlinkClick r:id="rId4"/>
              </a:rPr>
              <a:t>総合研究所</a:t>
            </a:r>
            <a:endParaRPr lang="en-US" altLang="ja-JP" dirty="0"/>
          </a:p>
          <a:p>
            <a:r>
              <a:rPr lang="ja-JP" altLang="en-US" dirty="0">
                <a:hlinkClick r:id="rId5"/>
              </a:rPr>
              <a:t>フィジカル</a:t>
            </a:r>
            <a:r>
              <a:rPr lang="en-US" altLang="ja-JP" dirty="0">
                <a:hlinkClick r:id="rId5"/>
              </a:rPr>
              <a:t>AI</a:t>
            </a:r>
            <a:r>
              <a:rPr lang="ja-JP" altLang="en-US" dirty="0">
                <a:hlinkClick r:id="rId5"/>
              </a:rPr>
              <a:t>とは？生成</a:t>
            </a:r>
            <a:r>
              <a:rPr lang="en-US" altLang="ja-JP" dirty="0">
                <a:hlinkClick r:id="rId5"/>
              </a:rPr>
              <a:t>AI</a:t>
            </a:r>
            <a:r>
              <a:rPr lang="ja-JP" altLang="en-US" dirty="0">
                <a:hlinkClick r:id="rId5"/>
              </a:rPr>
              <a:t>の次に来る“動く知能”について解説｜</a:t>
            </a:r>
            <a:r>
              <a:rPr lang="en-US" altLang="ja-JP" dirty="0">
                <a:hlinkClick r:id="rId5"/>
              </a:rPr>
              <a:t>OPTAGE for Business</a:t>
            </a:r>
            <a:endParaRPr lang="zh-CN" altLang="en-US" dirty="0"/>
          </a:p>
        </p:txBody>
      </p:sp>
    </p:spTree>
    <p:extLst>
      <p:ext uri="{BB962C8B-B14F-4D97-AF65-F5344CB8AC3E}">
        <p14:creationId xmlns:p14="http://schemas.microsoft.com/office/powerpoint/2010/main" val="13164709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463</Words>
  <Application>Microsoft Office PowerPoint</Application>
  <PresentationFormat>Widescreen</PresentationFormat>
  <Paragraphs>35</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等线</vt:lpstr>
      <vt:lpstr>等线 Light</vt:lpstr>
      <vt:lpstr>Arial</vt:lpstr>
      <vt:lpstr>Office Theme</vt:lpstr>
      <vt:lpstr>物理ai</vt:lpstr>
      <vt:lpstr>概要</vt:lpstr>
      <vt:lpstr>物理AIの定義</vt:lpstr>
      <vt:lpstr>実現事例</vt:lpstr>
      <vt:lpstr>注目される背景・理由</vt:lpstr>
      <vt:lpstr>使用する技術・仕組み</vt:lpstr>
      <vt:lpstr>リガクでの活用事例？</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英男 ビン</dc:creator>
  <cp:lastModifiedBy>英男 ビン</cp:lastModifiedBy>
  <cp:revision>15</cp:revision>
  <dcterms:created xsi:type="dcterms:W3CDTF">2026-03-09T12:57:16Z</dcterms:created>
  <dcterms:modified xsi:type="dcterms:W3CDTF">2026-03-09T14:11:42Z</dcterms:modified>
</cp:coreProperties>
</file>